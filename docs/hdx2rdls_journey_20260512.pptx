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0A14F"/>
    <a:srgbClr val="E45649"/>
    <a:srgbClr val="C1840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4E3BDF-F156-460A-93E8-222FDE0127F2}" v="7" dt="2026-05-12T22:47:36.7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0" d="100"/>
          <a:sy n="120" d="100"/>
        </p:scale>
        <p:origin x="198"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ny Istanto" userId="ccea0e650e68d75e" providerId="LiveId" clId="{D8DD1CC7-EDF5-40EB-A44D-3059B72F36E1}"/>
    <pc:docChg chg="undo redo custSel modSld">
      <pc:chgData name="Benny Istanto" userId="ccea0e650e68d75e" providerId="LiveId" clId="{D8DD1CC7-EDF5-40EB-A44D-3059B72F36E1}" dt="2026-05-12T22:50:25.779" v="615" actId="20577"/>
      <pc:docMkLst>
        <pc:docMk/>
      </pc:docMkLst>
      <pc:sldChg chg="delSp modSp mod">
        <pc:chgData name="Benny Istanto" userId="ccea0e650e68d75e" providerId="LiveId" clId="{D8DD1CC7-EDF5-40EB-A44D-3059B72F36E1}" dt="2026-05-12T22:50:25.779" v="615" actId="20577"/>
        <pc:sldMkLst>
          <pc:docMk/>
          <pc:sldMk cId="0" sldId="256"/>
        </pc:sldMkLst>
        <pc:spChg chg="mod">
          <ac:chgData name="Benny Istanto" userId="ccea0e650e68d75e" providerId="LiveId" clId="{D8DD1CC7-EDF5-40EB-A44D-3059B72F36E1}" dt="2026-05-12T22:46:44.279" v="590" actId="403"/>
          <ac:spMkLst>
            <pc:docMk/>
            <pc:sldMk cId="0" sldId="256"/>
            <ac:spMk id="4" creationId="{00000000-0000-0000-0000-000000000000}"/>
          </ac:spMkLst>
        </pc:spChg>
        <pc:spChg chg="mod">
          <ac:chgData name="Benny Istanto" userId="ccea0e650e68d75e" providerId="LiveId" clId="{D8DD1CC7-EDF5-40EB-A44D-3059B72F36E1}" dt="2026-05-12T22:50:25.779" v="615" actId="20577"/>
          <ac:spMkLst>
            <pc:docMk/>
            <pc:sldMk cId="0" sldId="256"/>
            <ac:spMk id="5" creationId="{00000000-0000-0000-0000-000000000000}"/>
          </ac:spMkLst>
        </pc:spChg>
        <pc:spChg chg="mod">
          <ac:chgData name="Benny Istanto" userId="ccea0e650e68d75e" providerId="LiveId" clId="{D8DD1CC7-EDF5-40EB-A44D-3059B72F36E1}" dt="2026-05-12T22:47:01.129" v="594" actId="403"/>
          <ac:spMkLst>
            <pc:docMk/>
            <pc:sldMk cId="0" sldId="256"/>
            <ac:spMk id="6" creationId="{00000000-0000-0000-0000-000000000000}"/>
          </ac:spMkLst>
        </pc:spChg>
        <pc:spChg chg="del">
          <ac:chgData name="Benny Istanto" userId="ccea0e650e68d75e" providerId="LiveId" clId="{D8DD1CC7-EDF5-40EB-A44D-3059B72F36E1}" dt="2026-05-12T22:47:50.363" v="603" actId="478"/>
          <ac:spMkLst>
            <pc:docMk/>
            <pc:sldMk cId="0" sldId="256"/>
            <ac:spMk id="7" creationId="{00000000-0000-0000-0000-000000000000}"/>
          </ac:spMkLst>
        </pc:spChg>
        <pc:spChg chg="mod">
          <ac:chgData name="Benny Istanto" userId="ccea0e650e68d75e" providerId="LiveId" clId="{D8DD1CC7-EDF5-40EB-A44D-3059B72F36E1}" dt="2026-05-12T22:48:20.388" v="606" actId="2711"/>
          <ac:spMkLst>
            <pc:docMk/>
            <pc:sldMk cId="0" sldId="256"/>
            <ac:spMk id="8" creationId="{00000000-0000-0000-0000-000000000000}"/>
          </ac:spMkLst>
        </pc:spChg>
        <pc:spChg chg="mod">
          <ac:chgData name="Benny Istanto" userId="ccea0e650e68d75e" providerId="LiveId" clId="{D8DD1CC7-EDF5-40EB-A44D-3059B72F36E1}" dt="2026-05-12T22:48:07.148" v="605" actId="404"/>
          <ac:spMkLst>
            <pc:docMk/>
            <pc:sldMk cId="0" sldId="256"/>
            <ac:spMk id="10" creationId="{441CD2F9-3358-F437-2589-4E0C9E84994C}"/>
          </ac:spMkLst>
        </pc:spChg>
      </pc:sldChg>
      <pc:sldChg chg="addSp modSp mod">
        <pc:chgData name="Benny Istanto" userId="ccea0e650e68d75e" providerId="LiveId" clId="{D8DD1CC7-EDF5-40EB-A44D-3059B72F36E1}" dt="2026-05-12T14:04:44.227" v="188" actId="20577"/>
        <pc:sldMkLst>
          <pc:docMk/>
          <pc:sldMk cId="0" sldId="257"/>
        </pc:sldMkLst>
        <pc:spChg chg="mod">
          <ac:chgData name="Benny Istanto" userId="ccea0e650e68d75e" providerId="LiveId" clId="{D8DD1CC7-EDF5-40EB-A44D-3059B72F36E1}" dt="2026-05-12T14:02:04.777" v="146" actId="20577"/>
          <ac:spMkLst>
            <pc:docMk/>
            <pc:sldMk cId="0" sldId="257"/>
            <ac:spMk id="9" creationId="{00000000-0000-0000-0000-000000000000}"/>
          </ac:spMkLst>
        </pc:spChg>
        <pc:spChg chg="mod">
          <ac:chgData name="Benny Istanto" userId="ccea0e650e68d75e" providerId="LiveId" clId="{D8DD1CC7-EDF5-40EB-A44D-3059B72F36E1}" dt="2026-05-12T14:02:40.079" v="156" actId="20577"/>
          <ac:spMkLst>
            <pc:docMk/>
            <pc:sldMk cId="0" sldId="257"/>
            <ac:spMk id="12" creationId="{00000000-0000-0000-0000-000000000000}"/>
          </ac:spMkLst>
        </pc:spChg>
        <pc:spChg chg="mod">
          <ac:chgData name="Benny Istanto" userId="ccea0e650e68d75e" providerId="LiveId" clId="{D8DD1CC7-EDF5-40EB-A44D-3059B72F36E1}" dt="2026-05-12T14:02:03.940" v="145" actId="20577"/>
          <ac:spMkLst>
            <pc:docMk/>
            <pc:sldMk cId="0" sldId="257"/>
            <ac:spMk id="14" creationId="{00000000-0000-0000-0000-000000000000}"/>
          </ac:spMkLst>
        </pc:spChg>
        <pc:spChg chg="mod">
          <ac:chgData name="Benny Istanto" userId="ccea0e650e68d75e" providerId="LiveId" clId="{D8DD1CC7-EDF5-40EB-A44D-3059B72F36E1}" dt="2026-05-12T14:02:49.327" v="162" actId="20577"/>
          <ac:spMkLst>
            <pc:docMk/>
            <pc:sldMk cId="0" sldId="257"/>
            <ac:spMk id="17" creationId="{00000000-0000-0000-0000-000000000000}"/>
          </ac:spMkLst>
        </pc:spChg>
        <pc:spChg chg="mod">
          <ac:chgData name="Benny Istanto" userId="ccea0e650e68d75e" providerId="LiveId" clId="{D8DD1CC7-EDF5-40EB-A44D-3059B72F36E1}" dt="2026-05-12T14:02:12.871" v="148" actId="20577"/>
          <ac:spMkLst>
            <pc:docMk/>
            <pc:sldMk cId="0" sldId="257"/>
            <ac:spMk id="19" creationId="{00000000-0000-0000-0000-000000000000}"/>
          </ac:spMkLst>
        </pc:spChg>
        <pc:spChg chg="mod">
          <ac:chgData name="Benny Istanto" userId="ccea0e650e68d75e" providerId="LiveId" clId="{D8DD1CC7-EDF5-40EB-A44D-3059B72F36E1}" dt="2026-05-12T14:02:55.829" v="168" actId="20577"/>
          <ac:spMkLst>
            <pc:docMk/>
            <pc:sldMk cId="0" sldId="257"/>
            <ac:spMk id="22" creationId="{00000000-0000-0000-0000-000000000000}"/>
          </ac:spMkLst>
        </pc:spChg>
        <pc:spChg chg="mod">
          <ac:chgData name="Benny Istanto" userId="ccea0e650e68d75e" providerId="LiveId" clId="{D8DD1CC7-EDF5-40EB-A44D-3059B72F36E1}" dt="2026-05-12T14:02:16.826" v="150" actId="20577"/>
          <ac:spMkLst>
            <pc:docMk/>
            <pc:sldMk cId="0" sldId="257"/>
            <ac:spMk id="24" creationId="{00000000-0000-0000-0000-000000000000}"/>
          </ac:spMkLst>
        </pc:spChg>
        <pc:spChg chg="mod">
          <ac:chgData name="Benny Istanto" userId="ccea0e650e68d75e" providerId="LiveId" clId="{D8DD1CC7-EDF5-40EB-A44D-3059B72F36E1}" dt="2026-05-12T14:03:03.026" v="174" actId="20577"/>
          <ac:spMkLst>
            <pc:docMk/>
            <pc:sldMk cId="0" sldId="257"/>
            <ac:spMk id="27" creationId="{00000000-0000-0000-0000-000000000000}"/>
          </ac:spMkLst>
        </pc:spChg>
        <pc:spChg chg="mod">
          <ac:chgData name="Benny Istanto" userId="ccea0e650e68d75e" providerId="LiveId" clId="{D8DD1CC7-EDF5-40EB-A44D-3059B72F36E1}" dt="2026-05-12T07:16:05.483" v="53" actId="255"/>
          <ac:spMkLst>
            <pc:docMk/>
            <pc:sldMk cId="0" sldId="257"/>
            <ac:spMk id="30" creationId="{00000000-0000-0000-0000-000000000000}"/>
          </ac:spMkLst>
        </pc:spChg>
        <pc:spChg chg="add mod">
          <ac:chgData name="Benny Istanto" userId="ccea0e650e68d75e" providerId="LiveId" clId="{D8DD1CC7-EDF5-40EB-A44D-3059B72F36E1}" dt="2026-05-12T14:04:44.227" v="188" actId="20577"/>
          <ac:spMkLst>
            <pc:docMk/>
            <pc:sldMk cId="0" sldId="257"/>
            <ac:spMk id="31" creationId="{FD2E3788-5657-38D3-411B-482DC06F034C}"/>
          </ac:spMkLst>
        </pc:spChg>
      </pc:sldChg>
      <pc:sldChg chg="modSp mod">
        <pc:chgData name="Benny Istanto" userId="ccea0e650e68d75e" providerId="LiveId" clId="{D8DD1CC7-EDF5-40EB-A44D-3059B72F36E1}" dt="2026-05-12T15:51:14.830" v="329" actId="207"/>
        <pc:sldMkLst>
          <pc:docMk/>
          <pc:sldMk cId="0" sldId="258"/>
        </pc:sldMkLst>
        <pc:spChg chg="mod">
          <ac:chgData name="Benny Istanto" userId="ccea0e650e68d75e" providerId="LiveId" clId="{D8DD1CC7-EDF5-40EB-A44D-3059B72F36E1}" dt="2026-05-12T14:05:10.096" v="193" actId="20577"/>
          <ac:spMkLst>
            <pc:docMk/>
            <pc:sldMk cId="0" sldId="258"/>
            <ac:spMk id="4" creationId="{00000000-0000-0000-0000-000000000000}"/>
          </ac:spMkLst>
        </pc:spChg>
        <pc:spChg chg="mod">
          <ac:chgData name="Benny Istanto" userId="ccea0e650e68d75e" providerId="LiveId" clId="{D8DD1CC7-EDF5-40EB-A44D-3059B72F36E1}" dt="2026-05-12T15:51:14.830" v="329" actId="207"/>
          <ac:spMkLst>
            <pc:docMk/>
            <pc:sldMk cId="0" sldId="258"/>
            <ac:spMk id="6" creationId="{00000000-0000-0000-0000-000000000000}"/>
          </ac:spMkLst>
        </pc:spChg>
      </pc:sldChg>
      <pc:sldChg chg="modSp mod">
        <pc:chgData name="Benny Istanto" userId="ccea0e650e68d75e" providerId="LiveId" clId="{D8DD1CC7-EDF5-40EB-A44D-3059B72F36E1}" dt="2026-05-12T14:06:17.938" v="206" actId="403"/>
        <pc:sldMkLst>
          <pc:docMk/>
          <pc:sldMk cId="0" sldId="259"/>
        </pc:sldMkLst>
        <pc:spChg chg="mod">
          <ac:chgData name="Benny Istanto" userId="ccea0e650e68d75e" providerId="LiveId" clId="{D8DD1CC7-EDF5-40EB-A44D-3059B72F36E1}" dt="2026-05-12T14:06:02.625" v="203" actId="1036"/>
          <ac:spMkLst>
            <pc:docMk/>
            <pc:sldMk cId="0" sldId="259"/>
            <ac:spMk id="7" creationId="{00000000-0000-0000-0000-000000000000}"/>
          </ac:spMkLst>
        </pc:spChg>
        <pc:spChg chg="mod">
          <ac:chgData name="Benny Istanto" userId="ccea0e650e68d75e" providerId="LiveId" clId="{D8DD1CC7-EDF5-40EB-A44D-3059B72F36E1}" dt="2026-05-12T14:06:02.625" v="203" actId="1036"/>
          <ac:spMkLst>
            <pc:docMk/>
            <pc:sldMk cId="0" sldId="259"/>
            <ac:spMk id="8" creationId="{00000000-0000-0000-0000-000000000000}"/>
          </ac:spMkLst>
        </pc:spChg>
        <pc:spChg chg="mod">
          <ac:chgData name="Benny Istanto" userId="ccea0e650e68d75e" providerId="LiveId" clId="{D8DD1CC7-EDF5-40EB-A44D-3059B72F36E1}" dt="2026-05-12T14:06:02.625" v="203" actId="1036"/>
          <ac:spMkLst>
            <pc:docMk/>
            <pc:sldMk cId="0" sldId="259"/>
            <ac:spMk id="9" creationId="{00000000-0000-0000-0000-000000000000}"/>
          </ac:spMkLst>
        </pc:spChg>
        <pc:spChg chg="mod">
          <ac:chgData name="Benny Istanto" userId="ccea0e650e68d75e" providerId="LiveId" clId="{D8DD1CC7-EDF5-40EB-A44D-3059B72F36E1}" dt="2026-05-12T14:06:17.938" v="206" actId="403"/>
          <ac:spMkLst>
            <pc:docMk/>
            <pc:sldMk cId="0" sldId="259"/>
            <ac:spMk id="10" creationId="{00000000-0000-0000-0000-000000000000}"/>
          </ac:spMkLst>
        </pc:spChg>
        <pc:spChg chg="mod">
          <ac:chgData name="Benny Istanto" userId="ccea0e650e68d75e" providerId="LiveId" clId="{D8DD1CC7-EDF5-40EB-A44D-3059B72F36E1}" dt="2026-05-12T14:06:02.625" v="203" actId="1036"/>
          <ac:spMkLst>
            <pc:docMk/>
            <pc:sldMk cId="0" sldId="259"/>
            <ac:spMk id="13" creationId="{00000000-0000-0000-0000-000000000000}"/>
          </ac:spMkLst>
        </pc:spChg>
        <pc:spChg chg="mod">
          <ac:chgData name="Benny Istanto" userId="ccea0e650e68d75e" providerId="LiveId" clId="{D8DD1CC7-EDF5-40EB-A44D-3059B72F36E1}" dt="2026-05-12T14:06:02.625" v="203" actId="1036"/>
          <ac:spMkLst>
            <pc:docMk/>
            <pc:sldMk cId="0" sldId="259"/>
            <ac:spMk id="15" creationId="{00000000-0000-0000-0000-000000000000}"/>
          </ac:spMkLst>
        </pc:spChg>
        <pc:spChg chg="mod">
          <ac:chgData name="Benny Istanto" userId="ccea0e650e68d75e" providerId="LiveId" clId="{D8DD1CC7-EDF5-40EB-A44D-3059B72F36E1}" dt="2026-05-12T14:06:02.625" v="203" actId="1036"/>
          <ac:spMkLst>
            <pc:docMk/>
            <pc:sldMk cId="0" sldId="259"/>
            <ac:spMk id="16" creationId="{00000000-0000-0000-0000-000000000000}"/>
          </ac:spMkLst>
        </pc:spChg>
        <pc:spChg chg="mod">
          <ac:chgData name="Benny Istanto" userId="ccea0e650e68d75e" providerId="LiveId" clId="{D8DD1CC7-EDF5-40EB-A44D-3059B72F36E1}" dt="2026-05-12T14:06:02.625" v="203" actId="1036"/>
          <ac:spMkLst>
            <pc:docMk/>
            <pc:sldMk cId="0" sldId="259"/>
            <ac:spMk id="17" creationId="{00000000-0000-0000-0000-000000000000}"/>
          </ac:spMkLst>
        </pc:spChg>
        <pc:spChg chg="mod">
          <ac:chgData name="Benny Istanto" userId="ccea0e650e68d75e" providerId="LiveId" clId="{D8DD1CC7-EDF5-40EB-A44D-3059B72F36E1}" dt="2026-05-12T14:06:02.625" v="203" actId="1036"/>
          <ac:spMkLst>
            <pc:docMk/>
            <pc:sldMk cId="0" sldId="259"/>
            <ac:spMk id="18" creationId="{00000000-0000-0000-0000-000000000000}"/>
          </ac:spMkLst>
        </pc:spChg>
        <pc:spChg chg="mod">
          <ac:chgData name="Benny Istanto" userId="ccea0e650e68d75e" providerId="LiveId" clId="{D8DD1CC7-EDF5-40EB-A44D-3059B72F36E1}" dt="2026-05-12T14:06:02.625" v="203" actId="1036"/>
          <ac:spMkLst>
            <pc:docMk/>
            <pc:sldMk cId="0" sldId="259"/>
            <ac:spMk id="19" creationId="{00000000-0000-0000-0000-000000000000}"/>
          </ac:spMkLst>
        </pc:spChg>
      </pc:sldChg>
      <pc:sldChg chg="addSp modSp mod">
        <pc:chgData name="Benny Istanto" userId="ccea0e650e68d75e" providerId="LiveId" clId="{D8DD1CC7-EDF5-40EB-A44D-3059B72F36E1}" dt="2026-05-12T14:58:56.560" v="230" actId="403"/>
        <pc:sldMkLst>
          <pc:docMk/>
          <pc:sldMk cId="0" sldId="260"/>
        </pc:sldMkLst>
        <pc:spChg chg="mod">
          <ac:chgData name="Benny Istanto" userId="ccea0e650e68d75e" providerId="LiveId" clId="{D8DD1CC7-EDF5-40EB-A44D-3059B72F36E1}" dt="2026-05-12T14:09:10.781" v="207" actId="14100"/>
          <ac:spMkLst>
            <pc:docMk/>
            <pc:sldMk cId="0" sldId="260"/>
            <ac:spMk id="7" creationId="{00000000-0000-0000-0000-000000000000}"/>
          </ac:spMkLst>
        </pc:spChg>
        <pc:spChg chg="mod">
          <ac:chgData name="Benny Istanto" userId="ccea0e650e68d75e" providerId="LiveId" clId="{D8DD1CC7-EDF5-40EB-A44D-3059B72F36E1}" dt="2026-05-12T14:11:28.255" v="223" actId="20577"/>
          <ac:spMkLst>
            <pc:docMk/>
            <pc:sldMk cId="0" sldId="260"/>
            <ac:spMk id="10" creationId="{00000000-0000-0000-0000-000000000000}"/>
          </ac:spMkLst>
        </pc:spChg>
        <pc:spChg chg="mod">
          <ac:chgData name="Benny Istanto" userId="ccea0e650e68d75e" providerId="LiveId" clId="{D8DD1CC7-EDF5-40EB-A44D-3059B72F36E1}" dt="2026-05-12T14:58:56.560" v="230" actId="403"/>
          <ac:spMkLst>
            <pc:docMk/>
            <pc:sldMk cId="0" sldId="260"/>
            <ac:spMk id="11" creationId="{00000000-0000-0000-0000-000000000000}"/>
          </ac:spMkLst>
        </pc:spChg>
        <pc:spChg chg="mod">
          <ac:chgData name="Benny Istanto" userId="ccea0e650e68d75e" providerId="LiveId" clId="{D8DD1CC7-EDF5-40EB-A44D-3059B72F36E1}" dt="2026-05-12T07:18:22.369" v="121" actId="1036"/>
          <ac:spMkLst>
            <pc:docMk/>
            <pc:sldMk cId="0" sldId="260"/>
            <ac:spMk id="15" creationId="{00000000-0000-0000-0000-000000000000}"/>
          </ac:spMkLst>
        </pc:spChg>
        <pc:spChg chg="add mod">
          <ac:chgData name="Benny Istanto" userId="ccea0e650e68d75e" providerId="LiveId" clId="{D8DD1CC7-EDF5-40EB-A44D-3059B72F36E1}" dt="2026-05-12T14:10:23.292" v="219" actId="20577"/>
          <ac:spMkLst>
            <pc:docMk/>
            <pc:sldMk cId="0" sldId="260"/>
            <ac:spMk id="16" creationId="{5742809A-8091-A22A-8CDC-0250A499B00B}"/>
          </ac:spMkLst>
        </pc:spChg>
        <pc:graphicFrameChg chg="mod">
          <ac:chgData name="Benny Istanto" userId="ccea0e650e68d75e" providerId="LiveId" clId="{D8DD1CC7-EDF5-40EB-A44D-3059B72F36E1}" dt="2026-05-12T07:18:04.326" v="117" actId="1036"/>
          <ac:graphicFrameMkLst>
            <pc:docMk/>
            <pc:sldMk cId="0" sldId="260"/>
            <ac:graphicFrameMk id="12" creationId="{00000000-0000-0000-0000-000000000000}"/>
          </ac:graphicFrameMkLst>
        </pc:graphicFrameChg>
      </pc:sldChg>
      <pc:sldChg chg="modSp mod">
        <pc:chgData name="Benny Istanto" userId="ccea0e650e68d75e" providerId="LiveId" clId="{D8DD1CC7-EDF5-40EB-A44D-3059B72F36E1}" dt="2026-05-12T15:00:58.480" v="256" actId="1036"/>
        <pc:sldMkLst>
          <pc:docMk/>
          <pc:sldMk cId="0" sldId="261"/>
        </pc:sldMkLst>
        <pc:spChg chg="mod">
          <ac:chgData name="Benny Istanto" userId="ccea0e650e68d75e" providerId="LiveId" clId="{D8DD1CC7-EDF5-40EB-A44D-3059B72F36E1}" dt="2026-05-12T15:00:58.480" v="256" actId="1036"/>
          <ac:spMkLst>
            <pc:docMk/>
            <pc:sldMk cId="0" sldId="261"/>
            <ac:spMk id="8" creationId="{00000000-0000-0000-0000-000000000000}"/>
          </ac:spMkLst>
        </pc:spChg>
        <pc:spChg chg="mod">
          <ac:chgData name="Benny Istanto" userId="ccea0e650e68d75e" providerId="LiveId" clId="{D8DD1CC7-EDF5-40EB-A44D-3059B72F36E1}" dt="2026-05-12T15:00:58.480" v="256" actId="1036"/>
          <ac:spMkLst>
            <pc:docMk/>
            <pc:sldMk cId="0" sldId="261"/>
            <ac:spMk id="9" creationId="{00000000-0000-0000-0000-000000000000}"/>
          </ac:spMkLst>
        </pc:spChg>
        <pc:spChg chg="mod">
          <ac:chgData name="Benny Istanto" userId="ccea0e650e68d75e" providerId="LiveId" clId="{D8DD1CC7-EDF5-40EB-A44D-3059B72F36E1}" dt="2026-05-12T15:00:58.480" v="256" actId="1036"/>
          <ac:spMkLst>
            <pc:docMk/>
            <pc:sldMk cId="0" sldId="261"/>
            <ac:spMk id="10" creationId="{00000000-0000-0000-0000-000000000000}"/>
          </ac:spMkLst>
        </pc:spChg>
        <pc:spChg chg="mod">
          <ac:chgData name="Benny Istanto" userId="ccea0e650e68d75e" providerId="LiveId" clId="{D8DD1CC7-EDF5-40EB-A44D-3059B72F36E1}" dt="2026-05-12T15:00:58.480" v="256" actId="1036"/>
          <ac:spMkLst>
            <pc:docMk/>
            <pc:sldMk cId="0" sldId="261"/>
            <ac:spMk id="11" creationId="{00000000-0000-0000-0000-000000000000}"/>
          </ac:spMkLst>
        </pc:spChg>
        <pc:spChg chg="mod">
          <ac:chgData name="Benny Istanto" userId="ccea0e650e68d75e" providerId="LiveId" clId="{D8DD1CC7-EDF5-40EB-A44D-3059B72F36E1}" dt="2026-05-12T15:00:58.480" v="256" actId="1036"/>
          <ac:spMkLst>
            <pc:docMk/>
            <pc:sldMk cId="0" sldId="261"/>
            <ac:spMk id="12" creationId="{00000000-0000-0000-0000-000000000000}"/>
          </ac:spMkLst>
        </pc:spChg>
        <pc:spChg chg="mod">
          <ac:chgData name="Benny Istanto" userId="ccea0e650e68d75e" providerId="LiveId" clId="{D8DD1CC7-EDF5-40EB-A44D-3059B72F36E1}" dt="2026-05-12T15:00:58.480" v="256" actId="1036"/>
          <ac:spMkLst>
            <pc:docMk/>
            <pc:sldMk cId="0" sldId="261"/>
            <ac:spMk id="13" creationId="{00000000-0000-0000-0000-000000000000}"/>
          </ac:spMkLst>
        </pc:spChg>
        <pc:spChg chg="mod">
          <ac:chgData name="Benny Istanto" userId="ccea0e650e68d75e" providerId="LiveId" clId="{D8DD1CC7-EDF5-40EB-A44D-3059B72F36E1}" dt="2026-05-12T15:00:58.480" v="256" actId="1036"/>
          <ac:spMkLst>
            <pc:docMk/>
            <pc:sldMk cId="0" sldId="261"/>
            <ac:spMk id="14" creationId="{00000000-0000-0000-0000-000000000000}"/>
          </ac:spMkLst>
        </pc:spChg>
        <pc:spChg chg="mod">
          <ac:chgData name="Benny Istanto" userId="ccea0e650e68d75e" providerId="LiveId" clId="{D8DD1CC7-EDF5-40EB-A44D-3059B72F36E1}" dt="2026-05-12T15:00:58.480" v="256" actId="1036"/>
          <ac:spMkLst>
            <pc:docMk/>
            <pc:sldMk cId="0" sldId="261"/>
            <ac:spMk id="15" creationId="{00000000-0000-0000-0000-000000000000}"/>
          </ac:spMkLst>
        </pc:spChg>
        <pc:graphicFrameChg chg="mod modGraphic">
          <ac:chgData name="Benny Istanto" userId="ccea0e650e68d75e" providerId="LiveId" clId="{D8DD1CC7-EDF5-40EB-A44D-3059B72F36E1}" dt="2026-05-12T15:00:58.480" v="256" actId="1036"/>
          <ac:graphicFrameMkLst>
            <pc:docMk/>
            <pc:sldMk cId="0" sldId="261"/>
            <ac:graphicFrameMk id="7" creationId="{00000000-0000-0000-0000-000000000000}"/>
          </ac:graphicFrameMkLst>
        </pc:graphicFrameChg>
      </pc:sldChg>
      <pc:sldChg chg="modSp mod">
        <pc:chgData name="Benny Istanto" userId="ccea0e650e68d75e" providerId="LiveId" clId="{D8DD1CC7-EDF5-40EB-A44D-3059B72F36E1}" dt="2026-05-12T15:00:42.178" v="246" actId="1036"/>
        <pc:sldMkLst>
          <pc:docMk/>
          <pc:sldMk cId="0" sldId="262"/>
        </pc:sldMkLst>
        <pc:spChg chg="mod">
          <ac:chgData name="Benny Istanto" userId="ccea0e650e68d75e" providerId="LiveId" clId="{D8DD1CC7-EDF5-40EB-A44D-3059B72F36E1}" dt="2026-05-12T15:00:42.178" v="246" actId="1036"/>
          <ac:spMkLst>
            <pc:docMk/>
            <pc:sldMk cId="0" sldId="262"/>
            <ac:spMk id="7" creationId="{00000000-0000-0000-0000-000000000000}"/>
          </ac:spMkLst>
        </pc:spChg>
        <pc:spChg chg="mod">
          <ac:chgData name="Benny Istanto" userId="ccea0e650e68d75e" providerId="LiveId" clId="{D8DD1CC7-EDF5-40EB-A44D-3059B72F36E1}" dt="2026-05-12T15:00:42.178" v="246" actId="1036"/>
          <ac:spMkLst>
            <pc:docMk/>
            <pc:sldMk cId="0" sldId="262"/>
            <ac:spMk id="8" creationId="{00000000-0000-0000-0000-000000000000}"/>
          </ac:spMkLst>
        </pc:spChg>
        <pc:spChg chg="mod">
          <ac:chgData name="Benny Istanto" userId="ccea0e650e68d75e" providerId="LiveId" clId="{D8DD1CC7-EDF5-40EB-A44D-3059B72F36E1}" dt="2026-05-12T15:00:42.178" v="246" actId="1036"/>
          <ac:spMkLst>
            <pc:docMk/>
            <pc:sldMk cId="0" sldId="262"/>
            <ac:spMk id="9" creationId="{00000000-0000-0000-0000-000000000000}"/>
          </ac:spMkLst>
        </pc:spChg>
        <pc:spChg chg="mod">
          <ac:chgData name="Benny Istanto" userId="ccea0e650e68d75e" providerId="LiveId" clId="{D8DD1CC7-EDF5-40EB-A44D-3059B72F36E1}" dt="2026-05-12T15:00:42.178" v="246" actId="1036"/>
          <ac:spMkLst>
            <pc:docMk/>
            <pc:sldMk cId="0" sldId="262"/>
            <ac:spMk id="10" creationId="{00000000-0000-0000-0000-000000000000}"/>
          </ac:spMkLst>
        </pc:spChg>
        <pc:spChg chg="mod">
          <ac:chgData name="Benny Istanto" userId="ccea0e650e68d75e" providerId="LiveId" clId="{D8DD1CC7-EDF5-40EB-A44D-3059B72F36E1}" dt="2026-05-12T15:00:42.178" v="246" actId="1036"/>
          <ac:spMkLst>
            <pc:docMk/>
            <pc:sldMk cId="0" sldId="262"/>
            <ac:spMk id="11" creationId="{00000000-0000-0000-0000-000000000000}"/>
          </ac:spMkLst>
        </pc:spChg>
        <pc:spChg chg="mod">
          <ac:chgData name="Benny Istanto" userId="ccea0e650e68d75e" providerId="LiveId" clId="{D8DD1CC7-EDF5-40EB-A44D-3059B72F36E1}" dt="2026-05-12T15:00:42.178" v="246" actId="1036"/>
          <ac:spMkLst>
            <pc:docMk/>
            <pc:sldMk cId="0" sldId="262"/>
            <ac:spMk id="12" creationId="{00000000-0000-0000-0000-000000000000}"/>
          </ac:spMkLst>
        </pc:spChg>
        <pc:spChg chg="mod">
          <ac:chgData name="Benny Istanto" userId="ccea0e650e68d75e" providerId="LiveId" clId="{D8DD1CC7-EDF5-40EB-A44D-3059B72F36E1}" dt="2026-05-12T15:00:42.178" v="246" actId="1036"/>
          <ac:spMkLst>
            <pc:docMk/>
            <pc:sldMk cId="0" sldId="262"/>
            <ac:spMk id="13" creationId="{00000000-0000-0000-0000-000000000000}"/>
          </ac:spMkLst>
        </pc:spChg>
        <pc:spChg chg="mod">
          <ac:chgData name="Benny Istanto" userId="ccea0e650e68d75e" providerId="LiveId" clId="{D8DD1CC7-EDF5-40EB-A44D-3059B72F36E1}" dt="2026-05-12T15:00:42.178" v="246" actId="1036"/>
          <ac:spMkLst>
            <pc:docMk/>
            <pc:sldMk cId="0" sldId="262"/>
            <ac:spMk id="14" creationId="{00000000-0000-0000-0000-000000000000}"/>
          </ac:spMkLst>
        </pc:spChg>
        <pc:spChg chg="mod">
          <ac:chgData name="Benny Istanto" userId="ccea0e650e68d75e" providerId="LiveId" clId="{D8DD1CC7-EDF5-40EB-A44D-3059B72F36E1}" dt="2026-05-12T15:00:42.178" v="246" actId="1036"/>
          <ac:spMkLst>
            <pc:docMk/>
            <pc:sldMk cId="0" sldId="262"/>
            <ac:spMk id="15" creationId="{00000000-0000-0000-0000-000000000000}"/>
          </ac:spMkLst>
        </pc:spChg>
        <pc:graphicFrameChg chg="mod modGraphic">
          <ac:chgData name="Benny Istanto" userId="ccea0e650e68d75e" providerId="LiveId" clId="{D8DD1CC7-EDF5-40EB-A44D-3059B72F36E1}" dt="2026-05-12T15:00:42.178" v="246" actId="1036"/>
          <ac:graphicFrameMkLst>
            <pc:docMk/>
            <pc:sldMk cId="0" sldId="262"/>
            <ac:graphicFrameMk id="6" creationId="{00000000-0000-0000-0000-000000000000}"/>
          </ac:graphicFrameMkLst>
        </pc:graphicFrameChg>
      </pc:sldChg>
      <pc:sldChg chg="modSp mod">
        <pc:chgData name="Benny Istanto" userId="ccea0e650e68d75e" providerId="LiveId" clId="{D8DD1CC7-EDF5-40EB-A44D-3059B72F36E1}" dt="2026-05-12T15:50:52.199" v="326" actId="207"/>
        <pc:sldMkLst>
          <pc:docMk/>
          <pc:sldMk cId="0" sldId="263"/>
        </pc:sldMkLst>
        <pc:spChg chg="mod">
          <ac:chgData name="Benny Istanto" userId="ccea0e650e68d75e" providerId="LiveId" clId="{D8DD1CC7-EDF5-40EB-A44D-3059B72F36E1}" dt="2026-05-12T15:01:23.328" v="261" actId="20577"/>
          <ac:spMkLst>
            <pc:docMk/>
            <pc:sldMk cId="0" sldId="263"/>
            <ac:spMk id="4" creationId="{00000000-0000-0000-0000-000000000000}"/>
          </ac:spMkLst>
        </pc:spChg>
        <pc:spChg chg="mod">
          <ac:chgData name="Benny Istanto" userId="ccea0e650e68d75e" providerId="LiveId" clId="{D8DD1CC7-EDF5-40EB-A44D-3059B72F36E1}" dt="2026-05-12T15:50:52.199" v="326" actId="207"/>
          <ac:spMkLst>
            <pc:docMk/>
            <pc:sldMk cId="0" sldId="263"/>
            <ac:spMk id="6" creationId="{00000000-0000-0000-0000-000000000000}"/>
          </ac:spMkLst>
        </pc:spChg>
      </pc:sldChg>
      <pc:sldChg chg="modSp mod">
        <pc:chgData name="Benny Istanto" userId="ccea0e650e68d75e" providerId="LiveId" clId="{D8DD1CC7-EDF5-40EB-A44D-3059B72F36E1}" dt="2026-05-12T15:02:40.628" v="271" actId="1036"/>
        <pc:sldMkLst>
          <pc:docMk/>
          <pc:sldMk cId="0" sldId="264"/>
        </pc:sldMkLst>
        <pc:spChg chg="mod">
          <ac:chgData name="Benny Istanto" userId="ccea0e650e68d75e" providerId="LiveId" clId="{D8DD1CC7-EDF5-40EB-A44D-3059B72F36E1}" dt="2026-05-12T15:02:40.628" v="271" actId="1036"/>
          <ac:spMkLst>
            <pc:docMk/>
            <pc:sldMk cId="0" sldId="264"/>
            <ac:spMk id="7" creationId="{00000000-0000-0000-0000-000000000000}"/>
          </ac:spMkLst>
        </pc:spChg>
        <pc:spChg chg="mod">
          <ac:chgData name="Benny Istanto" userId="ccea0e650e68d75e" providerId="LiveId" clId="{D8DD1CC7-EDF5-40EB-A44D-3059B72F36E1}" dt="2026-05-12T15:02:40.628" v="271" actId="1036"/>
          <ac:spMkLst>
            <pc:docMk/>
            <pc:sldMk cId="0" sldId="264"/>
            <ac:spMk id="8" creationId="{00000000-0000-0000-0000-000000000000}"/>
          </ac:spMkLst>
        </pc:spChg>
        <pc:spChg chg="mod">
          <ac:chgData name="Benny Istanto" userId="ccea0e650e68d75e" providerId="LiveId" clId="{D8DD1CC7-EDF5-40EB-A44D-3059B72F36E1}" dt="2026-05-12T15:02:40.628" v="271" actId="1036"/>
          <ac:spMkLst>
            <pc:docMk/>
            <pc:sldMk cId="0" sldId="264"/>
            <ac:spMk id="9" creationId="{00000000-0000-0000-0000-000000000000}"/>
          </ac:spMkLst>
        </pc:spChg>
      </pc:sldChg>
      <pc:sldChg chg="modSp mod">
        <pc:chgData name="Benny Istanto" userId="ccea0e650e68d75e" providerId="LiveId" clId="{D8DD1CC7-EDF5-40EB-A44D-3059B72F36E1}" dt="2026-05-12T15:04:35.040" v="293" actId="1036"/>
        <pc:sldMkLst>
          <pc:docMk/>
          <pc:sldMk cId="0" sldId="265"/>
        </pc:sldMkLst>
        <pc:spChg chg="mod">
          <ac:chgData name="Benny Istanto" userId="ccea0e650e68d75e" providerId="LiveId" clId="{D8DD1CC7-EDF5-40EB-A44D-3059B72F36E1}" dt="2026-05-12T15:03:21.021" v="272" actId="403"/>
          <ac:spMkLst>
            <pc:docMk/>
            <pc:sldMk cId="0" sldId="265"/>
            <ac:spMk id="7" creationId="{00000000-0000-0000-0000-000000000000}"/>
          </ac:spMkLst>
        </pc:spChg>
        <pc:spChg chg="mod">
          <ac:chgData name="Benny Istanto" userId="ccea0e650e68d75e" providerId="LiveId" clId="{D8DD1CC7-EDF5-40EB-A44D-3059B72F36E1}" dt="2026-05-12T15:03:21.021" v="272" actId="403"/>
          <ac:spMkLst>
            <pc:docMk/>
            <pc:sldMk cId="0" sldId="265"/>
            <ac:spMk id="11" creationId="{00000000-0000-0000-0000-000000000000}"/>
          </ac:spMkLst>
        </pc:spChg>
        <pc:spChg chg="mod">
          <ac:chgData name="Benny Istanto" userId="ccea0e650e68d75e" providerId="LiveId" clId="{D8DD1CC7-EDF5-40EB-A44D-3059B72F36E1}" dt="2026-05-12T15:03:36.134" v="273" actId="403"/>
          <ac:spMkLst>
            <pc:docMk/>
            <pc:sldMk cId="0" sldId="265"/>
            <ac:spMk id="17" creationId="{00000000-0000-0000-0000-000000000000}"/>
          </ac:spMkLst>
        </pc:spChg>
        <pc:spChg chg="mod">
          <ac:chgData name="Benny Istanto" userId="ccea0e650e68d75e" providerId="LiveId" clId="{D8DD1CC7-EDF5-40EB-A44D-3059B72F36E1}" dt="2026-05-12T15:04:35.040" v="293" actId="1036"/>
          <ac:spMkLst>
            <pc:docMk/>
            <pc:sldMk cId="0" sldId="265"/>
            <ac:spMk id="18" creationId="{00000000-0000-0000-0000-000000000000}"/>
          </ac:spMkLst>
        </pc:spChg>
        <pc:spChg chg="mod">
          <ac:chgData name="Benny Istanto" userId="ccea0e650e68d75e" providerId="LiveId" clId="{D8DD1CC7-EDF5-40EB-A44D-3059B72F36E1}" dt="2026-05-12T15:04:15.619" v="280" actId="1036"/>
          <ac:spMkLst>
            <pc:docMk/>
            <pc:sldMk cId="0" sldId="265"/>
            <ac:spMk id="21" creationId="{00000000-0000-0000-0000-000000000000}"/>
          </ac:spMkLst>
        </pc:spChg>
      </pc:sldChg>
      <pc:sldChg chg="modSp mod">
        <pc:chgData name="Benny Istanto" userId="ccea0e650e68d75e" providerId="LiveId" clId="{D8DD1CC7-EDF5-40EB-A44D-3059B72F36E1}" dt="2026-05-12T15:48:18.800" v="304" actId="403"/>
        <pc:sldMkLst>
          <pc:docMk/>
          <pc:sldMk cId="0" sldId="266"/>
        </pc:sldMkLst>
        <pc:spChg chg="mod">
          <ac:chgData name="Benny Istanto" userId="ccea0e650e68d75e" providerId="LiveId" clId="{D8DD1CC7-EDF5-40EB-A44D-3059B72F36E1}" dt="2026-05-12T15:04:53.460" v="303" actId="1036"/>
          <ac:spMkLst>
            <pc:docMk/>
            <pc:sldMk cId="0" sldId="266"/>
            <ac:spMk id="7" creationId="{00000000-0000-0000-0000-000000000000}"/>
          </ac:spMkLst>
        </pc:spChg>
        <pc:spChg chg="mod">
          <ac:chgData name="Benny Istanto" userId="ccea0e650e68d75e" providerId="LiveId" clId="{D8DD1CC7-EDF5-40EB-A44D-3059B72F36E1}" dt="2026-05-12T15:04:53.460" v="303" actId="1036"/>
          <ac:spMkLst>
            <pc:docMk/>
            <pc:sldMk cId="0" sldId="266"/>
            <ac:spMk id="8" creationId="{00000000-0000-0000-0000-000000000000}"/>
          </ac:spMkLst>
        </pc:spChg>
        <pc:spChg chg="mod">
          <ac:chgData name="Benny Istanto" userId="ccea0e650e68d75e" providerId="LiveId" clId="{D8DD1CC7-EDF5-40EB-A44D-3059B72F36E1}" dt="2026-05-12T15:04:53.460" v="303" actId="1036"/>
          <ac:spMkLst>
            <pc:docMk/>
            <pc:sldMk cId="0" sldId="266"/>
            <ac:spMk id="9" creationId="{00000000-0000-0000-0000-000000000000}"/>
          </ac:spMkLst>
        </pc:spChg>
        <pc:spChg chg="mod">
          <ac:chgData name="Benny Istanto" userId="ccea0e650e68d75e" providerId="LiveId" clId="{D8DD1CC7-EDF5-40EB-A44D-3059B72F36E1}" dt="2026-05-12T15:04:53.460" v="303" actId="1036"/>
          <ac:spMkLst>
            <pc:docMk/>
            <pc:sldMk cId="0" sldId="266"/>
            <ac:spMk id="10" creationId="{00000000-0000-0000-0000-000000000000}"/>
          </ac:spMkLst>
        </pc:spChg>
        <pc:spChg chg="mod">
          <ac:chgData name="Benny Istanto" userId="ccea0e650e68d75e" providerId="LiveId" clId="{D8DD1CC7-EDF5-40EB-A44D-3059B72F36E1}" dt="2026-05-12T15:04:53.460" v="303" actId="1036"/>
          <ac:spMkLst>
            <pc:docMk/>
            <pc:sldMk cId="0" sldId="266"/>
            <ac:spMk id="11" creationId="{00000000-0000-0000-0000-000000000000}"/>
          </ac:spMkLst>
        </pc:spChg>
        <pc:spChg chg="mod">
          <ac:chgData name="Benny Istanto" userId="ccea0e650e68d75e" providerId="LiveId" clId="{D8DD1CC7-EDF5-40EB-A44D-3059B72F36E1}" dt="2026-05-12T15:48:18.800" v="304" actId="403"/>
          <ac:spMkLst>
            <pc:docMk/>
            <pc:sldMk cId="0" sldId="266"/>
            <ac:spMk id="12" creationId="{00000000-0000-0000-0000-000000000000}"/>
          </ac:spMkLst>
        </pc:spChg>
      </pc:sldChg>
      <pc:sldChg chg="modSp mod">
        <pc:chgData name="Benny Istanto" userId="ccea0e650e68d75e" providerId="LiveId" clId="{D8DD1CC7-EDF5-40EB-A44D-3059B72F36E1}" dt="2026-05-12T15:48:44.509" v="312" actId="403"/>
        <pc:sldMkLst>
          <pc:docMk/>
          <pc:sldMk cId="0" sldId="267"/>
        </pc:sldMkLst>
        <pc:spChg chg="mod">
          <ac:chgData name="Benny Istanto" userId="ccea0e650e68d75e" providerId="LiveId" clId="{D8DD1CC7-EDF5-40EB-A44D-3059B72F36E1}" dt="2026-05-12T15:48:44.509" v="312" actId="403"/>
          <ac:spMkLst>
            <pc:docMk/>
            <pc:sldMk cId="0" sldId="267"/>
            <ac:spMk id="12" creationId="{00000000-0000-0000-0000-000000000000}"/>
          </ac:spMkLst>
        </pc:spChg>
        <pc:graphicFrameChg chg="modGraphic">
          <ac:chgData name="Benny Istanto" userId="ccea0e650e68d75e" providerId="LiveId" clId="{D8DD1CC7-EDF5-40EB-A44D-3059B72F36E1}" dt="2026-05-12T15:48:30.258" v="306" actId="403"/>
          <ac:graphicFrameMkLst>
            <pc:docMk/>
            <pc:sldMk cId="0" sldId="267"/>
            <ac:graphicFrameMk id="7" creationId="{00000000-0000-0000-0000-000000000000}"/>
          </ac:graphicFrameMkLst>
        </pc:graphicFrameChg>
        <pc:graphicFrameChg chg="modGraphic">
          <ac:chgData name="Benny Istanto" userId="ccea0e650e68d75e" providerId="LiveId" clId="{D8DD1CC7-EDF5-40EB-A44D-3059B72F36E1}" dt="2026-05-12T15:48:35.074" v="309" actId="403"/>
          <ac:graphicFrameMkLst>
            <pc:docMk/>
            <pc:sldMk cId="0" sldId="267"/>
            <ac:graphicFrameMk id="8" creationId="{00000000-0000-0000-0000-000000000000}"/>
          </ac:graphicFrameMkLst>
        </pc:graphicFrameChg>
        <pc:graphicFrameChg chg="modGraphic">
          <ac:chgData name="Benny Istanto" userId="ccea0e650e68d75e" providerId="LiveId" clId="{D8DD1CC7-EDF5-40EB-A44D-3059B72F36E1}" dt="2026-05-12T15:48:40.300" v="311" actId="403"/>
          <ac:graphicFrameMkLst>
            <pc:docMk/>
            <pc:sldMk cId="0" sldId="267"/>
            <ac:graphicFrameMk id="9" creationId="{00000000-0000-0000-0000-000000000000}"/>
          </ac:graphicFrameMkLst>
        </pc:graphicFrameChg>
      </pc:sldChg>
      <pc:sldChg chg="modSp mod">
        <pc:chgData name="Benny Istanto" userId="ccea0e650e68d75e" providerId="LiveId" clId="{D8DD1CC7-EDF5-40EB-A44D-3059B72F36E1}" dt="2026-05-12T15:49:16.839" v="317" actId="403"/>
        <pc:sldMkLst>
          <pc:docMk/>
          <pc:sldMk cId="0" sldId="268"/>
        </pc:sldMkLst>
        <pc:spChg chg="mod">
          <ac:chgData name="Benny Istanto" userId="ccea0e650e68d75e" providerId="LiveId" clId="{D8DD1CC7-EDF5-40EB-A44D-3059B72F36E1}" dt="2026-05-12T15:49:05.535" v="313" actId="403"/>
          <ac:spMkLst>
            <pc:docMk/>
            <pc:sldMk cId="0" sldId="268"/>
            <ac:spMk id="7" creationId="{00000000-0000-0000-0000-000000000000}"/>
          </ac:spMkLst>
        </pc:spChg>
        <pc:spChg chg="mod">
          <ac:chgData name="Benny Istanto" userId="ccea0e650e68d75e" providerId="LiveId" clId="{D8DD1CC7-EDF5-40EB-A44D-3059B72F36E1}" dt="2026-05-12T15:49:09.336" v="314" actId="403"/>
          <ac:spMkLst>
            <pc:docMk/>
            <pc:sldMk cId="0" sldId="268"/>
            <ac:spMk id="11" creationId="{00000000-0000-0000-0000-000000000000}"/>
          </ac:spMkLst>
        </pc:spChg>
        <pc:graphicFrameChg chg="modGraphic">
          <ac:chgData name="Benny Istanto" userId="ccea0e650e68d75e" providerId="LiveId" clId="{D8DD1CC7-EDF5-40EB-A44D-3059B72F36E1}" dt="2026-05-12T15:49:16.839" v="317" actId="403"/>
          <ac:graphicFrameMkLst>
            <pc:docMk/>
            <pc:sldMk cId="0" sldId="268"/>
            <ac:graphicFrameMk id="12" creationId="{00000000-0000-0000-0000-000000000000}"/>
          </ac:graphicFrameMkLst>
        </pc:graphicFrameChg>
      </pc:sldChg>
      <pc:sldChg chg="modSp mod">
        <pc:chgData name="Benny Istanto" userId="ccea0e650e68d75e" providerId="LiveId" clId="{D8DD1CC7-EDF5-40EB-A44D-3059B72F36E1}" dt="2026-05-12T15:51:34.348" v="332" actId="207"/>
        <pc:sldMkLst>
          <pc:docMk/>
          <pc:sldMk cId="0" sldId="269"/>
        </pc:sldMkLst>
        <pc:spChg chg="mod">
          <ac:chgData name="Benny Istanto" userId="ccea0e650e68d75e" providerId="LiveId" clId="{D8DD1CC7-EDF5-40EB-A44D-3059B72F36E1}" dt="2026-05-12T15:49:27.699" v="322" actId="20577"/>
          <ac:spMkLst>
            <pc:docMk/>
            <pc:sldMk cId="0" sldId="269"/>
            <ac:spMk id="4" creationId="{00000000-0000-0000-0000-000000000000}"/>
          </ac:spMkLst>
        </pc:spChg>
        <pc:spChg chg="mod">
          <ac:chgData name="Benny Istanto" userId="ccea0e650e68d75e" providerId="LiveId" clId="{D8DD1CC7-EDF5-40EB-A44D-3059B72F36E1}" dt="2026-05-12T15:51:34.348" v="332" actId="207"/>
          <ac:spMkLst>
            <pc:docMk/>
            <pc:sldMk cId="0" sldId="269"/>
            <ac:spMk id="6" creationId="{00000000-0000-0000-0000-000000000000}"/>
          </ac:spMkLst>
        </pc:spChg>
      </pc:sldChg>
      <pc:sldChg chg="modSp mod">
        <pc:chgData name="Benny Istanto" userId="ccea0e650e68d75e" providerId="LiveId" clId="{D8DD1CC7-EDF5-40EB-A44D-3059B72F36E1}" dt="2026-05-12T15:52:20.988" v="356" actId="403"/>
        <pc:sldMkLst>
          <pc:docMk/>
          <pc:sldMk cId="0" sldId="270"/>
        </pc:sldMkLst>
        <pc:spChg chg="mod">
          <ac:chgData name="Benny Istanto" userId="ccea0e650e68d75e" providerId="LiveId" clId="{D8DD1CC7-EDF5-40EB-A44D-3059B72F36E1}" dt="2026-05-12T15:51:42.191" v="333" actId="403"/>
          <ac:spMkLst>
            <pc:docMk/>
            <pc:sldMk cId="0" sldId="270"/>
            <ac:spMk id="7" creationId="{00000000-0000-0000-0000-000000000000}"/>
          </ac:spMkLst>
        </pc:spChg>
        <pc:spChg chg="mod">
          <ac:chgData name="Benny Istanto" userId="ccea0e650e68d75e" providerId="LiveId" clId="{D8DD1CC7-EDF5-40EB-A44D-3059B72F36E1}" dt="2026-05-12T15:52:06.362" v="339" actId="403"/>
          <ac:spMkLst>
            <pc:docMk/>
            <pc:sldMk cId="0" sldId="270"/>
            <ac:spMk id="11" creationId="{00000000-0000-0000-0000-000000000000}"/>
          </ac:spMkLst>
        </pc:spChg>
        <pc:spChg chg="mod">
          <ac:chgData name="Benny Istanto" userId="ccea0e650e68d75e" providerId="LiveId" clId="{D8DD1CC7-EDF5-40EB-A44D-3059B72F36E1}" dt="2026-05-12T15:51:47.466" v="334" actId="403"/>
          <ac:spMkLst>
            <pc:docMk/>
            <pc:sldMk cId="0" sldId="270"/>
            <ac:spMk id="12" creationId="{00000000-0000-0000-0000-000000000000}"/>
          </ac:spMkLst>
        </pc:spChg>
        <pc:spChg chg="mod">
          <ac:chgData name="Benny Istanto" userId="ccea0e650e68d75e" providerId="LiveId" clId="{D8DD1CC7-EDF5-40EB-A44D-3059B72F36E1}" dt="2026-05-12T15:52:20.988" v="356" actId="403"/>
          <ac:spMkLst>
            <pc:docMk/>
            <pc:sldMk cId="0" sldId="270"/>
            <ac:spMk id="22" creationId="{00000000-0000-0000-0000-000000000000}"/>
          </ac:spMkLst>
        </pc:spChg>
        <pc:spChg chg="mod">
          <ac:chgData name="Benny Istanto" userId="ccea0e650e68d75e" providerId="LiveId" clId="{D8DD1CC7-EDF5-40EB-A44D-3059B72F36E1}" dt="2026-05-12T15:52:16.987" v="355" actId="1036"/>
          <ac:spMkLst>
            <pc:docMk/>
            <pc:sldMk cId="0" sldId="270"/>
            <ac:spMk id="25" creationId="{00000000-0000-0000-0000-000000000000}"/>
          </ac:spMkLst>
        </pc:spChg>
        <pc:graphicFrameChg chg="modGraphic">
          <ac:chgData name="Benny Istanto" userId="ccea0e650e68d75e" providerId="LiveId" clId="{D8DD1CC7-EDF5-40EB-A44D-3059B72F36E1}" dt="2026-05-12T15:51:54.149" v="338" actId="404"/>
          <ac:graphicFrameMkLst>
            <pc:docMk/>
            <pc:sldMk cId="0" sldId="270"/>
            <ac:graphicFrameMk id="8" creationId="{00000000-0000-0000-0000-000000000000}"/>
          </ac:graphicFrameMkLst>
        </pc:graphicFrameChg>
      </pc:sldChg>
      <pc:sldChg chg="modSp mod">
        <pc:chgData name="Benny Istanto" userId="ccea0e650e68d75e" providerId="LiveId" clId="{D8DD1CC7-EDF5-40EB-A44D-3059B72F36E1}" dt="2026-05-12T16:16:54.960" v="366" actId="1036"/>
        <pc:sldMkLst>
          <pc:docMk/>
          <pc:sldMk cId="0" sldId="271"/>
        </pc:sldMkLst>
        <pc:spChg chg="mod">
          <ac:chgData name="Benny Istanto" userId="ccea0e650e68d75e" providerId="LiveId" clId="{D8DD1CC7-EDF5-40EB-A44D-3059B72F36E1}" dt="2026-05-12T16:16:54.960" v="366" actId="1036"/>
          <ac:spMkLst>
            <pc:docMk/>
            <pc:sldMk cId="0" sldId="271"/>
            <ac:spMk id="7" creationId="{00000000-0000-0000-0000-000000000000}"/>
          </ac:spMkLst>
        </pc:spChg>
        <pc:spChg chg="mod">
          <ac:chgData name="Benny Istanto" userId="ccea0e650e68d75e" providerId="LiveId" clId="{D8DD1CC7-EDF5-40EB-A44D-3059B72F36E1}" dt="2026-05-12T16:16:54.960" v="366" actId="1036"/>
          <ac:spMkLst>
            <pc:docMk/>
            <pc:sldMk cId="0" sldId="271"/>
            <ac:spMk id="8" creationId="{00000000-0000-0000-0000-000000000000}"/>
          </ac:spMkLst>
        </pc:spChg>
        <pc:spChg chg="mod">
          <ac:chgData name="Benny Istanto" userId="ccea0e650e68d75e" providerId="LiveId" clId="{D8DD1CC7-EDF5-40EB-A44D-3059B72F36E1}" dt="2026-05-12T16:16:54.960" v="366" actId="1036"/>
          <ac:spMkLst>
            <pc:docMk/>
            <pc:sldMk cId="0" sldId="271"/>
            <ac:spMk id="9" creationId="{00000000-0000-0000-0000-000000000000}"/>
          </ac:spMkLst>
        </pc:spChg>
      </pc:sldChg>
      <pc:sldChg chg="modSp mod">
        <pc:chgData name="Benny Istanto" userId="ccea0e650e68d75e" providerId="LiveId" clId="{D8DD1CC7-EDF5-40EB-A44D-3059B72F36E1}" dt="2026-05-12T16:17:15.356" v="368" actId="403"/>
        <pc:sldMkLst>
          <pc:docMk/>
          <pc:sldMk cId="0" sldId="272"/>
        </pc:sldMkLst>
        <pc:spChg chg="mod">
          <ac:chgData name="Benny Istanto" userId="ccea0e650e68d75e" providerId="LiveId" clId="{D8DD1CC7-EDF5-40EB-A44D-3059B72F36E1}" dt="2026-05-12T16:17:09.559" v="367" actId="403"/>
          <ac:spMkLst>
            <pc:docMk/>
            <pc:sldMk cId="0" sldId="272"/>
            <ac:spMk id="7" creationId="{00000000-0000-0000-0000-000000000000}"/>
          </ac:spMkLst>
        </pc:spChg>
        <pc:spChg chg="mod">
          <ac:chgData name="Benny Istanto" userId="ccea0e650e68d75e" providerId="LiveId" clId="{D8DD1CC7-EDF5-40EB-A44D-3059B72F36E1}" dt="2026-05-12T16:17:09.559" v="367" actId="403"/>
          <ac:spMkLst>
            <pc:docMk/>
            <pc:sldMk cId="0" sldId="272"/>
            <ac:spMk id="11" creationId="{00000000-0000-0000-0000-000000000000}"/>
          </ac:spMkLst>
        </pc:spChg>
        <pc:spChg chg="mod">
          <ac:chgData name="Benny Istanto" userId="ccea0e650e68d75e" providerId="LiveId" clId="{D8DD1CC7-EDF5-40EB-A44D-3059B72F36E1}" dt="2026-05-12T16:17:15.356" v="368" actId="403"/>
          <ac:spMkLst>
            <pc:docMk/>
            <pc:sldMk cId="0" sldId="272"/>
            <ac:spMk id="17" creationId="{00000000-0000-0000-0000-000000000000}"/>
          </ac:spMkLst>
        </pc:spChg>
      </pc:sldChg>
      <pc:sldChg chg="modSp mod">
        <pc:chgData name="Benny Istanto" userId="ccea0e650e68d75e" providerId="LiveId" clId="{D8DD1CC7-EDF5-40EB-A44D-3059B72F36E1}" dt="2026-05-12T16:17:27.748" v="369" actId="403"/>
        <pc:sldMkLst>
          <pc:docMk/>
          <pc:sldMk cId="0" sldId="273"/>
        </pc:sldMkLst>
        <pc:spChg chg="mod">
          <ac:chgData name="Benny Istanto" userId="ccea0e650e68d75e" providerId="LiveId" clId="{D8DD1CC7-EDF5-40EB-A44D-3059B72F36E1}" dt="2026-05-12T16:17:27.748" v="369" actId="403"/>
          <ac:spMkLst>
            <pc:docMk/>
            <pc:sldMk cId="0" sldId="273"/>
            <ac:spMk id="7" creationId="{00000000-0000-0000-0000-000000000000}"/>
          </ac:spMkLst>
        </pc:spChg>
        <pc:spChg chg="mod">
          <ac:chgData name="Benny Istanto" userId="ccea0e650e68d75e" providerId="LiveId" clId="{D8DD1CC7-EDF5-40EB-A44D-3059B72F36E1}" dt="2026-05-12T16:17:27.748" v="369" actId="403"/>
          <ac:spMkLst>
            <pc:docMk/>
            <pc:sldMk cId="0" sldId="273"/>
            <ac:spMk id="11" creationId="{00000000-0000-0000-0000-000000000000}"/>
          </ac:spMkLst>
        </pc:spChg>
      </pc:sldChg>
      <pc:sldChg chg="modSp mod">
        <pc:chgData name="Benny Istanto" userId="ccea0e650e68d75e" providerId="LiveId" clId="{D8DD1CC7-EDF5-40EB-A44D-3059B72F36E1}" dt="2026-05-12T16:19:05.816" v="388" actId="403"/>
        <pc:sldMkLst>
          <pc:docMk/>
          <pc:sldMk cId="0" sldId="274"/>
        </pc:sldMkLst>
        <pc:spChg chg="mod">
          <ac:chgData name="Benny Istanto" userId="ccea0e650e68d75e" providerId="LiveId" clId="{D8DD1CC7-EDF5-40EB-A44D-3059B72F36E1}" dt="2026-05-12T16:18:04.568" v="379" actId="1036"/>
          <ac:spMkLst>
            <pc:docMk/>
            <pc:sldMk cId="0" sldId="274"/>
            <ac:spMk id="8" creationId="{00000000-0000-0000-0000-000000000000}"/>
          </ac:spMkLst>
        </pc:spChg>
        <pc:spChg chg="mod">
          <ac:chgData name="Benny Istanto" userId="ccea0e650e68d75e" providerId="LiveId" clId="{D8DD1CC7-EDF5-40EB-A44D-3059B72F36E1}" dt="2026-05-12T16:18:04.568" v="379" actId="1036"/>
          <ac:spMkLst>
            <pc:docMk/>
            <pc:sldMk cId="0" sldId="274"/>
            <ac:spMk id="9" creationId="{00000000-0000-0000-0000-000000000000}"/>
          </ac:spMkLst>
        </pc:spChg>
        <pc:spChg chg="mod">
          <ac:chgData name="Benny Istanto" userId="ccea0e650e68d75e" providerId="LiveId" clId="{D8DD1CC7-EDF5-40EB-A44D-3059B72F36E1}" dt="2026-05-12T16:19:05.816" v="388" actId="403"/>
          <ac:spMkLst>
            <pc:docMk/>
            <pc:sldMk cId="0" sldId="274"/>
            <ac:spMk id="10" creationId="{00000000-0000-0000-0000-000000000000}"/>
          </ac:spMkLst>
        </pc:spChg>
        <pc:graphicFrameChg chg="mod modGraphic">
          <ac:chgData name="Benny Istanto" userId="ccea0e650e68d75e" providerId="LiveId" clId="{D8DD1CC7-EDF5-40EB-A44D-3059B72F36E1}" dt="2026-05-12T16:18:48.957" v="387" actId="122"/>
          <ac:graphicFrameMkLst>
            <pc:docMk/>
            <pc:sldMk cId="0" sldId="274"/>
            <ac:graphicFrameMk id="7" creationId="{00000000-0000-0000-0000-000000000000}"/>
          </ac:graphicFrameMkLst>
        </pc:graphicFrameChg>
      </pc:sldChg>
      <pc:sldChg chg="modSp mod">
        <pc:chgData name="Benny Istanto" userId="ccea0e650e68d75e" providerId="LiveId" clId="{D8DD1CC7-EDF5-40EB-A44D-3059B72F36E1}" dt="2026-05-12T16:20:59.496" v="421" actId="1036"/>
        <pc:sldMkLst>
          <pc:docMk/>
          <pc:sldMk cId="0" sldId="275"/>
        </pc:sldMkLst>
        <pc:spChg chg="mod">
          <ac:chgData name="Benny Istanto" userId="ccea0e650e68d75e" providerId="LiveId" clId="{D8DD1CC7-EDF5-40EB-A44D-3059B72F36E1}" dt="2026-05-12T16:20:59.496" v="421" actId="1036"/>
          <ac:spMkLst>
            <pc:docMk/>
            <pc:sldMk cId="0" sldId="275"/>
            <ac:spMk id="8" creationId="{00000000-0000-0000-0000-000000000000}"/>
          </ac:spMkLst>
        </pc:spChg>
        <pc:spChg chg="mod">
          <ac:chgData name="Benny Istanto" userId="ccea0e650e68d75e" providerId="LiveId" clId="{D8DD1CC7-EDF5-40EB-A44D-3059B72F36E1}" dt="2026-05-12T16:20:59.496" v="421" actId="1036"/>
          <ac:spMkLst>
            <pc:docMk/>
            <pc:sldMk cId="0" sldId="275"/>
            <ac:spMk id="9" creationId="{00000000-0000-0000-0000-000000000000}"/>
          </ac:spMkLst>
        </pc:spChg>
        <pc:spChg chg="mod">
          <ac:chgData name="Benny Istanto" userId="ccea0e650e68d75e" providerId="LiveId" clId="{D8DD1CC7-EDF5-40EB-A44D-3059B72F36E1}" dt="2026-05-12T16:20:59.496" v="421" actId="1036"/>
          <ac:spMkLst>
            <pc:docMk/>
            <pc:sldMk cId="0" sldId="275"/>
            <ac:spMk id="10" creationId="{00000000-0000-0000-0000-000000000000}"/>
          </ac:spMkLst>
        </pc:spChg>
        <pc:spChg chg="mod">
          <ac:chgData name="Benny Istanto" userId="ccea0e650e68d75e" providerId="LiveId" clId="{D8DD1CC7-EDF5-40EB-A44D-3059B72F36E1}" dt="2026-05-12T16:20:59.496" v="421" actId="1036"/>
          <ac:spMkLst>
            <pc:docMk/>
            <pc:sldMk cId="0" sldId="275"/>
            <ac:spMk id="11" creationId="{00000000-0000-0000-0000-000000000000}"/>
          </ac:spMkLst>
        </pc:spChg>
        <pc:spChg chg="mod">
          <ac:chgData name="Benny Istanto" userId="ccea0e650e68d75e" providerId="LiveId" clId="{D8DD1CC7-EDF5-40EB-A44D-3059B72F36E1}" dt="2026-05-12T16:20:59.496" v="421" actId="1036"/>
          <ac:spMkLst>
            <pc:docMk/>
            <pc:sldMk cId="0" sldId="275"/>
            <ac:spMk id="12" creationId="{00000000-0000-0000-0000-000000000000}"/>
          </ac:spMkLst>
        </pc:spChg>
        <pc:spChg chg="mod">
          <ac:chgData name="Benny Istanto" userId="ccea0e650e68d75e" providerId="LiveId" clId="{D8DD1CC7-EDF5-40EB-A44D-3059B72F36E1}" dt="2026-05-12T16:20:59.496" v="421" actId="1036"/>
          <ac:spMkLst>
            <pc:docMk/>
            <pc:sldMk cId="0" sldId="275"/>
            <ac:spMk id="13" creationId="{00000000-0000-0000-0000-000000000000}"/>
          </ac:spMkLst>
        </pc:spChg>
        <pc:spChg chg="mod">
          <ac:chgData name="Benny Istanto" userId="ccea0e650e68d75e" providerId="LiveId" clId="{D8DD1CC7-EDF5-40EB-A44D-3059B72F36E1}" dt="2026-05-12T16:20:26.068" v="409" actId="122"/>
          <ac:spMkLst>
            <pc:docMk/>
            <pc:sldMk cId="0" sldId="275"/>
            <ac:spMk id="14" creationId="{00000000-0000-0000-0000-000000000000}"/>
          </ac:spMkLst>
        </pc:spChg>
        <pc:spChg chg="mod">
          <ac:chgData name="Benny Istanto" userId="ccea0e650e68d75e" providerId="LiveId" clId="{D8DD1CC7-EDF5-40EB-A44D-3059B72F36E1}" dt="2026-05-12T16:20:59.496" v="421" actId="1036"/>
          <ac:spMkLst>
            <pc:docMk/>
            <pc:sldMk cId="0" sldId="275"/>
            <ac:spMk id="15" creationId="{00000000-0000-0000-0000-000000000000}"/>
          </ac:spMkLst>
        </pc:spChg>
        <pc:spChg chg="mod">
          <ac:chgData name="Benny Istanto" userId="ccea0e650e68d75e" providerId="LiveId" clId="{D8DD1CC7-EDF5-40EB-A44D-3059B72F36E1}" dt="2026-05-12T16:20:59.496" v="421" actId="1036"/>
          <ac:spMkLst>
            <pc:docMk/>
            <pc:sldMk cId="0" sldId="275"/>
            <ac:spMk id="16" creationId="{00000000-0000-0000-0000-000000000000}"/>
          </ac:spMkLst>
        </pc:spChg>
        <pc:spChg chg="mod">
          <ac:chgData name="Benny Istanto" userId="ccea0e650e68d75e" providerId="LiveId" clId="{D8DD1CC7-EDF5-40EB-A44D-3059B72F36E1}" dt="2026-05-12T16:20:59.496" v="421" actId="1036"/>
          <ac:spMkLst>
            <pc:docMk/>
            <pc:sldMk cId="0" sldId="275"/>
            <ac:spMk id="17" creationId="{00000000-0000-0000-0000-000000000000}"/>
          </ac:spMkLst>
        </pc:spChg>
        <pc:spChg chg="mod">
          <ac:chgData name="Benny Istanto" userId="ccea0e650e68d75e" providerId="LiveId" clId="{D8DD1CC7-EDF5-40EB-A44D-3059B72F36E1}" dt="2026-05-12T16:20:59.496" v="421" actId="1036"/>
          <ac:spMkLst>
            <pc:docMk/>
            <pc:sldMk cId="0" sldId="275"/>
            <ac:spMk id="18" creationId="{00000000-0000-0000-0000-000000000000}"/>
          </ac:spMkLst>
        </pc:spChg>
      </pc:sldChg>
      <pc:sldChg chg="modSp mod">
        <pc:chgData name="Benny Istanto" userId="ccea0e650e68d75e" providerId="LiveId" clId="{D8DD1CC7-EDF5-40EB-A44D-3059B72F36E1}" dt="2026-05-12T16:21:14.825" v="432" actId="403"/>
        <pc:sldMkLst>
          <pc:docMk/>
          <pc:sldMk cId="0" sldId="276"/>
        </pc:sldMkLst>
        <pc:spChg chg="mod">
          <ac:chgData name="Benny Istanto" userId="ccea0e650e68d75e" providerId="LiveId" clId="{D8DD1CC7-EDF5-40EB-A44D-3059B72F36E1}" dt="2026-05-12T16:21:10.810" v="431" actId="1036"/>
          <ac:spMkLst>
            <pc:docMk/>
            <pc:sldMk cId="0" sldId="276"/>
            <ac:spMk id="8" creationId="{00000000-0000-0000-0000-000000000000}"/>
          </ac:spMkLst>
        </pc:spChg>
        <pc:spChg chg="mod">
          <ac:chgData name="Benny Istanto" userId="ccea0e650e68d75e" providerId="LiveId" clId="{D8DD1CC7-EDF5-40EB-A44D-3059B72F36E1}" dt="2026-05-12T16:21:10.810" v="431" actId="1036"/>
          <ac:spMkLst>
            <pc:docMk/>
            <pc:sldMk cId="0" sldId="276"/>
            <ac:spMk id="9" creationId="{00000000-0000-0000-0000-000000000000}"/>
          </ac:spMkLst>
        </pc:spChg>
        <pc:spChg chg="mod">
          <ac:chgData name="Benny Istanto" userId="ccea0e650e68d75e" providerId="LiveId" clId="{D8DD1CC7-EDF5-40EB-A44D-3059B72F36E1}" dt="2026-05-12T16:21:10.810" v="431" actId="1036"/>
          <ac:spMkLst>
            <pc:docMk/>
            <pc:sldMk cId="0" sldId="276"/>
            <ac:spMk id="10" creationId="{00000000-0000-0000-0000-000000000000}"/>
          </ac:spMkLst>
        </pc:spChg>
        <pc:spChg chg="mod">
          <ac:chgData name="Benny Istanto" userId="ccea0e650e68d75e" providerId="LiveId" clId="{D8DD1CC7-EDF5-40EB-A44D-3059B72F36E1}" dt="2026-05-12T16:21:10.810" v="431" actId="1036"/>
          <ac:spMkLst>
            <pc:docMk/>
            <pc:sldMk cId="0" sldId="276"/>
            <ac:spMk id="11" creationId="{00000000-0000-0000-0000-000000000000}"/>
          </ac:spMkLst>
        </pc:spChg>
        <pc:graphicFrameChg chg="mod modGraphic">
          <ac:chgData name="Benny Istanto" userId="ccea0e650e68d75e" providerId="LiveId" clId="{D8DD1CC7-EDF5-40EB-A44D-3059B72F36E1}" dt="2026-05-12T16:21:14.825" v="432" actId="403"/>
          <ac:graphicFrameMkLst>
            <pc:docMk/>
            <pc:sldMk cId="0" sldId="276"/>
            <ac:graphicFrameMk id="7" creationId="{00000000-0000-0000-0000-000000000000}"/>
          </ac:graphicFrameMkLst>
        </pc:graphicFrameChg>
      </pc:sldChg>
      <pc:sldChg chg="modSp mod">
        <pc:chgData name="Benny Istanto" userId="ccea0e650e68d75e" providerId="LiveId" clId="{D8DD1CC7-EDF5-40EB-A44D-3059B72F36E1}" dt="2026-05-12T16:21:26.518" v="442" actId="1036"/>
        <pc:sldMkLst>
          <pc:docMk/>
          <pc:sldMk cId="0" sldId="277"/>
        </pc:sldMkLst>
        <pc:spChg chg="mod">
          <ac:chgData name="Benny Istanto" userId="ccea0e650e68d75e" providerId="LiveId" clId="{D8DD1CC7-EDF5-40EB-A44D-3059B72F36E1}" dt="2026-05-12T16:21:26.518" v="442" actId="1036"/>
          <ac:spMkLst>
            <pc:docMk/>
            <pc:sldMk cId="0" sldId="277"/>
            <ac:spMk id="7" creationId="{00000000-0000-0000-0000-000000000000}"/>
          </ac:spMkLst>
        </pc:spChg>
        <pc:spChg chg="mod">
          <ac:chgData name="Benny Istanto" userId="ccea0e650e68d75e" providerId="LiveId" clId="{D8DD1CC7-EDF5-40EB-A44D-3059B72F36E1}" dt="2026-05-12T16:21:26.518" v="442" actId="1036"/>
          <ac:spMkLst>
            <pc:docMk/>
            <pc:sldMk cId="0" sldId="277"/>
            <ac:spMk id="8" creationId="{00000000-0000-0000-0000-000000000000}"/>
          </ac:spMkLst>
        </pc:spChg>
        <pc:spChg chg="mod">
          <ac:chgData name="Benny Istanto" userId="ccea0e650e68d75e" providerId="LiveId" clId="{D8DD1CC7-EDF5-40EB-A44D-3059B72F36E1}" dt="2026-05-12T16:21:26.518" v="442" actId="1036"/>
          <ac:spMkLst>
            <pc:docMk/>
            <pc:sldMk cId="0" sldId="277"/>
            <ac:spMk id="9" creationId="{00000000-0000-0000-0000-000000000000}"/>
          </ac:spMkLst>
        </pc:spChg>
      </pc:sldChg>
      <pc:sldChg chg="modSp mod">
        <pc:chgData name="Benny Istanto" userId="ccea0e650e68d75e" providerId="LiveId" clId="{D8DD1CC7-EDF5-40EB-A44D-3059B72F36E1}" dt="2026-05-12T16:21:41.044" v="454" actId="403"/>
        <pc:sldMkLst>
          <pc:docMk/>
          <pc:sldMk cId="0" sldId="278"/>
        </pc:sldMkLst>
        <pc:graphicFrameChg chg="mod modGraphic">
          <ac:chgData name="Benny Istanto" userId="ccea0e650e68d75e" providerId="LiveId" clId="{D8DD1CC7-EDF5-40EB-A44D-3059B72F36E1}" dt="2026-05-12T16:21:41.044" v="454" actId="403"/>
          <ac:graphicFrameMkLst>
            <pc:docMk/>
            <pc:sldMk cId="0" sldId="278"/>
            <ac:graphicFrameMk id="7" creationId="{00000000-0000-0000-0000-000000000000}"/>
          </ac:graphicFrameMkLst>
        </pc:graphicFrameChg>
      </pc:sldChg>
      <pc:sldChg chg="modSp mod">
        <pc:chgData name="Benny Istanto" userId="ccea0e650e68d75e" providerId="LiveId" clId="{D8DD1CC7-EDF5-40EB-A44D-3059B72F36E1}" dt="2026-05-12T16:22:21.589" v="468" actId="1036"/>
        <pc:sldMkLst>
          <pc:docMk/>
          <pc:sldMk cId="0" sldId="279"/>
        </pc:sldMkLst>
        <pc:spChg chg="mod">
          <ac:chgData name="Benny Istanto" userId="ccea0e650e68d75e" providerId="LiveId" clId="{D8DD1CC7-EDF5-40EB-A44D-3059B72F36E1}" dt="2026-05-12T16:22:21.589" v="468" actId="1036"/>
          <ac:spMkLst>
            <pc:docMk/>
            <pc:sldMk cId="0" sldId="279"/>
            <ac:spMk id="7" creationId="{00000000-0000-0000-0000-000000000000}"/>
          </ac:spMkLst>
        </pc:spChg>
        <pc:spChg chg="mod">
          <ac:chgData name="Benny Istanto" userId="ccea0e650e68d75e" providerId="LiveId" clId="{D8DD1CC7-EDF5-40EB-A44D-3059B72F36E1}" dt="2026-05-12T16:22:21.589" v="468" actId="1036"/>
          <ac:spMkLst>
            <pc:docMk/>
            <pc:sldMk cId="0" sldId="279"/>
            <ac:spMk id="8" creationId="{00000000-0000-0000-0000-000000000000}"/>
          </ac:spMkLst>
        </pc:spChg>
        <pc:spChg chg="mod">
          <ac:chgData name="Benny Istanto" userId="ccea0e650e68d75e" providerId="LiveId" clId="{D8DD1CC7-EDF5-40EB-A44D-3059B72F36E1}" dt="2026-05-12T16:22:11.542" v="458" actId="403"/>
          <ac:spMkLst>
            <pc:docMk/>
            <pc:sldMk cId="0" sldId="279"/>
            <ac:spMk id="9" creationId="{00000000-0000-0000-0000-000000000000}"/>
          </ac:spMkLst>
        </pc:spChg>
        <pc:spChg chg="mod">
          <ac:chgData name="Benny Istanto" userId="ccea0e650e68d75e" providerId="LiveId" clId="{D8DD1CC7-EDF5-40EB-A44D-3059B72F36E1}" dt="2026-05-12T16:22:21.589" v="468" actId="1036"/>
          <ac:spMkLst>
            <pc:docMk/>
            <pc:sldMk cId="0" sldId="279"/>
            <ac:spMk id="10" creationId="{00000000-0000-0000-0000-000000000000}"/>
          </ac:spMkLst>
        </pc:spChg>
        <pc:spChg chg="mod">
          <ac:chgData name="Benny Istanto" userId="ccea0e650e68d75e" providerId="LiveId" clId="{D8DD1CC7-EDF5-40EB-A44D-3059B72F36E1}" dt="2026-05-12T16:21:55.568" v="456" actId="403"/>
          <ac:spMkLst>
            <pc:docMk/>
            <pc:sldMk cId="0" sldId="279"/>
            <ac:spMk id="12" creationId="{00000000-0000-0000-0000-000000000000}"/>
          </ac:spMkLst>
        </pc:spChg>
        <pc:spChg chg="mod">
          <ac:chgData name="Benny Istanto" userId="ccea0e650e68d75e" providerId="LiveId" clId="{D8DD1CC7-EDF5-40EB-A44D-3059B72F36E1}" dt="2026-05-12T16:22:21.589" v="468" actId="1036"/>
          <ac:spMkLst>
            <pc:docMk/>
            <pc:sldMk cId="0" sldId="279"/>
            <ac:spMk id="13" creationId="{00000000-0000-0000-0000-000000000000}"/>
          </ac:spMkLst>
        </pc:spChg>
        <pc:spChg chg="mod">
          <ac:chgData name="Benny Istanto" userId="ccea0e650e68d75e" providerId="LiveId" clId="{D8DD1CC7-EDF5-40EB-A44D-3059B72F36E1}" dt="2026-05-12T16:21:55.568" v="456" actId="403"/>
          <ac:spMkLst>
            <pc:docMk/>
            <pc:sldMk cId="0" sldId="279"/>
            <ac:spMk id="16" creationId="{00000000-0000-0000-0000-000000000000}"/>
          </ac:spMkLst>
        </pc:spChg>
        <pc:spChg chg="mod">
          <ac:chgData name="Benny Istanto" userId="ccea0e650e68d75e" providerId="LiveId" clId="{D8DD1CC7-EDF5-40EB-A44D-3059B72F36E1}" dt="2026-05-12T16:22:21.589" v="468" actId="1036"/>
          <ac:spMkLst>
            <pc:docMk/>
            <pc:sldMk cId="0" sldId="279"/>
            <ac:spMk id="17" creationId="{00000000-0000-0000-0000-000000000000}"/>
          </ac:spMkLst>
        </pc:spChg>
        <pc:spChg chg="mod">
          <ac:chgData name="Benny Istanto" userId="ccea0e650e68d75e" providerId="LiveId" clId="{D8DD1CC7-EDF5-40EB-A44D-3059B72F36E1}" dt="2026-05-12T16:22:21.589" v="468" actId="1036"/>
          <ac:spMkLst>
            <pc:docMk/>
            <pc:sldMk cId="0" sldId="279"/>
            <ac:spMk id="18" creationId="{00000000-0000-0000-0000-000000000000}"/>
          </ac:spMkLst>
        </pc:spChg>
        <pc:spChg chg="mod">
          <ac:chgData name="Benny Istanto" userId="ccea0e650e68d75e" providerId="LiveId" clId="{D8DD1CC7-EDF5-40EB-A44D-3059B72F36E1}" dt="2026-05-12T16:22:21.589" v="468" actId="1036"/>
          <ac:spMkLst>
            <pc:docMk/>
            <pc:sldMk cId="0" sldId="279"/>
            <ac:spMk id="19" creationId="{00000000-0000-0000-0000-000000000000}"/>
          </ac:spMkLst>
        </pc:spChg>
        <pc:spChg chg="mod">
          <ac:chgData name="Benny Istanto" userId="ccea0e650e68d75e" providerId="LiveId" clId="{D8DD1CC7-EDF5-40EB-A44D-3059B72F36E1}" dt="2026-05-12T16:22:21.589" v="468" actId="1036"/>
          <ac:spMkLst>
            <pc:docMk/>
            <pc:sldMk cId="0" sldId="279"/>
            <ac:spMk id="20" creationId="{00000000-0000-0000-0000-000000000000}"/>
          </ac:spMkLst>
        </pc:spChg>
        <pc:spChg chg="mod">
          <ac:chgData name="Benny Istanto" userId="ccea0e650e68d75e" providerId="LiveId" clId="{D8DD1CC7-EDF5-40EB-A44D-3059B72F36E1}" dt="2026-05-12T16:22:21.589" v="468" actId="1036"/>
          <ac:spMkLst>
            <pc:docMk/>
            <pc:sldMk cId="0" sldId="279"/>
            <ac:spMk id="21" creationId="{00000000-0000-0000-0000-000000000000}"/>
          </ac:spMkLst>
        </pc:spChg>
        <pc:spChg chg="mod">
          <ac:chgData name="Benny Istanto" userId="ccea0e650e68d75e" providerId="LiveId" clId="{D8DD1CC7-EDF5-40EB-A44D-3059B72F36E1}" dt="2026-05-12T16:22:21.589" v="468" actId="1036"/>
          <ac:spMkLst>
            <pc:docMk/>
            <pc:sldMk cId="0" sldId="279"/>
            <ac:spMk id="23" creationId="{00000000-0000-0000-0000-000000000000}"/>
          </ac:spMkLst>
        </pc:spChg>
        <pc:spChg chg="mod">
          <ac:chgData name="Benny Istanto" userId="ccea0e650e68d75e" providerId="LiveId" clId="{D8DD1CC7-EDF5-40EB-A44D-3059B72F36E1}" dt="2026-05-12T16:21:55.568" v="456" actId="403"/>
          <ac:spMkLst>
            <pc:docMk/>
            <pc:sldMk cId="0" sldId="279"/>
            <ac:spMk id="24" creationId="{00000000-0000-0000-0000-000000000000}"/>
          </ac:spMkLst>
        </pc:spChg>
        <pc:spChg chg="mod">
          <ac:chgData name="Benny Istanto" userId="ccea0e650e68d75e" providerId="LiveId" clId="{D8DD1CC7-EDF5-40EB-A44D-3059B72F36E1}" dt="2026-05-12T16:22:11.542" v="458" actId="403"/>
          <ac:spMkLst>
            <pc:docMk/>
            <pc:sldMk cId="0" sldId="279"/>
            <ac:spMk id="25" creationId="{00000000-0000-0000-0000-000000000000}"/>
          </ac:spMkLst>
        </pc:spChg>
        <pc:spChg chg="mod">
          <ac:chgData name="Benny Istanto" userId="ccea0e650e68d75e" providerId="LiveId" clId="{D8DD1CC7-EDF5-40EB-A44D-3059B72F36E1}" dt="2026-05-12T16:21:55.568" v="456" actId="403"/>
          <ac:spMkLst>
            <pc:docMk/>
            <pc:sldMk cId="0" sldId="279"/>
            <ac:spMk id="28" creationId="{00000000-0000-0000-0000-000000000000}"/>
          </ac:spMkLst>
        </pc:spChg>
        <pc:spChg chg="mod">
          <ac:chgData name="Benny Istanto" userId="ccea0e650e68d75e" providerId="LiveId" clId="{D8DD1CC7-EDF5-40EB-A44D-3059B72F36E1}" dt="2026-05-12T16:22:11.542" v="458" actId="403"/>
          <ac:spMkLst>
            <pc:docMk/>
            <pc:sldMk cId="0" sldId="279"/>
            <ac:spMk id="29" creationId="{00000000-0000-0000-0000-000000000000}"/>
          </ac:spMkLst>
        </pc:spChg>
      </pc:sldChg>
      <pc:sldChg chg="modSp mod">
        <pc:chgData name="Benny Istanto" userId="ccea0e650e68d75e" providerId="LiveId" clId="{D8DD1CC7-EDF5-40EB-A44D-3059B72F36E1}" dt="2026-05-12T16:23:29.399" v="533" actId="403"/>
        <pc:sldMkLst>
          <pc:docMk/>
          <pc:sldMk cId="0" sldId="280"/>
        </pc:sldMkLst>
        <pc:spChg chg="mod">
          <ac:chgData name="Benny Istanto" userId="ccea0e650e68d75e" providerId="LiveId" clId="{D8DD1CC7-EDF5-40EB-A44D-3059B72F36E1}" dt="2026-05-12T16:23:24.979" v="532" actId="403"/>
          <ac:spMkLst>
            <pc:docMk/>
            <pc:sldMk cId="0" sldId="280"/>
            <ac:spMk id="6" creationId="{00000000-0000-0000-0000-000000000000}"/>
          </ac:spMkLst>
        </pc:spChg>
        <pc:spChg chg="mod">
          <ac:chgData name="Benny Istanto" userId="ccea0e650e68d75e" providerId="LiveId" clId="{D8DD1CC7-EDF5-40EB-A44D-3059B72F36E1}" dt="2026-05-12T16:22:35.518" v="469" actId="207"/>
          <ac:spMkLst>
            <pc:docMk/>
            <pc:sldMk cId="0" sldId="280"/>
            <ac:spMk id="8" creationId="{00000000-0000-0000-0000-000000000000}"/>
          </ac:spMkLst>
        </pc:spChg>
        <pc:spChg chg="mod">
          <ac:chgData name="Benny Istanto" userId="ccea0e650e68d75e" providerId="LiveId" clId="{D8DD1CC7-EDF5-40EB-A44D-3059B72F36E1}" dt="2026-05-12T16:22:57.181" v="492" actId="1035"/>
          <ac:spMkLst>
            <pc:docMk/>
            <pc:sldMk cId="0" sldId="280"/>
            <ac:spMk id="10" creationId="{00000000-0000-0000-0000-000000000000}"/>
          </ac:spMkLst>
        </pc:spChg>
        <pc:spChg chg="mod">
          <ac:chgData name="Benny Istanto" userId="ccea0e650e68d75e" providerId="LiveId" clId="{D8DD1CC7-EDF5-40EB-A44D-3059B72F36E1}" dt="2026-05-12T16:23:15.718" v="531" actId="1035"/>
          <ac:spMkLst>
            <pc:docMk/>
            <pc:sldMk cId="0" sldId="280"/>
            <ac:spMk id="11" creationId="{00000000-0000-0000-0000-000000000000}"/>
          </ac:spMkLst>
        </pc:spChg>
        <pc:spChg chg="mod">
          <ac:chgData name="Benny Istanto" userId="ccea0e650e68d75e" providerId="LiveId" clId="{D8DD1CC7-EDF5-40EB-A44D-3059B72F36E1}" dt="2026-05-12T16:22:35.518" v="469" actId="207"/>
          <ac:spMkLst>
            <pc:docMk/>
            <pc:sldMk cId="0" sldId="280"/>
            <ac:spMk id="13" creationId="{00000000-0000-0000-0000-000000000000}"/>
          </ac:spMkLst>
        </pc:spChg>
        <pc:spChg chg="mod">
          <ac:chgData name="Benny Istanto" userId="ccea0e650e68d75e" providerId="LiveId" clId="{D8DD1CC7-EDF5-40EB-A44D-3059B72F36E1}" dt="2026-05-12T16:22:57.181" v="492" actId="1035"/>
          <ac:spMkLst>
            <pc:docMk/>
            <pc:sldMk cId="0" sldId="280"/>
            <ac:spMk id="15" creationId="{00000000-0000-0000-0000-000000000000}"/>
          </ac:spMkLst>
        </pc:spChg>
        <pc:spChg chg="mod">
          <ac:chgData name="Benny Istanto" userId="ccea0e650e68d75e" providerId="LiveId" clId="{D8DD1CC7-EDF5-40EB-A44D-3059B72F36E1}" dt="2026-05-12T16:23:15.718" v="531" actId="1035"/>
          <ac:spMkLst>
            <pc:docMk/>
            <pc:sldMk cId="0" sldId="280"/>
            <ac:spMk id="16" creationId="{00000000-0000-0000-0000-000000000000}"/>
          </ac:spMkLst>
        </pc:spChg>
        <pc:spChg chg="mod">
          <ac:chgData name="Benny Istanto" userId="ccea0e650e68d75e" providerId="LiveId" clId="{D8DD1CC7-EDF5-40EB-A44D-3059B72F36E1}" dt="2026-05-12T16:22:35.518" v="469" actId="207"/>
          <ac:spMkLst>
            <pc:docMk/>
            <pc:sldMk cId="0" sldId="280"/>
            <ac:spMk id="18" creationId="{00000000-0000-0000-0000-000000000000}"/>
          </ac:spMkLst>
        </pc:spChg>
        <pc:spChg chg="mod">
          <ac:chgData name="Benny Istanto" userId="ccea0e650e68d75e" providerId="LiveId" clId="{D8DD1CC7-EDF5-40EB-A44D-3059B72F36E1}" dt="2026-05-12T16:22:57.181" v="492" actId="1035"/>
          <ac:spMkLst>
            <pc:docMk/>
            <pc:sldMk cId="0" sldId="280"/>
            <ac:spMk id="20" creationId="{00000000-0000-0000-0000-000000000000}"/>
          </ac:spMkLst>
        </pc:spChg>
        <pc:spChg chg="mod">
          <ac:chgData name="Benny Istanto" userId="ccea0e650e68d75e" providerId="LiveId" clId="{D8DD1CC7-EDF5-40EB-A44D-3059B72F36E1}" dt="2026-05-12T16:23:15.718" v="531" actId="1035"/>
          <ac:spMkLst>
            <pc:docMk/>
            <pc:sldMk cId="0" sldId="280"/>
            <ac:spMk id="21" creationId="{00000000-0000-0000-0000-000000000000}"/>
          </ac:spMkLst>
        </pc:spChg>
        <pc:spChg chg="mod">
          <ac:chgData name="Benny Istanto" userId="ccea0e650e68d75e" providerId="LiveId" clId="{D8DD1CC7-EDF5-40EB-A44D-3059B72F36E1}" dt="2026-05-12T16:22:35.518" v="469" actId="207"/>
          <ac:spMkLst>
            <pc:docMk/>
            <pc:sldMk cId="0" sldId="280"/>
            <ac:spMk id="23" creationId="{00000000-0000-0000-0000-000000000000}"/>
          </ac:spMkLst>
        </pc:spChg>
        <pc:spChg chg="mod">
          <ac:chgData name="Benny Istanto" userId="ccea0e650e68d75e" providerId="LiveId" clId="{D8DD1CC7-EDF5-40EB-A44D-3059B72F36E1}" dt="2026-05-12T16:22:57.181" v="492" actId="1035"/>
          <ac:spMkLst>
            <pc:docMk/>
            <pc:sldMk cId="0" sldId="280"/>
            <ac:spMk id="25" creationId="{00000000-0000-0000-0000-000000000000}"/>
          </ac:spMkLst>
        </pc:spChg>
        <pc:spChg chg="mod">
          <ac:chgData name="Benny Istanto" userId="ccea0e650e68d75e" providerId="LiveId" clId="{D8DD1CC7-EDF5-40EB-A44D-3059B72F36E1}" dt="2026-05-12T16:23:15.718" v="531" actId="1035"/>
          <ac:spMkLst>
            <pc:docMk/>
            <pc:sldMk cId="0" sldId="280"/>
            <ac:spMk id="26" creationId="{00000000-0000-0000-0000-000000000000}"/>
          </ac:spMkLst>
        </pc:spChg>
        <pc:spChg chg="mod">
          <ac:chgData name="Benny Istanto" userId="ccea0e650e68d75e" providerId="LiveId" clId="{D8DD1CC7-EDF5-40EB-A44D-3059B72F36E1}" dt="2026-05-12T16:23:29.399" v="533" actId="403"/>
          <ac:spMkLst>
            <pc:docMk/>
            <pc:sldMk cId="0" sldId="280"/>
            <ac:spMk id="27" creationId="{00000000-0000-0000-0000-000000000000}"/>
          </ac:spMkLst>
        </pc:spChg>
      </pc:sldChg>
      <pc:sldChg chg="modSp mod">
        <pc:chgData name="Benny Istanto" userId="ccea0e650e68d75e" providerId="LiveId" clId="{D8DD1CC7-EDF5-40EB-A44D-3059B72F36E1}" dt="2026-05-12T16:24:34.627" v="584" actId="403"/>
        <pc:sldMkLst>
          <pc:docMk/>
          <pc:sldMk cId="0" sldId="281"/>
        </pc:sldMkLst>
        <pc:spChg chg="mod">
          <ac:chgData name="Benny Istanto" userId="ccea0e650e68d75e" providerId="LiveId" clId="{D8DD1CC7-EDF5-40EB-A44D-3059B72F36E1}" dt="2026-05-12T16:24:22.225" v="581" actId="1035"/>
          <ac:spMkLst>
            <pc:docMk/>
            <pc:sldMk cId="0" sldId="281"/>
            <ac:spMk id="4" creationId="{00000000-0000-0000-0000-000000000000}"/>
          </ac:spMkLst>
        </pc:spChg>
        <pc:spChg chg="mod">
          <ac:chgData name="Benny Istanto" userId="ccea0e650e68d75e" providerId="LiveId" clId="{D8DD1CC7-EDF5-40EB-A44D-3059B72F36E1}" dt="2026-05-12T16:24:22.225" v="581" actId="1035"/>
          <ac:spMkLst>
            <pc:docMk/>
            <pc:sldMk cId="0" sldId="281"/>
            <ac:spMk id="5" creationId="{00000000-0000-0000-0000-000000000000}"/>
          </ac:spMkLst>
        </pc:spChg>
        <pc:spChg chg="mod">
          <ac:chgData name="Benny Istanto" userId="ccea0e650e68d75e" providerId="LiveId" clId="{D8DD1CC7-EDF5-40EB-A44D-3059B72F36E1}" dt="2026-05-12T16:24:34.627" v="584" actId="403"/>
          <ac:spMkLst>
            <pc:docMk/>
            <pc:sldMk cId="0" sldId="281"/>
            <ac:spMk id="7" creationId="{00000000-0000-0000-0000-000000000000}"/>
          </ac:spMkLst>
        </pc:spChg>
        <pc:spChg chg="mod">
          <ac:chgData name="Benny Istanto" userId="ccea0e650e68d75e" providerId="LiveId" clId="{D8DD1CC7-EDF5-40EB-A44D-3059B72F36E1}" dt="2026-05-12T16:24:22.225" v="581" actId="1035"/>
          <ac:spMkLst>
            <pc:docMk/>
            <pc:sldMk cId="0" sldId="281"/>
            <ac:spMk id="8" creationId="{00000000-0000-0000-0000-000000000000}"/>
          </ac:spMkLst>
        </pc:spChg>
        <pc:spChg chg="mod">
          <ac:chgData name="Benny Istanto" userId="ccea0e650e68d75e" providerId="LiveId" clId="{D8DD1CC7-EDF5-40EB-A44D-3059B72F36E1}" dt="2026-05-12T16:24:22.225" v="581" actId="1035"/>
          <ac:spMkLst>
            <pc:docMk/>
            <pc:sldMk cId="0" sldId="281"/>
            <ac:spMk id="9" creationId="{00000000-0000-0000-0000-000000000000}"/>
          </ac:spMkLst>
        </pc:spChg>
        <pc:spChg chg="mod">
          <ac:chgData name="Benny Istanto" userId="ccea0e650e68d75e" providerId="LiveId" clId="{D8DD1CC7-EDF5-40EB-A44D-3059B72F36E1}" dt="2026-05-12T16:24:22.225" v="581" actId="1035"/>
          <ac:spMkLst>
            <pc:docMk/>
            <pc:sldMk cId="0" sldId="281"/>
            <ac:spMk id="10" creationId="{00000000-0000-0000-0000-000000000000}"/>
          </ac:spMkLst>
        </pc:spChg>
        <pc:spChg chg="mod">
          <ac:chgData name="Benny Istanto" userId="ccea0e650e68d75e" providerId="LiveId" clId="{D8DD1CC7-EDF5-40EB-A44D-3059B72F36E1}" dt="2026-05-12T16:24:22.225" v="581" actId="1035"/>
          <ac:spMkLst>
            <pc:docMk/>
            <pc:sldMk cId="0" sldId="281"/>
            <ac:spMk id="11" creationId="{00000000-0000-0000-0000-000000000000}"/>
          </ac:spMkLst>
        </pc:spChg>
        <pc:spChg chg="mod">
          <ac:chgData name="Benny Istanto" userId="ccea0e650e68d75e" providerId="LiveId" clId="{D8DD1CC7-EDF5-40EB-A44D-3059B72F36E1}" dt="2026-05-12T16:24:22.225" v="581" actId="1035"/>
          <ac:spMkLst>
            <pc:docMk/>
            <pc:sldMk cId="0" sldId="281"/>
            <ac:spMk id="12" creationId="{00000000-0000-0000-0000-000000000000}"/>
          </ac:spMkLst>
        </pc:spChg>
        <pc:spChg chg="mod">
          <ac:chgData name="Benny Istanto" userId="ccea0e650e68d75e" providerId="LiveId" clId="{D8DD1CC7-EDF5-40EB-A44D-3059B72F36E1}" dt="2026-05-12T16:23:55.528" v="563" actId="20577"/>
          <ac:spMkLst>
            <pc:docMk/>
            <pc:sldMk cId="0" sldId="281"/>
            <ac:spMk id="13" creationId="{00000000-0000-0000-0000-000000000000}"/>
          </ac:spMkLst>
        </pc:spChg>
        <pc:graphicFrameChg chg="mod modGraphic">
          <ac:chgData name="Benny Istanto" userId="ccea0e650e68d75e" providerId="LiveId" clId="{D8DD1CC7-EDF5-40EB-A44D-3059B72F36E1}" dt="2026-05-12T16:24:29.080" v="583" actId="403"/>
          <ac:graphicFrameMkLst>
            <pc:docMk/>
            <pc:sldMk cId="0" sldId="281"/>
            <ac:graphicFrameMk id="6" creationId="{00000000-0000-0000-0000-000000000000}"/>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bistanto@worldbank.org" TargetMode="External"/><Relationship Id="rId2" Type="http://schemas.openxmlformats.org/officeDocument/2006/relationships/hyperlink" Target="https://riskdatalibrary.org/" TargetMode="Externa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hyperlink" Target="https://docs.riskdatalibrary.org/en/latest/reference/schema/"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hyperlink" Target="https://data.humdata.org/dataset/c7e5d29e-f5e8-4d8b-a437-f784fcfd6103"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p:cNvSpPr/>
          <p:nvPr/>
        </p:nvSpPr>
        <p:spPr>
          <a:xfrm flipV="1">
            <a:off x="182880" y="3768088"/>
            <a:ext cx="12006072" cy="45719"/>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188720"/>
            <a:ext cx="10972800" cy="677108"/>
          </a:xfrm>
          <a:prstGeom prst="rect">
            <a:avLst/>
          </a:prstGeom>
          <a:noFill/>
        </p:spPr>
        <p:txBody>
          <a:bodyPr wrap="square" lIns="0" tIns="0" rIns="0" bIns="0">
            <a:spAutoFit/>
          </a:bodyPr>
          <a:lstStyle/>
          <a:p>
            <a:pPr algn="l"/>
            <a:r>
              <a:rPr sz="4400" b="1" dirty="0">
                <a:solidFill>
                  <a:srgbClr val="383A42"/>
                </a:solidFill>
                <a:latin typeface="Calibri"/>
              </a:rPr>
              <a:t>From Keywords to Understanding</a:t>
            </a:r>
          </a:p>
        </p:txBody>
      </p:sp>
      <p:sp>
        <p:nvSpPr>
          <p:cNvPr id="5" name="TextBox 4"/>
          <p:cNvSpPr txBox="1"/>
          <p:nvPr/>
        </p:nvSpPr>
        <p:spPr>
          <a:xfrm>
            <a:off x="502920" y="2103120"/>
            <a:ext cx="10972800" cy="430887"/>
          </a:xfrm>
          <a:prstGeom prst="rect">
            <a:avLst/>
          </a:prstGeom>
          <a:noFill/>
        </p:spPr>
        <p:txBody>
          <a:bodyPr wrap="square" lIns="0" tIns="0" rIns="0" bIns="0">
            <a:spAutoFit/>
          </a:bodyPr>
          <a:lstStyle/>
          <a:p>
            <a:pPr algn="l"/>
            <a:r>
              <a:rPr sz="2800" b="0" dirty="0">
                <a:solidFill>
                  <a:srgbClr val="0184BC"/>
                </a:solidFill>
                <a:latin typeface="Calibri"/>
              </a:rPr>
              <a:t>The Journey of Cataloguing 26,246 Datasets from HDX</a:t>
            </a:r>
            <a:r>
              <a:rPr lang="en-US" sz="2800" b="0" dirty="0">
                <a:solidFill>
                  <a:srgbClr val="0184BC"/>
                </a:solidFill>
                <a:latin typeface="Calibri"/>
              </a:rPr>
              <a:t> to RDLS</a:t>
            </a:r>
            <a:endParaRPr sz="2800" b="0" dirty="0">
              <a:solidFill>
                <a:srgbClr val="0184BC"/>
              </a:solidFill>
              <a:latin typeface="Calibri"/>
            </a:endParaRPr>
          </a:p>
        </p:txBody>
      </p:sp>
      <p:sp>
        <p:nvSpPr>
          <p:cNvPr id="6" name="TextBox 5"/>
          <p:cNvSpPr txBox="1"/>
          <p:nvPr/>
        </p:nvSpPr>
        <p:spPr>
          <a:xfrm>
            <a:off x="502920" y="2743200"/>
            <a:ext cx="10972800" cy="276999"/>
          </a:xfrm>
          <a:prstGeom prst="rect">
            <a:avLst/>
          </a:prstGeom>
          <a:noFill/>
        </p:spPr>
        <p:txBody>
          <a:bodyPr wrap="square" lIns="0" tIns="0" rIns="0" bIns="0">
            <a:spAutoFit/>
          </a:bodyPr>
          <a:lstStyle/>
          <a:p>
            <a:pPr algn="l"/>
            <a:r>
              <a:rPr b="0">
                <a:solidFill>
                  <a:srgbClr val="696C77"/>
                </a:solidFill>
                <a:latin typeface="Consolas"/>
              </a:rPr>
              <a:t>Regex   --&gt;   Regex + LLM   --&gt;   LLM-First</a:t>
            </a:r>
          </a:p>
        </p:txBody>
      </p:sp>
      <p:sp>
        <p:nvSpPr>
          <p:cNvPr id="8" name="TextBox 7"/>
          <p:cNvSpPr txBox="1"/>
          <p:nvPr/>
        </p:nvSpPr>
        <p:spPr>
          <a:xfrm>
            <a:off x="502920" y="6178161"/>
            <a:ext cx="10972800" cy="184666"/>
          </a:xfrm>
          <a:prstGeom prst="rect">
            <a:avLst/>
          </a:prstGeom>
          <a:noFill/>
        </p:spPr>
        <p:txBody>
          <a:bodyPr wrap="square" lIns="0" tIns="0" rIns="0" bIns="0">
            <a:spAutoFit/>
          </a:bodyPr>
          <a:lstStyle/>
          <a:p>
            <a:r>
              <a:rPr lang="en-US" sz="1200" dirty="0">
                <a:solidFill>
                  <a:srgbClr val="696C77"/>
                </a:solidFill>
                <a:hlinkClick r:id="rId2"/>
              </a:rPr>
              <a:t>https://riskdatalibrary.org/</a:t>
            </a:r>
            <a:r>
              <a:rPr lang="en-US" sz="1200" dirty="0">
                <a:solidFill>
                  <a:srgbClr val="696C77"/>
                </a:solidFill>
              </a:rPr>
              <a:t> </a:t>
            </a:r>
            <a:r>
              <a:rPr sz="1200" b="0" dirty="0">
                <a:solidFill>
                  <a:srgbClr val="696C77"/>
                </a:solidFill>
              </a:rPr>
              <a:t>   |   May 2026</a:t>
            </a:r>
            <a:r>
              <a:rPr lang="en-US" sz="1200" dirty="0">
                <a:solidFill>
                  <a:srgbClr val="696C77"/>
                </a:solidFill>
              </a:rPr>
              <a:t>  |  Global Facility for Disaster Reduction and Recovery (GFDRR)  -  The World Bank Group</a:t>
            </a:r>
          </a:p>
        </p:txBody>
      </p:sp>
      <p:sp>
        <p:nvSpPr>
          <p:cNvPr id="9" name="TextBox 8"/>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1 / 26</a:t>
            </a:r>
          </a:p>
        </p:txBody>
      </p:sp>
      <p:sp>
        <p:nvSpPr>
          <p:cNvPr id="2" name="Rectangle 1"/>
          <p:cNvSpPr/>
          <p:nvPr/>
        </p:nvSpPr>
        <p:spPr>
          <a:xfrm>
            <a:off x="0" y="0"/>
            <a:ext cx="180000" cy="68580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TextBox 9">
            <a:extLst>
              <a:ext uri="{FF2B5EF4-FFF2-40B4-BE49-F238E27FC236}">
                <a16:creationId xmlns:a16="http://schemas.microsoft.com/office/drawing/2014/main" id="{441CD2F9-3358-F437-2589-4E0C9E84994C}"/>
              </a:ext>
            </a:extLst>
          </p:cNvPr>
          <p:cNvSpPr txBox="1"/>
          <p:nvPr/>
        </p:nvSpPr>
        <p:spPr>
          <a:xfrm>
            <a:off x="504250" y="4573325"/>
            <a:ext cx="10972800" cy="646331"/>
          </a:xfrm>
          <a:prstGeom prst="rect">
            <a:avLst/>
          </a:prstGeom>
          <a:noFill/>
        </p:spPr>
        <p:txBody>
          <a:bodyPr wrap="square" lIns="0" tIns="0" rIns="0" bIns="0">
            <a:spAutoFit/>
          </a:bodyPr>
          <a:lstStyle/>
          <a:p>
            <a:pPr algn="l"/>
            <a:r>
              <a:rPr lang="en-US" sz="1400" b="1" dirty="0">
                <a:solidFill>
                  <a:srgbClr val="696C77"/>
                </a:solidFill>
                <a:latin typeface="Calibri"/>
              </a:rPr>
              <a:t>Benny Istanto</a:t>
            </a:r>
          </a:p>
          <a:p>
            <a:pPr algn="l"/>
            <a:r>
              <a:rPr lang="en-US" sz="1400" dirty="0">
                <a:solidFill>
                  <a:srgbClr val="696C77"/>
                </a:solidFill>
                <a:latin typeface="Calibri"/>
              </a:rPr>
              <a:t>Risk Data Librarian</a:t>
            </a:r>
          </a:p>
          <a:p>
            <a:pPr algn="l"/>
            <a:r>
              <a:rPr lang="en-US" sz="1400" b="0" dirty="0">
                <a:solidFill>
                  <a:srgbClr val="696C77"/>
                </a:solidFill>
                <a:latin typeface="Calibri"/>
                <a:hlinkClick r:id="rId3"/>
              </a:rPr>
              <a:t>bistanto@worldbank.org</a:t>
            </a:r>
            <a:r>
              <a:rPr lang="en-US" sz="1400" b="0" dirty="0">
                <a:solidFill>
                  <a:srgbClr val="696C77"/>
                </a:solidFill>
                <a:latin typeface="Calibri"/>
              </a:rPr>
              <a:t> </a:t>
            </a:r>
            <a:endParaRPr sz="1400" b="0" dirty="0">
              <a:solidFill>
                <a:srgbClr val="696C77"/>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dirty="0">
                <a:solidFill>
                  <a:srgbClr val="0184BC"/>
                </a:solidFill>
                <a:latin typeface="Calibri"/>
              </a:rPr>
              <a:t>The Mission</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Transform HDX metadata into the Risk Data Library Standard (RDLS)</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2 / 26</a:t>
            </a:r>
          </a:p>
        </p:txBody>
      </p:sp>
      <p:sp>
        <p:nvSpPr>
          <p:cNvPr id="7" name="TextBox 6"/>
          <p:cNvSpPr txBox="1"/>
          <p:nvPr/>
        </p:nvSpPr>
        <p:spPr>
          <a:xfrm>
            <a:off x="411480" y="1024128"/>
            <a:ext cx="11430000" cy="320040"/>
          </a:xfrm>
          <a:prstGeom prst="rect">
            <a:avLst/>
          </a:prstGeom>
          <a:noFill/>
        </p:spPr>
        <p:txBody>
          <a:bodyPr wrap="square" lIns="0" tIns="0" rIns="0" bIns="0">
            <a:spAutoFit/>
          </a:bodyPr>
          <a:lstStyle/>
          <a:p>
            <a:pPr algn="l"/>
            <a:r>
              <a:rPr sz="1300" b="0" dirty="0">
                <a:solidFill>
                  <a:srgbClr val="696C77"/>
                </a:solidFill>
                <a:latin typeface="Calibri"/>
              </a:rPr>
              <a:t>RDLS classifies risk datasets into four components - HEVL:</a:t>
            </a:r>
          </a:p>
        </p:txBody>
      </p:sp>
      <p:sp>
        <p:nvSpPr>
          <p:cNvPr id="8" name="Rectangle 7"/>
          <p:cNvSpPr/>
          <p:nvPr/>
        </p:nvSpPr>
        <p:spPr>
          <a:xfrm>
            <a:off x="411480" y="1389888"/>
            <a:ext cx="1920240" cy="640080"/>
          </a:xfrm>
          <a:prstGeom prst="rect">
            <a:avLst/>
          </a:prstGeom>
          <a:solidFill>
            <a:srgbClr val="E456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5488" y="1610753"/>
            <a:ext cx="1828800" cy="230832"/>
          </a:xfrm>
          <a:prstGeom prst="rect">
            <a:avLst/>
          </a:prstGeom>
          <a:noFill/>
        </p:spPr>
        <p:txBody>
          <a:bodyPr wrap="square" lIns="0" tIns="0" rIns="0" bIns="0">
            <a:spAutoFit/>
          </a:bodyPr>
          <a:lstStyle/>
          <a:p>
            <a:r>
              <a:rPr lang="en-US" sz="1500" b="1" dirty="0">
                <a:solidFill>
                  <a:srgbClr val="FFFFFF"/>
                </a:solidFill>
                <a:latin typeface="Consolas"/>
              </a:rPr>
              <a:t> </a:t>
            </a:r>
            <a:r>
              <a:rPr sz="1500" b="1" dirty="0">
                <a:solidFill>
                  <a:srgbClr val="FFFFFF"/>
                </a:solidFill>
                <a:latin typeface="Consolas"/>
              </a:rPr>
              <a:t>H Hazard</a:t>
            </a:r>
          </a:p>
        </p:txBody>
      </p:sp>
      <p:sp>
        <p:nvSpPr>
          <p:cNvPr id="10" name="Rectangle 9"/>
          <p:cNvSpPr/>
          <p:nvPr/>
        </p:nvSpPr>
        <p:spPr>
          <a:xfrm>
            <a:off x="2423160" y="1389888"/>
            <a:ext cx="9326880" cy="64008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423160" y="1389888"/>
            <a:ext cx="25400" cy="640080"/>
          </a:xfrm>
          <a:prstGeom prst="rect">
            <a:avLst/>
          </a:prstGeom>
          <a:solidFill>
            <a:srgbClr val="E456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78608" y="1610753"/>
            <a:ext cx="9052560" cy="230832"/>
          </a:xfrm>
          <a:prstGeom prst="rect">
            <a:avLst/>
          </a:prstGeom>
          <a:noFill/>
        </p:spPr>
        <p:txBody>
          <a:bodyPr wrap="square" lIns="0" tIns="0" rIns="0" bIns="0">
            <a:spAutoFit/>
          </a:bodyPr>
          <a:lstStyle/>
          <a:p>
            <a:r>
              <a:rPr sz="1500" b="0" dirty="0">
                <a:solidFill>
                  <a:srgbClr val="383A42"/>
                </a:solidFill>
                <a:latin typeface="Calibri"/>
              </a:rPr>
              <a:t>Flood depth grids, seismic intensity maps, drought indices, storm surge models</a:t>
            </a:r>
            <a:r>
              <a:rPr lang="en-US" sz="1500" b="0" dirty="0">
                <a:solidFill>
                  <a:srgbClr val="383A42"/>
                </a:solidFill>
                <a:latin typeface="Calibri"/>
              </a:rPr>
              <a:t>, etc.</a:t>
            </a:r>
            <a:endParaRPr sz="1500" b="0" dirty="0">
              <a:solidFill>
                <a:srgbClr val="383A42"/>
              </a:solidFill>
              <a:latin typeface="Calibri"/>
            </a:endParaRPr>
          </a:p>
        </p:txBody>
      </p:sp>
      <p:sp>
        <p:nvSpPr>
          <p:cNvPr id="13" name="Rectangle 12"/>
          <p:cNvSpPr/>
          <p:nvPr/>
        </p:nvSpPr>
        <p:spPr>
          <a:xfrm>
            <a:off x="411480" y="2157984"/>
            <a:ext cx="1920240" cy="640080"/>
          </a:xfrm>
          <a:prstGeom prst="rect">
            <a:avLst/>
          </a:prstGeom>
          <a:solidFill>
            <a:srgbClr val="C18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5488" y="2378849"/>
            <a:ext cx="1828800" cy="230832"/>
          </a:xfrm>
          <a:prstGeom prst="rect">
            <a:avLst/>
          </a:prstGeom>
          <a:noFill/>
        </p:spPr>
        <p:txBody>
          <a:bodyPr wrap="square" lIns="0" tIns="0" rIns="0" bIns="0">
            <a:spAutoFit/>
          </a:bodyPr>
          <a:lstStyle/>
          <a:p>
            <a:r>
              <a:rPr lang="en-US" sz="1500" b="1" dirty="0">
                <a:solidFill>
                  <a:srgbClr val="FFFFFF"/>
                </a:solidFill>
                <a:latin typeface="Consolas"/>
              </a:rPr>
              <a:t> </a:t>
            </a:r>
            <a:r>
              <a:rPr sz="1500" b="1" dirty="0">
                <a:solidFill>
                  <a:srgbClr val="FFFFFF"/>
                </a:solidFill>
                <a:latin typeface="Consolas"/>
              </a:rPr>
              <a:t>E Exposure</a:t>
            </a:r>
          </a:p>
        </p:txBody>
      </p:sp>
      <p:sp>
        <p:nvSpPr>
          <p:cNvPr id="15" name="Rectangle 14"/>
          <p:cNvSpPr/>
          <p:nvPr/>
        </p:nvSpPr>
        <p:spPr>
          <a:xfrm>
            <a:off x="2423160" y="2157984"/>
            <a:ext cx="9326880" cy="64008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423160" y="2157984"/>
            <a:ext cx="25400" cy="640080"/>
          </a:xfrm>
          <a:prstGeom prst="rect">
            <a:avLst/>
          </a:prstGeom>
          <a:solidFill>
            <a:srgbClr val="C18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578608" y="2378849"/>
            <a:ext cx="9052560" cy="230832"/>
          </a:xfrm>
          <a:prstGeom prst="rect">
            <a:avLst/>
          </a:prstGeom>
          <a:noFill/>
        </p:spPr>
        <p:txBody>
          <a:bodyPr wrap="square" lIns="0" tIns="0" rIns="0" bIns="0">
            <a:spAutoFit/>
          </a:bodyPr>
          <a:lstStyle/>
          <a:p>
            <a:r>
              <a:rPr sz="1500" b="0" dirty="0">
                <a:solidFill>
                  <a:srgbClr val="383A42"/>
                </a:solidFill>
                <a:latin typeface="Calibri"/>
              </a:rPr>
              <a:t>Building inventories, population grids, facility registries, infrastructure datasets</a:t>
            </a:r>
            <a:r>
              <a:rPr lang="en-US" sz="1500" b="0" dirty="0">
                <a:solidFill>
                  <a:srgbClr val="383A42"/>
                </a:solidFill>
                <a:latin typeface="Calibri"/>
              </a:rPr>
              <a:t>, etc.</a:t>
            </a:r>
            <a:endParaRPr sz="1500" b="0" dirty="0">
              <a:solidFill>
                <a:srgbClr val="383A42"/>
              </a:solidFill>
              <a:latin typeface="Calibri"/>
            </a:endParaRPr>
          </a:p>
        </p:txBody>
      </p:sp>
      <p:sp>
        <p:nvSpPr>
          <p:cNvPr id="18" name="Rectangle 17"/>
          <p:cNvSpPr/>
          <p:nvPr/>
        </p:nvSpPr>
        <p:spPr>
          <a:xfrm>
            <a:off x="411480" y="2926080"/>
            <a:ext cx="1920240" cy="640080"/>
          </a:xfrm>
          <a:prstGeom prst="rect">
            <a:avLst/>
          </a:prstGeom>
          <a:solidFill>
            <a:srgbClr val="A626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75488" y="3146945"/>
            <a:ext cx="1828800" cy="230832"/>
          </a:xfrm>
          <a:prstGeom prst="rect">
            <a:avLst/>
          </a:prstGeom>
          <a:noFill/>
        </p:spPr>
        <p:txBody>
          <a:bodyPr wrap="square" lIns="0" tIns="0" rIns="0" bIns="0">
            <a:spAutoFit/>
          </a:bodyPr>
          <a:lstStyle/>
          <a:p>
            <a:r>
              <a:rPr lang="en-US" sz="1500" b="1" dirty="0">
                <a:solidFill>
                  <a:srgbClr val="FFFFFF"/>
                </a:solidFill>
                <a:latin typeface="Consolas"/>
              </a:rPr>
              <a:t> </a:t>
            </a:r>
            <a:r>
              <a:rPr sz="1500" b="1" dirty="0">
                <a:solidFill>
                  <a:srgbClr val="FFFFFF"/>
                </a:solidFill>
                <a:latin typeface="Consolas"/>
              </a:rPr>
              <a:t>V Vulnerability</a:t>
            </a:r>
          </a:p>
        </p:txBody>
      </p:sp>
      <p:sp>
        <p:nvSpPr>
          <p:cNvPr id="20" name="Rectangle 19"/>
          <p:cNvSpPr/>
          <p:nvPr/>
        </p:nvSpPr>
        <p:spPr>
          <a:xfrm>
            <a:off x="2423160" y="2926080"/>
            <a:ext cx="9326880" cy="64008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423160" y="2926080"/>
            <a:ext cx="25400" cy="640080"/>
          </a:xfrm>
          <a:prstGeom prst="rect">
            <a:avLst/>
          </a:prstGeom>
          <a:solidFill>
            <a:srgbClr val="A626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578608" y="3146945"/>
            <a:ext cx="9052560" cy="230832"/>
          </a:xfrm>
          <a:prstGeom prst="rect">
            <a:avLst/>
          </a:prstGeom>
          <a:noFill/>
        </p:spPr>
        <p:txBody>
          <a:bodyPr wrap="square" lIns="0" tIns="0" rIns="0" bIns="0">
            <a:spAutoFit/>
          </a:bodyPr>
          <a:lstStyle/>
          <a:p>
            <a:r>
              <a:rPr sz="1500" b="0" dirty="0">
                <a:solidFill>
                  <a:srgbClr val="383A42"/>
                </a:solidFill>
                <a:latin typeface="Calibri"/>
              </a:rPr>
              <a:t>Damage and fragility functions, vulnerability curves, loss ratios by asset type</a:t>
            </a:r>
            <a:r>
              <a:rPr lang="en-US" sz="1500" b="0" dirty="0">
                <a:solidFill>
                  <a:srgbClr val="383A42"/>
                </a:solidFill>
                <a:latin typeface="Calibri"/>
              </a:rPr>
              <a:t>, etc.</a:t>
            </a:r>
            <a:endParaRPr sz="1500" b="0" dirty="0">
              <a:solidFill>
                <a:srgbClr val="383A42"/>
              </a:solidFill>
              <a:latin typeface="Calibri"/>
            </a:endParaRPr>
          </a:p>
        </p:txBody>
      </p:sp>
      <p:sp>
        <p:nvSpPr>
          <p:cNvPr id="23" name="Rectangle 22"/>
          <p:cNvSpPr/>
          <p:nvPr/>
        </p:nvSpPr>
        <p:spPr>
          <a:xfrm>
            <a:off x="411480" y="3694176"/>
            <a:ext cx="1920240" cy="640080"/>
          </a:xfrm>
          <a:prstGeom prst="rect">
            <a:avLst/>
          </a:prstGeom>
          <a:solidFill>
            <a:srgbClr val="50A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5488" y="3915041"/>
            <a:ext cx="1828800" cy="230832"/>
          </a:xfrm>
          <a:prstGeom prst="rect">
            <a:avLst/>
          </a:prstGeom>
          <a:noFill/>
        </p:spPr>
        <p:txBody>
          <a:bodyPr wrap="square" lIns="0" tIns="0" rIns="0" bIns="0">
            <a:spAutoFit/>
          </a:bodyPr>
          <a:lstStyle/>
          <a:p>
            <a:r>
              <a:rPr lang="en-US" sz="1500" b="1" dirty="0">
                <a:solidFill>
                  <a:srgbClr val="FFFFFF"/>
                </a:solidFill>
                <a:latin typeface="Consolas"/>
              </a:rPr>
              <a:t> </a:t>
            </a:r>
            <a:r>
              <a:rPr sz="1500" b="1" dirty="0">
                <a:solidFill>
                  <a:srgbClr val="FFFFFF"/>
                </a:solidFill>
                <a:latin typeface="Consolas"/>
              </a:rPr>
              <a:t>L Loss</a:t>
            </a:r>
          </a:p>
        </p:txBody>
      </p:sp>
      <p:sp>
        <p:nvSpPr>
          <p:cNvPr id="25" name="Rectangle 24"/>
          <p:cNvSpPr/>
          <p:nvPr/>
        </p:nvSpPr>
        <p:spPr>
          <a:xfrm>
            <a:off x="2423160" y="3694176"/>
            <a:ext cx="9326880" cy="64008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423160" y="3694176"/>
            <a:ext cx="25400" cy="640080"/>
          </a:xfrm>
          <a:prstGeom prst="rect">
            <a:avLst/>
          </a:prstGeom>
          <a:solidFill>
            <a:srgbClr val="50A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78608" y="3915041"/>
            <a:ext cx="9052560" cy="230832"/>
          </a:xfrm>
          <a:prstGeom prst="rect">
            <a:avLst/>
          </a:prstGeom>
          <a:noFill/>
        </p:spPr>
        <p:txBody>
          <a:bodyPr wrap="square" lIns="0" tIns="0" rIns="0" bIns="0">
            <a:spAutoFit/>
          </a:bodyPr>
          <a:lstStyle/>
          <a:p>
            <a:r>
              <a:rPr sz="1500" b="0" dirty="0">
                <a:solidFill>
                  <a:srgbClr val="383A42"/>
                </a:solidFill>
                <a:latin typeface="Calibri"/>
              </a:rPr>
              <a:t>Casualties, displacement counts, economic damage, facility operational status</a:t>
            </a:r>
            <a:r>
              <a:rPr lang="en-US" sz="1500" b="0" dirty="0">
                <a:solidFill>
                  <a:srgbClr val="383A42"/>
                </a:solidFill>
                <a:latin typeface="Calibri"/>
              </a:rPr>
              <a:t>, etc.</a:t>
            </a:r>
            <a:endParaRPr sz="1500" b="0" dirty="0">
              <a:solidFill>
                <a:srgbClr val="383A42"/>
              </a:solidFill>
              <a:latin typeface="Calibri"/>
            </a:endParaRPr>
          </a:p>
        </p:txBody>
      </p:sp>
      <p:sp>
        <p:nvSpPr>
          <p:cNvPr id="28" name="Rectangle 27"/>
          <p:cNvSpPr/>
          <p:nvPr/>
        </p:nvSpPr>
        <p:spPr>
          <a:xfrm>
            <a:off x="411480" y="5943600"/>
            <a:ext cx="11338560" cy="621792"/>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11480" y="5943600"/>
            <a:ext cx="50800" cy="621792"/>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89280" y="6162920"/>
            <a:ext cx="11084560" cy="230832"/>
          </a:xfrm>
          <a:prstGeom prst="rect">
            <a:avLst/>
          </a:prstGeom>
          <a:noFill/>
        </p:spPr>
        <p:txBody>
          <a:bodyPr wrap="square" lIns="0" tIns="0" rIns="0" bIns="0">
            <a:spAutoFit/>
          </a:bodyPr>
          <a:lstStyle/>
          <a:p>
            <a:r>
              <a:rPr sz="1500" b="1" dirty="0">
                <a:solidFill>
                  <a:srgbClr val="383A42"/>
                </a:solidFill>
                <a:latin typeface="Calibri"/>
              </a:rPr>
              <a:t>26,246 HDX datasets   -   ~12,594 potential RDLS candidates   -   Manual review: $2M+ and months of expert time</a:t>
            </a:r>
          </a:p>
        </p:txBody>
      </p:sp>
      <p:sp>
        <p:nvSpPr>
          <p:cNvPr id="31" name="TextBox 30">
            <a:extLst>
              <a:ext uri="{FF2B5EF4-FFF2-40B4-BE49-F238E27FC236}">
                <a16:creationId xmlns:a16="http://schemas.microsoft.com/office/drawing/2014/main" id="{FD2E3788-5657-38D3-411B-482DC06F034C}"/>
              </a:ext>
            </a:extLst>
          </p:cNvPr>
          <p:cNvSpPr txBox="1"/>
          <p:nvPr/>
        </p:nvSpPr>
        <p:spPr>
          <a:xfrm>
            <a:off x="379412" y="4553576"/>
            <a:ext cx="11430000" cy="200055"/>
          </a:xfrm>
          <a:prstGeom prst="rect">
            <a:avLst/>
          </a:prstGeom>
          <a:noFill/>
        </p:spPr>
        <p:txBody>
          <a:bodyPr wrap="square" lIns="0" tIns="0" rIns="0" bIns="0">
            <a:spAutoFit/>
          </a:bodyPr>
          <a:lstStyle/>
          <a:p>
            <a:r>
              <a:rPr lang="en-US" sz="1300" b="0" dirty="0">
                <a:solidFill>
                  <a:srgbClr val="696C77"/>
                </a:solidFill>
                <a:latin typeface="Calibri"/>
              </a:rPr>
              <a:t>Reference</a:t>
            </a:r>
            <a:r>
              <a:rPr sz="1300" b="0" dirty="0">
                <a:solidFill>
                  <a:srgbClr val="696C77"/>
                </a:solidFill>
                <a:latin typeface="Calibri"/>
              </a:rPr>
              <a:t>:</a:t>
            </a:r>
            <a:r>
              <a:rPr lang="en-US" sz="1300" dirty="0">
                <a:solidFill>
                  <a:srgbClr val="696C77"/>
                </a:solidFill>
              </a:rPr>
              <a:t> </a:t>
            </a:r>
            <a:r>
              <a:rPr lang="en-US" sz="1300" dirty="0">
                <a:solidFill>
                  <a:srgbClr val="696C77"/>
                </a:solidFill>
                <a:hlinkClick r:id="rId2"/>
              </a:rPr>
              <a:t>https://docs.riskdatalibrary.org/en/latest/reference/schema/#</a:t>
            </a:r>
            <a:r>
              <a:rPr lang="en-US" sz="1300" dirty="0">
                <a:solidFill>
                  <a:srgbClr val="696C77"/>
                </a:solidFill>
              </a:rPr>
              <a:t> </a:t>
            </a:r>
            <a:endParaRPr sz="1300" b="0" dirty="0">
              <a:solidFill>
                <a:srgbClr val="696C77"/>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p:cNvSpPr/>
          <p:nvPr/>
        </p:nvSpPr>
        <p:spPr>
          <a:xfrm>
            <a:off x="0" y="3493008"/>
            <a:ext cx="12188952" cy="19050"/>
          </a:xfrm>
          <a:prstGeom prst="rect">
            <a:avLst/>
          </a:prstGeom>
          <a:solidFill>
            <a:srgbClr val="E456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31720"/>
            <a:ext cx="10972800" cy="246221"/>
          </a:xfrm>
          <a:prstGeom prst="rect">
            <a:avLst/>
          </a:prstGeom>
          <a:noFill/>
        </p:spPr>
        <p:txBody>
          <a:bodyPr wrap="square" lIns="0" tIns="0" rIns="0" bIns="0">
            <a:spAutoFit/>
          </a:bodyPr>
          <a:lstStyle/>
          <a:p>
            <a:pPr algn="l"/>
            <a:r>
              <a:rPr sz="1600" b="0" dirty="0">
                <a:solidFill>
                  <a:srgbClr val="E45649"/>
                </a:solidFill>
                <a:latin typeface="Calibri"/>
              </a:rPr>
              <a:t>Act</a:t>
            </a:r>
            <a:r>
              <a:rPr lang="en-US" sz="1600" b="0" dirty="0">
                <a:solidFill>
                  <a:srgbClr val="E45649"/>
                </a:solidFill>
                <a:latin typeface="Calibri"/>
              </a:rPr>
              <a:t>ivity</a:t>
            </a:r>
            <a:r>
              <a:rPr sz="1600" b="0" dirty="0">
                <a:solidFill>
                  <a:srgbClr val="E45649"/>
                </a:solidFill>
                <a:latin typeface="Calibri"/>
              </a:rPr>
              <a:t> 1</a:t>
            </a:r>
          </a:p>
        </p:txBody>
      </p:sp>
      <p:sp>
        <p:nvSpPr>
          <p:cNvPr id="5" name="TextBox 4"/>
          <p:cNvSpPr txBox="1"/>
          <p:nvPr/>
        </p:nvSpPr>
        <p:spPr>
          <a:xfrm>
            <a:off x="502920" y="2743200"/>
            <a:ext cx="10972800" cy="914400"/>
          </a:xfrm>
          <a:prstGeom prst="rect">
            <a:avLst/>
          </a:prstGeom>
          <a:noFill/>
        </p:spPr>
        <p:txBody>
          <a:bodyPr wrap="square" lIns="0" tIns="0" rIns="0" bIns="0">
            <a:spAutoFit/>
          </a:bodyPr>
          <a:lstStyle/>
          <a:p>
            <a:pPr algn="l"/>
            <a:r>
              <a:rPr sz="4200" b="1">
                <a:solidFill>
                  <a:srgbClr val="383A42"/>
                </a:solidFill>
                <a:latin typeface="Calibri"/>
              </a:rPr>
              <a:t>The Regex Pipeline</a:t>
            </a:r>
          </a:p>
        </p:txBody>
      </p:sp>
      <p:sp>
        <p:nvSpPr>
          <p:cNvPr id="6" name="TextBox 5"/>
          <p:cNvSpPr txBox="1"/>
          <p:nvPr/>
        </p:nvSpPr>
        <p:spPr>
          <a:xfrm>
            <a:off x="502920" y="3749039"/>
            <a:ext cx="10972800" cy="246221"/>
          </a:xfrm>
          <a:prstGeom prst="rect">
            <a:avLst/>
          </a:prstGeom>
          <a:noFill/>
        </p:spPr>
        <p:txBody>
          <a:bodyPr wrap="square" lIns="0" tIns="0" rIns="0" bIns="0">
            <a:spAutoFit/>
          </a:bodyPr>
          <a:lstStyle/>
          <a:p>
            <a:pPr algn="l"/>
            <a:r>
              <a:rPr sz="1600" b="0" dirty="0">
                <a:solidFill>
                  <a:srgbClr val="383A42"/>
                </a:solidFill>
                <a:latin typeface="Calibri"/>
              </a:rPr>
              <a:t>Deterministic. </a:t>
            </a:r>
            <a:r>
              <a:rPr sz="1600" b="0" dirty="0">
                <a:solidFill>
                  <a:srgbClr val="E45649"/>
                </a:solidFill>
                <a:latin typeface="Calibri"/>
              </a:rPr>
              <a:t>Fast.</a:t>
            </a:r>
            <a:r>
              <a:rPr sz="1600" b="0" dirty="0">
                <a:solidFill>
                  <a:srgbClr val="383A42"/>
                </a:solidFill>
                <a:latin typeface="Calibri"/>
              </a:rPr>
              <a:t> 12,594 records in under 60 seconds.</a:t>
            </a:r>
          </a:p>
        </p:txBody>
      </p:sp>
      <p:sp>
        <p:nvSpPr>
          <p:cNvPr id="7" name="TextBox 6"/>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3 / 26</a:t>
            </a:r>
          </a:p>
        </p:txBody>
      </p:sp>
      <p:sp>
        <p:nvSpPr>
          <p:cNvPr id="2" name="Rectangle 1"/>
          <p:cNvSpPr/>
          <p:nvPr/>
        </p:nvSpPr>
        <p:spPr>
          <a:xfrm>
            <a:off x="0" y="0"/>
            <a:ext cx="180000" cy="6858000"/>
          </a:xfrm>
          <a:prstGeom prst="rect">
            <a:avLst/>
          </a:prstGeom>
          <a:solidFill>
            <a:srgbClr val="E456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dirty="0">
                <a:solidFill>
                  <a:srgbClr val="0184BC"/>
                </a:solidFill>
                <a:latin typeface="Calibri"/>
              </a:rPr>
              <a:t>Act 1: How Pattern Matching Works</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dirty="0">
                <a:solidFill>
                  <a:srgbClr val="696C77"/>
                </a:solidFill>
                <a:latin typeface="Calibri"/>
              </a:rPr>
              <a:t>400+ regex patterns mapped to RDLS </a:t>
            </a:r>
            <a:r>
              <a:rPr sz="1100" b="0" dirty="0" err="1">
                <a:solidFill>
                  <a:srgbClr val="696C77"/>
                </a:solidFill>
                <a:latin typeface="Calibri"/>
              </a:rPr>
              <a:t>codelists</a:t>
            </a:r>
            <a:r>
              <a:rPr sz="1100" b="0" dirty="0">
                <a:solidFill>
                  <a:srgbClr val="696C77"/>
                </a:solidFill>
                <a:latin typeface="Calibri"/>
              </a:rPr>
              <a:t> - every metadata field scanned and scored</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4 / 26</a:t>
            </a:r>
          </a:p>
        </p:txBody>
      </p:sp>
      <p:sp>
        <p:nvSpPr>
          <p:cNvPr id="7" name="Rectangle 6"/>
          <p:cNvSpPr/>
          <p:nvPr/>
        </p:nvSpPr>
        <p:spPr>
          <a:xfrm>
            <a:off x="411480" y="1103638"/>
            <a:ext cx="5486400" cy="4206240"/>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11480" y="1103638"/>
            <a:ext cx="38100" cy="4206240"/>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8480" y="1205238"/>
            <a:ext cx="5257800" cy="4003040"/>
          </a:xfrm>
          <a:prstGeom prst="rect">
            <a:avLst/>
          </a:prstGeom>
          <a:noFill/>
        </p:spPr>
        <p:txBody>
          <a:bodyPr wrap="none" lIns="0" tIns="0" rIns="0" bIns="0">
            <a:spAutoFit/>
          </a:bodyPr>
          <a:lstStyle/>
          <a:p>
            <a:pPr>
              <a:spcBef>
                <a:spcPts val="0"/>
              </a:spcBef>
              <a:spcAft>
                <a:spcPts val="0"/>
              </a:spcAft>
            </a:pPr>
            <a:r>
              <a:rPr sz="950" dirty="0" err="1">
                <a:solidFill>
                  <a:srgbClr val="DCDFE4"/>
                </a:solidFill>
                <a:latin typeface="Consolas"/>
              </a:rPr>
              <a:t>signal_dictionary.yaml</a:t>
            </a:r>
            <a:r>
              <a:rPr sz="950" dirty="0">
                <a:solidFill>
                  <a:srgbClr val="DCDFE4"/>
                </a:solidFill>
                <a:latin typeface="Consolas"/>
              </a:rPr>
              <a:t>  (excerpt)</a:t>
            </a:r>
          </a:p>
          <a:p>
            <a:pPr>
              <a:spcBef>
                <a:spcPts val="0"/>
              </a:spcBef>
              <a:spcAft>
                <a:spcPts val="0"/>
              </a:spcAft>
            </a:pPr>
            <a:r>
              <a:rPr sz="950" dirty="0">
                <a:solidFill>
                  <a:srgbClr val="DCDFE4"/>
                </a:solidFill>
                <a:latin typeface="Consolas"/>
              </a:rPr>
              <a:t>─────────────────────────────────────────────────────────────</a:t>
            </a:r>
          </a:p>
          <a:p>
            <a:pPr>
              <a:spcBef>
                <a:spcPts val="0"/>
              </a:spcBef>
              <a:spcAft>
                <a:spcPts val="0"/>
              </a:spcAft>
            </a:pPr>
            <a:r>
              <a:rPr sz="950" dirty="0">
                <a:solidFill>
                  <a:srgbClr val="DCDFE4"/>
                </a:solidFill>
                <a:latin typeface="Consolas"/>
              </a:rPr>
              <a:t>hazard:</a:t>
            </a:r>
          </a:p>
          <a:p>
            <a:pPr>
              <a:spcBef>
                <a:spcPts val="0"/>
              </a:spcBef>
              <a:spcAft>
                <a:spcPts val="0"/>
              </a:spcAft>
            </a:pPr>
            <a:r>
              <a:rPr sz="950" dirty="0">
                <a:solidFill>
                  <a:srgbClr val="DCDFE4"/>
                </a:solidFill>
                <a:latin typeface="Consolas"/>
              </a:rPr>
              <a:t>  - pattern: "flood.?(</a:t>
            </a:r>
            <a:r>
              <a:rPr sz="950" dirty="0" err="1">
                <a:solidFill>
                  <a:srgbClr val="DCDFE4"/>
                </a:solidFill>
                <a:latin typeface="Consolas"/>
              </a:rPr>
              <a:t>depth|inundation|extent|map</a:t>
            </a:r>
            <a:r>
              <a:rPr sz="950" dirty="0">
                <a:solidFill>
                  <a:srgbClr val="DCDFE4"/>
                </a:solidFill>
                <a:latin typeface="Consolas"/>
              </a:rPr>
              <a:t>)"</a:t>
            </a:r>
          </a:p>
          <a:p>
            <a:pPr>
              <a:spcBef>
                <a:spcPts val="0"/>
              </a:spcBef>
              <a:spcAft>
                <a:spcPts val="0"/>
              </a:spcAft>
            </a:pPr>
            <a:r>
              <a:rPr sz="950" dirty="0">
                <a:solidFill>
                  <a:srgbClr val="DCDFE4"/>
                </a:solidFill>
                <a:latin typeface="Consolas"/>
              </a:rPr>
              <a:t>    type: flood  |  process: </a:t>
            </a:r>
            <a:r>
              <a:rPr sz="950" dirty="0" err="1">
                <a:solidFill>
                  <a:srgbClr val="DCDFE4"/>
                </a:solidFill>
                <a:latin typeface="Consolas"/>
              </a:rPr>
              <a:t>fluvial_flood</a:t>
            </a:r>
            <a:r>
              <a:rPr sz="950" dirty="0">
                <a:solidFill>
                  <a:srgbClr val="DCDFE4"/>
                </a:solidFill>
                <a:latin typeface="Consolas"/>
              </a:rPr>
              <a:t>  |  confidence: high</a:t>
            </a:r>
          </a:p>
          <a:p>
            <a:pPr>
              <a:spcBef>
                <a:spcPts val="0"/>
              </a:spcBef>
              <a:spcAft>
                <a:spcPts val="0"/>
              </a:spcAft>
            </a:pPr>
            <a:r>
              <a:rPr sz="950" dirty="0">
                <a:solidFill>
                  <a:srgbClr val="DCDFE4"/>
                </a:solidFill>
                <a:latin typeface="Consolas"/>
              </a:rPr>
              <a:t>  - pattern: "</a:t>
            </a:r>
            <a:r>
              <a:rPr sz="950" dirty="0" err="1">
                <a:solidFill>
                  <a:srgbClr val="DCDFE4"/>
                </a:solidFill>
                <a:latin typeface="Consolas"/>
              </a:rPr>
              <a:t>earthquake|seismic|ground.motion</a:t>
            </a:r>
            <a:r>
              <a:rPr sz="950" dirty="0">
                <a:solidFill>
                  <a:srgbClr val="DCDFE4"/>
                </a:solidFill>
                <a:latin typeface="Consolas"/>
              </a:rPr>
              <a:t>"</a:t>
            </a:r>
          </a:p>
          <a:p>
            <a:pPr>
              <a:spcBef>
                <a:spcPts val="0"/>
              </a:spcBef>
              <a:spcAft>
                <a:spcPts val="0"/>
              </a:spcAft>
            </a:pPr>
            <a:r>
              <a:rPr sz="950" dirty="0">
                <a:solidFill>
                  <a:srgbClr val="DCDFE4"/>
                </a:solidFill>
                <a:latin typeface="Consolas"/>
              </a:rPr>
              <a:t>    type: earthquake  |  confidence: high</a:t>
            </a:r>
          </a:p>
          <a:p>
            <a:pPr>
              <a:spcBef>
                <a:spcPts val="0"/>
              </a:spcBef>
              <a:spcAft>
                <a:spcPts val="0"/>
              </a:spcAft>
            </a:pPr>
            <a:r>
              <a:rPr sz="950" dirty="0">
                <a:solidFill>
                  <a:srgbClr val="DCDFE4"/>
                </a:solidFill>
                <a:latin typeface="Consolas"/>
              </a:rPr>
              <a:t>exposure:</a:t>
            </a:r>
          </a:p>
          <a:p>
            <a:pPr>
              <a:spcBef>
                <a:spcPts val="0"/>
              </a:spcBef>
              <a:spcAft>
                <a:spcPts val="0"/>
              </a:spcAft>
            </a:pPr>
            <a:r>
              <a:rPr sz="950" dirty="0">
                <a:solidFill>
                  <a:srgbClr val="DCDFE4"/>
                </a:solidFill>
                <a:latin typeface="Consolas"/>
              </a:rPr>
              <a:t>  - pattern: "building.?(</a:t>
            </a:r>
            <a:r>
              <a:rPr sz="950" dirty="0" err="1">
                <a:solidFill>
                  <a:srgbClr val="DCDFE4"/>
                </a:solidFill>
                <a:latin typeface="Consolas"/>
              </a:rPr>
              <a:t>stock|footprint|inventory|count</a:t>
            </a:r>
            <a:r>
              <a:rPr sz="950" dirty="0">
                <a:solidFill>
                  <a:srgbClr val="DCDFE4"/>
                </a:solidFill>
                <a:latin typeface="Consolas"/>
              </a:rPr>
              <a:t>)"</a:t>
            </a:r>
          </a:p>
          <a:p>
            <a:pPr>
              <a:spcBef>
                <a:spcPts val="0"/>
              </a:spcBef>
              <a:spcAft>
                <a:spcPts val="0"/>
              </a:spcAft>
            </a:pPr>
            <a:r>
              <a:rPr sz="950" dirty="0">
                <a:solidFill>
                  <a:srgbClr val="DCDFE4"/>
                </a:solidFill>
                <a:latin typeface="Consolas"/>
              </a:rPr>
              <a:t>    category: buildings  |  confidence: high</a:t>
            </a:r>
          </a:p>
          <a:p>
            <a:pPr>
              <a:spcBef>
                <a:spcPts val="0"/>
              </a:spcBef>
              <a:spcAft>
                <a:spcPts val="0"/>
              </a:spcAft>
            </a:pPr>
            <a:r>
              <a:rPr sz="950" dirty="0">
                <a:solidFill>
                  <a:srgbClr val="DCDFE4"/>
                </a:solidFill>
                <a:latin typeface="Consolas"/>
              </a:rPr>
              <a:t>  - pattern: "population.?(</a:t>
            </a:r>
            <a:r>
              <a:rPr sz="950" dirty="0" err="1">
                <a:solidFill>
                  <a:srgbClr val="DCDFE4"/>
                </a:solidFill>
                <a:latin typeface="Consolas"/>
              </a:rPr>
              <a:t>grid|density|distribution</a:t>
            </a:r>
            <a:r>
              <a:rPr sz="950" dirty="0">
                <a:solidFill>
                  <a:srgbClr val="DCDFE4"/>
                </a:solidFill>
                <a:latin typeface="Consolas"/>
              </a:rPr>
              <a:t>)"</a:t>
            </a:r>
          </a:p>
          <a:p>
            <a:pPr>
              <a:spcBef>
                <a:spcPts val="0"/>
              </a:spcBef>
              <a:spcAft>
                <a:spcPts val="0"/>
              </a:spcAft>
            </a:pPr>
            <a:r>
              <a:rPr sz="950" dirty="0">
                <a:solidFill>
                  <a:srgbClr val="DCDFE4"/>
                </a:solidFill>
                <a:latin typeface="Consolas"/>
              </a:rPr>
              <a:t>    category: population  |  confidence: high</a:t>
            </a:r>
          </a:p>
          <a:p>
            <a:pPr>
              <a:spcBef>
                <a:spcPts val="0"/>
              </a:spcBef>
              <a:spcAft>
                <a:spcPts val="0"/>
              </a:spcAft>
            </a:pPr>
            <a:r>
              <a:rPr sz="950" dirty="0">
                <a:solidFill>
                  <a:srgbClr val="DCDFE4"/>
                </a:solidFill>
                <a:latin typeface="Consolas"/>
              </a:rPr>
              <a:t>loss:</a:t>
            </a:r>
          </a:p>
          <a:p>
            <a:pPr>
              <a:spcBef>
                <a:spcPts val="0"/>
              </a:spcBef>
              <a:spcAft>
                <a:spcPts val="0"/>
              </a:spcAft>
            </a:pPr>
            <a:r>
              <a:rPr sz="950" dirty="0">
                <a:solidFill>
                  <a:srgbClr val="DCDFE4"/>
                </a:solidFill>
                <a:latin typeface="Consolas"/>
              </a:rPr>
              <a:t>  - pattern: "</a:t>
            </a:r>
            <a:r>
              <a:rPr sz="950" dirty="0" err="1">
                <a:solidFill>
                  <a:srgbClr val="DCDFE4"/>
                </a:solidFill>
                <a:latin typeface="Consolas"/>
              </a:rPr>
              <a:t>casualt|mortalit|death.toll|killed</a:t>
            </a:r>
            <a:r>
              <a:rPr sz="950" dirty="0">
                <a:solidFill>
                  <a:srgbClr val="DCDFE4"/>
                </a:solidFill>
                <a:latin typeface="Consolas"/>
              </a:rPr>
              <a:t>"</a:t>
            </a:r>
          </a:p>
          <a:p>
            <a:pPr>
              <a:spcBef>
                <a:spcPts val="0"/>
              </a:spcBef>
              <a:spcAft>
                <a:spcPts val="0"/>
              </a:spcAft>
            </a:pPr>
            <a:r>
              <a:rPr sz="950" dirty="0">
                <a:solidFill>
                  <a:srgbClr val="DCDFE4"/>
                </a:solidFill>
                <a:latin typeface="Consolas"/>
              </a:rPr>
              <a:t>    confidence: medium</a:t>
            </a:r>
          </a:p>
          <a:p>
            <a:pPr>
              <a:spcBef>
                <a:spcPts val="0"/>
              </a:spcBef>
              <a:spcAft>
                <a:spcPts val="0"/>
              </a:spcAft>
            </a:pPr>
            <a:r>
              <a:rPr sz="950" dirty="0">
                <a:solidFill>
                  <a:srgbClr val="DCDFE4"/>
                </a:solidFill>
                <a:latin typeface="Consolas"/>
              </a:rPr>
              <a:t>  - pattern: "</a:t>
            </a:r>
            <a:r>
              <a:rPr sz="950" dirty="0" err="1">
                <a:solidFill>
                  <a:srgbClr val="DCDFE4"/>
                </a:solidFill>
                <a:latin typeface="Consolas"/>
              </a:rPr>
              <a:t>displacement|displaced.person|IDP</a:t>
            </a:r>
            <a:r>
              <a:rPr sz="950" dirty="0">
                <a:solidFill>
                  <a:srgbClr val="DCDFE4"/>
                </a:solidFill>
                <a:latin typeface="Consolas"/>
              </a:rPr>
              <a:t>"</a:t>
            </a:r>
          </a:p>
          <a:p>
            <a:pPr>
              <a:spcBef>
                <a:spcPts val="0"/>
              </a:spcBef>
              <a:spcAft>
                <a:spcPts val="0"/>
              </a:spcAft>
            </a:pPr>
            <a:r>
              <a:rPr sz="950" dirty="0">
                <a:solidFill>
                  <a:srgbClr val="DCDFE4"/>
                </a:solidFill>
                <a:latin typeface="Consolas"/>
              </a:rPr>
              <a:t>    confidence: medium</a:t>
            </a:r>
          </a:p>
        </p:txBody>
      </p:sp>
      <p:sp>
        <p:nvSpPr>
          <p:cNvPr id="10" name="TextBox 9"/>
          <p:cNvSpPr txBox="1"/>
          <p:nvPr/>
        </p:nvSpPr>
        <p:spPr>
          <a:xfrm>
            <a:off x="6126480" y="1103638"/>
            <a:ext cx="5669280" cy="215444"/>
          </a:xfrm>
          <a:prstGeom prst="rect">
            <a:avLst/>
          </a:prstGeom>
          <a:noFill/>
        </p:spPr>
        <p:txBody>
          <a:bodyPr wrap="square" lIns="0" tIns="0" rIns="0" bIns="0">
            <a:spAutoFit/>
          </a:bodyPr>
          <a:lstStyle/>
          <a:p>
            <a:r>
              <a:rPr sz="1400" b="1" dirty="0">
                <a:solidFill>
                  <a:srgbClr val="0184BC"/>
                </a:solidFill>
                <a:latin typeface="Calibri"/>
              </a:rPr>
              <a:t>Scoring - 'Global Flood Hazard Map'</a:t>
            </a:r>
          </a:p>
        </p:txBody>
      </p:sp>
      <p:sp>
        <p:nvSpPr>
          <p:cNvPr id="11" name="Rectangle 10"/>
          <p:cNvSpPr/>
          <p:nvPr/>
        </p:nvSpPr>
        <p:spPr>
          <a:xfrm>
            <a:off x="6126480" y="1496830"/>
            <a:ext cx="5623560" cy="2697480"/>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26480" y="1496830"/>
            <a:ext cx="38100" cy="2697480"/>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53480" y="1598430"/>
            <a:ext cx="5394960" cy="2494280"/>
          </a:xfrm>
          <a:prstGeom prst="rect">
            <a:avLst/>
          </a:prstGeom>
          <a:noFill/>
        </p:spPr>
        <p:txBody>
          <a:bodyPr wrap="none" lIns="0" tIns="0" rIns="0" bIns="0">
            <a:spAutoFit/>
          </a:bodyPr>
          <a:lstStyle/>
          <a:p>
            <a:pPr>
              <a:spcBef>
                <a:spcPts val="0"/>
              </a:spcBef>
              <a:spcAft>
                <a:spcPts val="0"/>
              </a:spcAft>
            </a:pPr>
            <a:r>
              <a:rPr sz="950">
                <a:solidFill>
                  <a:srgbClr val="DCDFE4"/>
                </a:solidFill>
                <a:latin typeface="Consolas"/>
              </a:rPr>
              <a:t>Title:  'flood'        +0.8  hazard/flood</a:t>
            </a:r>
          </a:p>
          <a:p>
            <a:pPr>
              <a:spcBef>
                <a:spcPts val="0"/>
              </a:spcBef>
              <a:spcAft>
                <a:spcPts val="0"/>
              </a:spcAft>
            </a:pPr>
            <a:r>
              <a:rPr sz="950">
                <a:solidFill>
                  <a:srgbClr val="DCDFE4"/>
                </a:solidFill>
                <a:latin typeface="Consolas"/>
              </a:rPr>
              <a:t>        'hazard'       +0.6  hazard</a:t>
            </a:r>
          </a:p>
          <a:p>
            <a:pPr>
              <a:spcBef>
                <a:spcPts val="0"/>
              </a:spcBef>
              <a:spcAft>
                <a:spcPts val="0"/>
              </a:spcAft>
            </a:pPr>
            <a:r>
              <a:rPr sz="950">
                <a:solidFill>
                  <a:srgbClr val="DCDFE4"/>
                </a:solidFill>
                <a:latin typeface="Consolas"/>
              </a:rPr>
              <a:t>Tags:   'floodplain'   +0.5  hazard/flood</a:t>
            </a:r>
          </a:p>
          <a:p>
            <a:pPr>
              <a:spcBef>
                <a:spcPts val="0"/>
              </a:spcBef>
              <a:spcAft>
                <a:spcPts val="0"/>
              </a:spcAft>
            </a:pPr>
            <a:r>
              <a:rPr sz="950">
                <a:solidFill>
                  <a:srgbClr val="DCDFE4"/>
                </a:solidFill>
                <a:latin typeface="Consolas"/>
              </a:rPr>
              <a:t>Desc:   'inundation'   +0.7  hazard/flood</a:t>
            </a:r>
          </a:p>
          <a:p>
            <a:pPr>
              <a:spcBef>
                <a:spcPts val="0"/>
              </a:spcBef>
              <a:spcAft>
                <a:spcPts val="0"/>
              </a:spcAft>
            </a:pPr>
            <a:r>
              <a:rPr sz="950">
                <a:solidFill>
                  <a:srgbClr val="DCDFE4"/>
                </a:solidFill>
                <a:latin typeface="Consolas"/>
              </a:rPr>
              <a:t>        'return per.'  +0.8  probabilistic</a:t>
            </a:r>
          </a:p>
          <a:p>
            <a:pPr>
              <a:spcBef>
                <a:spcPts val="0"/>
              </a:spcBef>
              <a:spcAft>
                <a:spcPts val="0"/>
              </a:spcAft>
            </a:pPr>
            <a:r>
              <a:rPr sz="950">
                <a:solidFill>
                  <a:srgbClr val="DCDFE4"/>
                </a:solidFill>
                <a:latin typeface="Consolas"/>
              </a:rPr>
              <a:t>─────────────────────────────────────────</a:t>
            </a:r>
          </a:p>
          <a:p>
            <a:pPr>
              <a:spcBef>
                <a:spcPts val="0"/>
              </a:spcBef>
              <a:spcAft>
                <a:spcPts val="0"/>
              </a:spcAft>
            </a:pPr>
            <a:r>
              <a:rPr sz="950">
                <a:solidFill>
                  <a:srgbClr val="DCDFE4"/>
                </a:solidFill>
                <a:latin typeface="Consolas"/>
              </a:rPr>
              <a:t>Hazard score: 3.7  &gt;&gt;  threshold 0.5  OK</a:t>
            </a:r>
          </a:p>
          <a:p>
            <a:pPr>
              <a:spcBef>
                <a:spcPts val="0"/>
              </a:spcBef>
              <a:spcAft>
                <a:spcPts val="0"/>
              </a:spcAft>
            </a:pPr>
            <a:r>
              <a:rPr sz="950">
                <a:solidFill>
                  <a:srgbClr val="DCDFE4"/>
                </a:solidFill>
                <a:latin typeface="Consolas"/>
              </a:rPr>
              <a:t>Exposure:     0.0  &lt;&lt;  threshold      --</a:t>
            </a:r>
          </a:p>
          <a:p>
            <a:pPr>
              <a:spcBef>
                <a:spcPts val="0"/>
              </a:spcBef>
              <a:spcAft>
                <a:spcPts val="0"/>
              </a:spcAft>
            </a:pPr>
            <a:r>
              <a:rPr sz="950">
                <a:solidFill>
                  <a:srgbClr val="DCDFE4"/>
                </a:solidFill>
                <a:latin typeface="Consolas"/>
              </a:rPr>
              <a:t>Loss:         0.0  &lt;&lt;  threshold      --</a:t>
            </a:r>
          </a:p>
          <a:p>
            <a:pPr>
              <a:spcBef>
                <a:spcPts val="0"/>
              </a:spcBef>
              <a:spcAft>
                <a:spcPts val="0"/>
              </a:spcAft>
            </a:pPr>
            <a:endParaRPr sz="950">
              <a:solidFill>
                <a:srgbClr val="DCDFE4"/>
              </a:solidFill>
              <a:latin typeface="Consolas"/>
            </a:endParaRPr>
          </a:p>
          <a:p>
            <a:pPr>
              <a:spcBef>
                <a:spcPts val="0"/>
              </a:spcBef>
              <a:spcAft>
                <a:spcPts val="0"/>
              </a:spcAft>
            </a:pPr>
            <a:r>
              <a:rPr sz="950">
                <a:solidFill>
                  <a:srgbClr val="DCDFE4"/>
                </a:solidFill>
                <a:latin typeface="Consolas"/>
              </a:rPr>
              <a:t>Output: Hazard only.  Correct.</a:t>
            </a:r>
          </a:p>
        </p:txBody>
      </p:sp>
      <p:sp>
        <p:nvSpPr>
          <p:cNvPr id="14" name="Rectangle 13"/>
          <p:cNvSpPr/>
          <p:nvPr/>
        </p:nvSpPr>
        <p:spPr>
          <a:xfrm>
            <a:off x="6126480" y="4285750"/>
            <a:ext cx="5623560" cy="658368"/>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26480" y="4285750"/>
            <a:ext cx="50800" cy="658368"/>
          </a:xfrm>
          <a:prstGeom prst="rect">
            <a:avLst/>
          </a:prstGeom>
          <a:solidFill>
            <a:srgbClr val="50A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04280" y="4441466"/>
            <a:ext cx="5369560" cy="338554"/>
          </a:xfrm>
          <a:prstGeom prst="rect">
            <a:avLst/>
          </a:prstGeom>
          <a:noFill/>
        </p:spPr>
        <p:txBody>
          <a:bodyPr wrap="square" lIns="0" tIns="0" rIns="0" bIns="0">
            <a:spAutoFit/>
          </a:bodyPr>
          <a:lstStyle/>
          <a:p>
            <a:r>
              <a:rPr sz="1100" b="0" dirty="0">
                <a:solidFill>
                  <a:srgbClr val="383A42"/>
                </a:solidFill>
                <a:latin typeface="Calibri"/>
              </a:rPr>
              <a:t>Works perfectly when metadata accurately describes data content. Processed 12,594 datasets in &lt; 60 seconds at zero API cost.</a:t>
            </a:r>
          </a:p>
        </p:txBody>
      </p:sp>
      <p:sp>
        <p:nvSpPr>
          <p:cNvPr id="17" name="Rectangle 16"/>
          <p:cNvSpPr/>
          <p:nvPr/>
        </p:nvSpPr>
        <p:spPr>
          <a:xfrm>
            <a:off x="411480" y="5428750"/>
            <a:ext cx="11338560" cy="621792"/>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11480" y="5428750"/>
            <a:ext cx="50800" cy="621792"/>
          </a:xfrm>
          <a:prstGeom prst="rect">
            <a:avLst/>
          </a:prstGeom>
          <a:solidFill>
            <a:srgbClr val="C18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89280" y="5624215"/>
            <a:ext cx="11084560" cy="215444"/>
          </a:xfrm>
          <a:prstGeom prst="rect">
            <a:avLst/>
          </a:prstGeom>
          <a:noFill/>
        </p:spPr>
        <p:txBody>
          <a:bodyPr wrap="square" lIns="0" tIns="0" rIns="0" bIns="0">
            <a:spAutoFit/>
          </a:bodyPr>
          <a:lstStyle/>
          <a:p>
            <a:r>
              <a:rPr sz="1400" b="1" dirty="0">
                <a:solidFill>
                  <a:srgbClr val="383A42"/>
                </a:solidFill>
                <a:latin typeface="Calibri"/>
              </a:rPr>
              <a:t>What about datasets where the metadata describes the disaster context rather than the actual data content?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a:solidFill>
                  <a:srgbClr val="0184BC"/>
                </a:solidFill>
                <a:latin typeface="Calibri"/>
              </a:rPr>
              <a:t>Act 1: The Content-vs-Context Ceiling</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Pattern matching cannot distinguish what a dataset IS ABOUT from what it CONTAINS</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5 / 26</a:t>
            </a:r>
          </a:p>
        </p:txBody>
      </p:sp>
      <p:sp>
        <p:nvSpPr>
          <p:cNvPr id="7" name="TextBox 6"/>
          <p:cNvSpPr txBox="1"/>
          <p:nvPr/>
        </p:nvSpPr>
        <p:spPr>
          <a:xfrm>
            <a:off x="411480" y="1024128"/>
            <a:ext cx="4319546" cy="200055"/>
          </a:xfrm>
          <a:prstGeom prst="rect">
            <a:avLst/>
          </a:prstGeom>
          <a:noFill/>
        </p:spPr>
        <p:txBody>
          <a:bodyPr wrap="square" lIns="0" tIns="0" rIns="0" bIns="0">
            <a:spAutoFit/>
          </a:bodyPr>
          <a:lstStyle/>
          <a:p>
            <a:pPr algn="l"/>
            <a:r>
              <a:rPr sz="1300" b="1" dirty="0">
                <a:solidFill>
                  <a:srgbClr val="C18401"/>
                </a:solidFill>
                <a:latin typeface="Calibri"/>
              </a:rPr>
              <a:t>The trigger mechanism - 'Kenya Drought-Related Key Figures'</a:t>
            </a:r>
          </a:p>
        </p:txBody>
      </p:sp>
      <p:sp>
        <p:nvSpPr>
          <p:cNvPr id="8" name="Rectangle 7"/>
          <p:cNvSpPr/>
          <p:nvPr/>
        </p:nvSpPr>
        <p:spPr>
          <a:xfrm>
            <a:off x="411480" y="1417320"/>
            <a:ext cx="11338560" cy="3291840"/>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11480" y="1417320"/>
            <a:ext cx="38100" cy="3291840"/>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8480" y="1518920"/>
            <a:ext cx="5078313" cy="2000548"/>
          </a:xfrm>
          <a:prstGeom prst="rect">
            <a:avLst/>
          </a:prstGeom>
          <a:noFill/>
        </p:spPr>
        <p:txBody>
          <a:bodyPr wrap="none" lIns="0" tIns="0" rIns="0" bIns="0">
            <a:spAutoFit/>
          </a:bodyPr>
          <a:lstStyle/>
          <a:p>
            <a:pPr>
              <a:spcBef>
                <a:spcPts val="0"/>
              </a:spcBef>
              <a:spcAft>
                <a:spcPts val="0"/>
              </a:spcAft>
            </a:pPr>
            <a:r>
              <a:rPr sz="1000" dirty="0">
                <a:solidFill>
                  <a:srgbClr val="DCDFE4"/>
                </a:solidFill>
                <a:latin typeface="Consolas"/>
              </a:rPr>
              <a:t>Title keywords matched:</a:t>
            </a:r>
          </a:p>
          <a:p>
            <a:pPr>
              <a:spcBef>
                <a:spcPts val="0"/>
              </a:spcBef>
              <a:spcAft>
                <a:spcPts val="0"/>
              </a:spcAft>
            </a:pPr>
            <a:r>
              <a:rPr sz="1000" dirty="0">
                <a:solidFill>
                  <a:srgbClr val="DCDFE4"/>
                </a:solidFill>
                <a:latin typeface="Consolas"/>
              </a:rPr>
              <a:t>  "drought"     --&gt;  Hazard  (drought, intensity: SPI:-)   [FABRICATED]</a:t>
            </a:r>
          </a:p>
          <a:p>
            <a:pPr>
              <a:spcBef>
                <a:spcPts val="0"/>
              </a:spcBef>
              <a:spcAft>
                <a:spcPts val="0"/>
              </a:spcAft>
            </a:pPr>
            <a:r>
              <a:rPr sz="1000" dirty="0">
                <a:solidFill>
                  <a:srgbClr val="DCDFE4"/>
                </a:solidFill>
                <a:latin typeface="Consolas"/>
              </a:rPr>
              <a:t>  "Kenya"       --&gt;  country = KEN</a:t>
            </a:r>
          </a:p>
          <a:p>
            <a:pPr>
              <a:spcBef>
                <a:spcPts val="0"/>
              </a:spcBef>
              <a:spcAft>
                <a:spcPts val="0"/>
              </a:spcAft>
            </a:pPr>
            <a:endParaRPr sz="1000" dirty="0">
              <a:solidFill>
                <a:srgbClr val="DCDFE4"/>
              </a:solidFill>
              <a:latin typeface="Consolas"/>
            </a:endParaRPr>
          </a:p>
          <a:p>
            <a:pPr>
              <a:spcBef>
                <a:spcPts val="0"/>
              </a:spcBef>
              <a:spcAft>
                <a:spcPts val="0"/>
              </a:spcAft>
            </a:pPr>
            <a:r>
              <a:rPr sz="1000" dirty="0">
                <a:solidFill>
                  <a:srgbClr val="DCDFE4"/>
                </a:solidFill>
                <a:latin typeface="Consolas"/>
              </a:rPr>
              <a:t>Description keywords matched:</a:t>
            </a:r>
          </a:p>
          <a:p>
            <a:pPr>
              <a:spcBef>
                <a:spcPts val="0"/>
              </a:spcBef>
              <a:spcAft>
                <a:spcPts val="0"/>
              </a:spcAft>
            </a:pPr>
            <a:r>
              <a:rPr sz="1000" dirty="0">
                <a:solidFill>
                  <a:srgbClr val="DCDFE4"/>
                </a:solidFill>
                <a:latin typeface="Consolas"/>
              </a:rPr>
              <a:t>  "population"  --&gt;  Exposure (population, count) </a:t>
            </a:r>
            <a:r>
              <a:rPr lang="en-ID" sz="1000" dirty="0">
                <a:solidFill>
                  <a:srgbClr val="DCDFE4"/>
                </a:solidFill>
                <a:latin typeface="Consolas"/>
              </a:rPr>
              <a:t>          </a:t>
            </a:r>
            <a:r>
              <a:rPr sz="1000" dirty="0">
                <a:solidFill>
                  <a:srgbClr val="DCDFE4"/>
                </a:solidFill>
                <a:latin typeface="Consolas"/>
              </a:rPr>
              <a:t>[FABRICATED]</a:t>
            </a:r>
          </a:p>
          <a:p>
            <a:pPr>
              <a:spcBef>
                <a:spcPts val="0"/>
              </a:spcBef>
              <a:spcAft>
                <a:spcPts val="0"/>
              </a:spcAft>
            </a:pPr>
            <a:r>
              <a:rPr sz="1000" dirty="0">
                <a:solidFill>
                  <a:srgbClr val="DCDFE4"/>
                </a:solidFill>
                <a:latin typeface="Consolas"/>
              </a:rPr>
              <a:t>  "affected"    --&gt;  Vulnerability                          [FABRICATED]</a:t>
            </a:r>
          </a:p>
          <a:p>
            <a:pPr>
              <a:spcBef>
                <a:spcPts val="0"/>
              </a:spcBef>
              <a:spcAft>
                <a:spcPts val="0"/>
              </a:spcAft>
            </a:pPr>
            <a:r>
              <a:rPr sz="1000" dirty="0">
                <a:solidFill>
                  <a:srgbClr val="DCDFE4"/>
                </a:solidFill>
                <a:latin typeface="Consolas"/>
              </a:rPr>
              <a:t>  "mortality"   --&gt;  Loss                                   [CORRECT]</a:t>
            </a:r>
          </a:p>
          <a:p>
            <a:pPr>
              <a:spcBef>
                <a:spcPts val="0"/>
              </a:spcBef>
              <a:spcAft>
                <a:spcPts val="0"/>
              </a:spcAft>
            </a:pPr>
            <a:endParaRPr sz="1000" dirty="0">
              <a:solidFill>
                <a:srgbClr val="DCDFE4"/>
              </a:solidFill>
              <a:latin typeface="Consolas"/>
            </a:endParaRPr>
          </a:p>
          <a:p>
            <a:pPr>
              <a:spcBef>
                <a:spcPts val="0"/>
              </a:spcBef>
              <a:spcAft>
                <a:spcPts val="0"/>
              </a:spcAft>
            </a:pPr>
            <a:r>
              <a:rPr sz="1000" dirty="0">
                <a:solidFill>
                  <a:srgbClr val="DCDFE4"/>
                </a:solidFill>
                <a:latin typeface="Consolas"/>
              </a:rPr>
              <a:t>Pipeline output:  H + E + V + L   (all four components)</a:t>
            </a:r>
          </a:p>
          <a:p>
            <a:pPr>
              <a:spcBef>
                <a:spcPts val="0"/>
              </a:spcBef>
              <a:spcAft>
                <a:spcPts val="0"/>
              </a:spcAft>
            </a:pPr>
            <a:endParaRPr sz="1000" dirty="0">
              <a:solidFill>
                <a:srgbClr val="DCDFE4"/>
              </a:solidFill>
              <a:latin typeface="Consolas"/>
            </a:endParaRPr>
          </a:p>
          <a:p>
            <a:pPr>
              <a:spcBef>
                <a:spcPts val="0"/>
              </a:spcBef>
              <a:spcAft>
                <a:spcPts val="0"/>
              </a:spcAft>
            </a:pPr>
            <a:r>
              <a:rPr sz="1000" dirty="0">
                <a:solidFill>
                  <a:srgbClr val="DCDFE4"/>
                </a:solidFill>
                <a:latin typeface="Consolas"/>
              </a:rPr>
              <a:t>Reality: files contain ONLY displacement counts and mortality figures.</a:t>
            </a:r>
          </a:p>
          <a:p>
            <a:pPr>
              <a:spcBef>
                <a:spcPts val="0"/>
              </a:spcBef>
              <a:spcAft>
                <a:spcPts val="0"/>
              </a:spcAft>
            </a:pPr>
            <a:r>
              <a:rPr sz="1000" dirty="0">
                <a:solidFill>
                  <a:srgbClr val="DCDFE4"/>
                </a:solidFill>
                <a:latin typeface="Consolas"/>
              </a:rPr>
              <a:t>         Three components entirely invented by pattern matching.</a:t>
            </a:r>
          </a:p>
        </p:txBody>
      </p:sp>
      <p:sp>
        <p:nvSpPr>
          <p:cNvPr id="11" name="TextBox 10"/>
          <p:cNvSpPr txBox="1"/>
          <p:nvPr/>
        </p:nvSpPr>
        <p:spPr>
          <a:xfrm>
            <a:off x="411480" y="4828032"/>
            <a:ext cx="5486400" cy="215444"/>
          </a:xfrm>
          <a:prstGeom prst="rect">
            <a:avLst/>
          </a:prstGeom>
          <a:noFill/>
        </p:spPr>
        <p:txBody>
          <a:bodyPr wrap="square" lIns="0" tIns="0" rIns="0" bIns="0">
            <a:spAutoFit/>
          </a:bodyPr>
          <a:lstStyle/>
          <a:p>
            <a:pPr algn="l"/>
            <a:r>
              <a:rPr sz="1400" b="1">
                <a:solidFill>
                  <a:srgbClr val="0184BC"/>
                </a:solidFill>
                <a:latin typeface="Calibri"/>
              </a:rPr>
              <a:t>Scale of the problem</a:t>
            </a:r>
          </a:p>
        </p:txBody>
      </p:sp>
      <p:graphicFrame>
        <p:nvGraphicFramePr>
          <p:cNvPr id="12" name="Table 11"/>
          <p:cNvGraphicFramePr>
            <a:graphicFrameLocks noGrp="1"/>
          </p:cNvGraphicFramePr>
          <p:nvPr>
            <p:extLst>
              <p:ext uri="{D42A27DB-BD31-4B8C-83A1-F6EECF244321}">
                <p14:modId xmlns:p14="http://schemas.microsoft.com/office/powerpoint/2010/main" val="790267739"/>
              </p:ext>
            </p:extLst>
          </p:nvPr>
        </p:nvGraphicFramePr>
        <p:xfrm>
          <a:off x="411480" y="5074527"/>
          <a:ext cx="5303520" cy="1615440"/>
        </p:xfrm>
        <a:graphic>
          <a:graphicData uri="http://schemas.openxmlformats.org/drawingml/2006/table">
            <a:tbl>
              <a:tblPr firstRow="1" bandRow="1">
                <a:tableStyleId>{5C22544A-7EE6-4342-B048-85BDC9FD1C3A}</a:tableStyleId>
              </a:tblPr>
              <a:tblGrid>
                <a:gridCol w="1767840">
                  <a:extLst>
                    <a:ext uri="{9D8B030D-6E8A-4147-A177-3AD203B41FA5}">
                      <a16:colId xmlns:a16="http://schemas.microsoft.com/office/drawing/2014/main" val="20000"/>
                    </a:ext>
                  </a:extLst>
                </a:gridCol>
                <a:gridCol w="1767840">
                  <a:extLst>
                    <a:ext uri="{9D8B030D-6E8A-4147-A177-3AD203B41FA5}">
                      <a16:colId xmlns:a16="http://schemas.microsoft.com/office/drawing/2014/main" val="20001"/>
                    </a:ext>
                  </a:extLst>
                </a:gridCol>
                <a:gridCol w="1767840">
                  <a:extLst>
                    <a:ext uri="{9D8B030D-6E8A-4147-A177-3AD203B41FA5}">
                      <a16:colId xmlns:a16="http://schemas.microsoft.com/office/drawing/2014/main" val="20002"/>
                    </a:ext>
                  </a:extLst>
                </a:gridCol>
              </a:tblGrid>
              <a:tr h="274320">
                <a:tc>
                  <a:txBody>
                    <a:bodyPr/>
                    <a:lstStyle/>
                    <a:p>
                      <a:pPr algn="ctr"/>
                      <a:r>
                        <a:rPr sz="1000" b="1">
                          <a:solidFill>
                            <a:srgbClr val="FFFFFF"/>
                          </a:solidFill>
                          <a:latin typeface="Calibri"/>
                        </a:rPr>
                        <a:t>Issue</a:t>
                      </a:r>
                    </a:p>
                  </a:txBody>
                  <a:tcPr>
                    <a:solidFill>
                      <a:srgbClr val="383A42"/>
                    </a:solidFill>
                  </a:tcPr>
                </a:tc>
                <a:tc>
                  <a:txBody>
                    <a:bodyPr/>
                    <a:lstStyle/>
                    <a:p>
                      <a:pPr algn="ctr"/>
                      <a:r>
                        <a:rPr sz="1000" b="1">
                          <a:solidFill>
                            <a:srgbClr val="FFFFFF"/>
                          </a:solidFill>
                          <a:latin typeface="Calibri"/>
                        </a:rPr>
                        <a:t>Count</a:t>
                      </a:r>
                    </a:p>
                  </a:txBody>
                  <a:tcPr>
                    <a:solidFill>
                      <a:srgbClr val="383A42"/>
                    </a:solidFill>
                  </a:tcPr>
                </a:tc>
                <a:tc>
                  <a:txBody>
                    <a:bodyPr/>
                    <a:lstStyle/>
                    <a:p>
                      <a:pPr algn="ctr"/>
                      <a:r>
                        <a:rPr sz="1000" b="1">
                          <a:solidFill>
                            <a:srgbClr val="FFFFFF"/>
                          </a:solidFill>
                          <a:latin typeface="Calibri"/>
                        </a:rPr>
                        <a:t>% of total</a:t>
                      </a:r>
                    </a:p>
                  </a:txBody>
                  <a:tcPr>
                    <a:solidFill>
                      <a:srgbClr val="383A42"/>
                    </a:solidFill>
                  </a:tcPr>
                </a:tc>
                <a:extLst>
                  <a:ext uri="{0D108BD9-81ED-4DB2-BD59-A6C34878D82A}">
                    <a16:rowId xmlns:a16="http://schemas.microsoft.com/office/drawing/2014/main" val="10000"/>
                  </a:ext>
                </a:extLst>
              </a:tr>
              <a:tr h="274320">
                <a:tc>
                  <a:txBody>
                    <a:bodyPr/>
                    <a:lstStyle/>
                    <a:p>
                      <a:pPr algn="l"/>
                      <a:r>
                        <a:rPr sz="1000" b="0">
                          <a:solidFill>
                            <a:srgbClr val="383A42"/>
                          </a:solidFill>
                          <a:latin typeface="Calibri"/>
                        </a:rPr>
                        <a:t>Records with phantom components</a:t>
                      </a:r>
                    </a:p>
                  </a:txBody>
                  <a:tcPr>
                    <a:solidFill>
                      <a:srgbClr val="FFFFFF"/>
                    </a:solidFill>
                  </a:tcPr>
                </a:tc>
                <a:tc>
                  <a:txBody>
                    <a:bodyPr/>
                    <a:lstStyle/>
                    <a:p>
                      <a:pPr algn="l"/>
                      <a:r>
                        <a:rPr sz="1000" b="0">
                          <a:solidFill>
                            <a:srgbClr val="383A42"/>
                          </a:solidFill>
                          <a:latin typeface="Calibri"/>
                        </a:rPr>
                        <a:t>2,313</a:t>
                      </a:r>
                    </a:p>
                  </a:txBody>
                  <a:tcPr>
                    <a:solidFill>
                      <a:srgbClr val="FFFFFF"/>
                    </a:solidFill>
                  </a:tcPr>
                </a:tc>
                <a:tc>
                  <a:txBody>
                    <a:bodyPr/>
                    <a:lstStyle/>
                    <a:p>
                      <a:pPr algn="l"/>
                      <a:r>
                        <a:rPr sz="1000" b="0">
                          <a:solidFill>
                            <a:srgbClr val="383A42"/>
                          </a:solidFill>
                          <a:latin typeface="Calibri"/>
                        </a:rPr>
                        <a:t>18.4%</a:t>
                      </a:r>
                    </a:p>
                  </a:txBody>
                  <a:tcPr>
                    <a:solidFill>
                      <a:srgbClr val="FFFFFF"/>
                    </a:solidFill>
                  </a:tcPr>
                </a:tc>
                <a:extLst>
                  <a:ext uri="{0D108BD9-81ED-4DB2-BD59-A6C34878D82A}">
                    <a16:rowId xmlns:a16="http://schemas.microsoft.com/office/drawing/2014/main" val="10001"/>
                  </a:ext>
                </a:extLst>
              </a:tr>
              <a:tr h="274320">
                <a:tc>
                  <a:txBody>
                    <a:bodyPr/>
                    <a:lstStyle/>
                    <a:p>
                      <a:pPr algn="l"/>
                      <a:r>
                        <a:rPr sz="1000" b="0">
                          <a:solidFill>
                            <a:srgbClr val="383A42"/>
                          </a:solidFill>
                          <a:latin typeface="Calibri"/>
                        </a:rPr>
                        <a:t>Fabricated hazard blocks</a:t>
                      </a:r>
                    </a:p>
                  </a:txBody>
                  <a:tcPr>
                    <a:solidFill>
                      <a:srgbClr val="F0F0F2"/>
                    </a:solidFill>
                  </a:tcPr>
                </a:tc>
                <a:tc>
                  <a:txBody>
                    <a:bodyPr/>
                    <a:lstStyle/>
                    <a:p>
                      <a:pPr algn="l"/>
                      <a:r>
                        <a:rPr sz="1000" b="0">
                          <a:solidFill>
                            <a:srgbClr val="383A42"/>
                          </a:solidFill>
                          <a:latin typeface="Calibri"/>
                        </a:rPr>
                        <a:t>~2,100</a:t>
                      </a:r>
                    </a:p>
                  </a:txBody>
                  <a:tcPr>
                    <a:solidFill>
                      <a:srgbClr val="F0F0F2"/>
                    </a:solidFill>
                  </a:tcPr>
                </a:tc>
                <a:tc>
                  <a:txBody>
                    <a:bodyPr/>
                    <a:lstStyle/>
                    <a:p>
                      <a:pPr algn="l"/>
                      <a:r>
                        <a:rPr sz="1000" b="0">
                          <a:solidFill>
                            <a:srgbClr val="383A42"/>
                          </a:solidFill>
                          <a:latin typeface="Calibri"/>
                        </a:rPr>
                        <a:t>16.7%</a:t>
                      </a:r>
                    </a:p>
                  </a:txBody>
                  <a:tcPr>
                    <a:solidFill>
                      <a:srgbClr val="F0F0F2"/>
                    </a:solidFill>
                  </a:tcPr>
                </a:tc>
                <a:extLst>
                  <a:ext uri="{0D108BD9-81ED-4DB2-BD59-A6C34878D82A}">
                    <a16:rowId xmlns:a16="http://schemas.microsoft.com/office/drawing/2014/main" val="10002"/>
                  </a:ext>
                </a:extLst>
              </a:tr>
              <a:tr h="274320">
                <a:tc>
                  <a:txBody>
                    <a:bodyPr/>
                    <a:lstStyle/>
                    <a:p>
                      <a:pPr algn="l"/>
                      <a:r>
                        <a:rPr sz="1000" b="0">
                          <a:solidFill>
                            <a:srgbClr val="383A42"/>
                          </a:solidFill>
                          <a:latin typeface="Calibri"/>
                        </a:rPr>
                        <a:t>Fabricated exposure blocks</a:t>
                      </a:r>
                    </a:p>
                  </a:txBody>
                  <a:tcPr>
                    <a:solidFill>
                      <a:srgbClr val="FFFFFF"/>
                    </a:solidFill>
                  </a:tcPr>
                </a:tc>
                <a:tc>
                  <a:txBody>
                    <a:bodyPr/>
                    <a:lstStyle/>
                    <a:p>
                      <a:pPr algn="l"/>
                      <a:r>
                        <a:rPr sz="1000" b="0">
                          <a:solidFill>
                            <a:srgbClr val="383A42"/>
                          </a:solidFill>
                          <a:latin typeface="Calibri"/>
                        </a:rPr>
                        <a:t>~1,800</a:t>
                      </a:r>
                    </a:p>
                  </a:txBody>
                  <a:tcPr>
                    <a:solidFill>
                      <a:srgbClr val="FFFFFF"/>
                    </a:solidFill>
                  </a:tcPr>
                </a:tc>
                <a:tc>
                  <a:txBody>
                    <a:bodyPr/>
                    <a:lstStyle/>
                    <a:p>
                      <a:pPr algn="l"/>
                      <a:r>
                        <a:rPr sz="1000" b="0">
                          <a:solidFill>
                            <a:srgbClr val="383A42"/>
                          </a:solidFill>
                          <a:latin typeface="Calibri"/>
                        </a:rPr>
                        <a:t>14.3%</a:t>
                      </a:r>
                    </a:p>
                  </a:txBody>
                  <a:tcPr>
                    <a:solidFill>
                      <a:srgbClr val="FFFFFF"/>
                    </a:solidFill>
                  </a:tcPr>
                </a:tc>
                <a:extLst>
                  <a:ext uri="{0D108BD9-81ED-4DB2-BD59-A6C34878D82A}">
                    <a16:rowId xmlns:a16="http://schemas.microsoft.com/office/drawing/2014/main" val="10003"/>
                  </a:ext>
                </a:extLst>
              </a:tr>
              <a:tr h="274320">
                <a:tc>
                  <a:txBody>
                    <a:bodyPr/>
                    <a:lstStyle/>
                    <a:p>
                      <a:pPr algn="l"/>
                      <a:r>
                        <a:rPr sz="1000" b="0">
                          <a:solidFill>
                            <a:srgbClr val="383A42"/>
                          </a:solidFill>
                          <a:latin typeface="Calibri"/>
                        </a:rPr>
                        <a:t>Records mis-labelled as all 4 components</a:t>
                      </a:r>
                    </a:p>
                  </a:txBody>
                  <a:tcPr>
                    <a:solidFill>
                      <a:srgbClr val="F0F0F2"/>
                    </a:solidFill>
                  </a:tcPr>
                </a:tc>
                <a:tc>
                  <a:txBody>
                    <a:bodyPr/>
                    <a:lstStyle/>
                    <a:p>
                      <a:pPr algn="l"/>
                      <a:r>
                        <a:rPr sz="1000" b="0">
                          <a:solidFill>
                            <a:srgbClr val="383A42"/>
                          </a:solidFill>
                          <a:latin typeface="Calibri"/>
                        </a:rPr>
                        <a:t>~400</a:t>
                      </a:r>
                    </a:p>
                  </a:txBody>
                  <a:tcPr>
                    <a:solidFill>
                      <a:srgbClr val="F0F0F2"/>
                    </a:solidFill>
                  </a:tcPr>
                </a:tc>
                <a:tc>
                  <a:txBody>
                    <a:bodyPr/>
                    <a:lstStyle/>
                    <a:p>
                      <a:pPr algn="l"/>
                      <a:r>
                        <a:rPr sz="1000" b="0" dirty="0">
                          <a:solidFill>
                            <a:srgbClr val="383A42"/>
                          </a:solidFill>
                          <a:latin typeface="Calibri"/>
                        </a:rPr>
                        <a:t>3.2%</a:t>
                      </a:r>
                    </a:p>
                  </a:txBody>
                  <a:tcPr>
                    <a:solidFill>
                      <a:srgbClr val="F0F0F2"/>
                    </a:solidFill>
                  </a:tcPr>
                </a:tc>
                <a:extLst>
                  <a:ext uri="{0D108BD9-81ED-4DB2-BD59-A6C34878D82A}">
                    <a16:rowId xmlns:a16="http://schemas.microsoft.com/office/drawing/2014/main" val="10004"/>
                  </a:ext>
                </a:extLst>
              </a:tr>
            </a:tbl>
          </a:graphicData>
        </a:graphic>
      </p:graphicFrame>
      <p:sp>
        <p:nvSpPr>
          <p:cNvPr id="13" name="Rectangle 12"/>
          <p:cNvSpPr/>
          <p:nvPr/>
        </p:nvSpPr>
        <p:spPr>
          <a:xfrm>
            <a:off x="5943600" y="4828032"/>
            <a:ext cx="5760720" cy="132588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943600" y="4828032"/>
            <a:ext cx="50800" cy="1325880"/>
          </a:xfrm>
          <a:prstGeom prst="rect">
            <a:avLst/>
          </a:prstGeom>
          <a:solidFill>
            <a:srgbClr val="E456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121400" y="4920134"/>
            <a:ext cx="5400040" cy="369332"/>
          </a:xfrm>
          <a:prstGeom prst="rect">
            <a:avLst/>
          </a:prstGeom>
          <a:noFill/>
        </p:spPr>
        <p:txBody>
          <a:bodyPr wrap="square" lIns="0" tIns="0" rIns="0" bIns="0">
            <a:spAutoFit/>
          </a:bodyPr>
          <a:lstStyle/>
          <a:p>
            <a:r>
              <a:rPr sz="1200" b="0" dirty="0">
                <a:solidFill>
                  <a:srgbClr val="383A42"/>
                </a:solidFill>
                <a:latin typeface="Calibri"/>
              </a:rPr>
              <a:t>These 2,313 records contained fabricated hazard blocks with template descriptions and invented measurement parameters that did not exist in the underlying files.</a:t>
            </a:r>
          </a:p>
        </p:txBody>
      </p:sp>
      <p:sp>
        <p:nvSpPr>
          <p:cNvPr id="16" name="TextBox 15">
            <a:extLst>
              <a:ext uri="{FF2B5EF4-FFF2-40B4-BE49-F238E27FC236}">
                <a16:creationId xmlns:a16="http://schemas.microsoft.com/office/drawing/2014/main" id="{5742809A-8091-A22A-8CDC-0250A499B00B}"/>
              </a:ext>
            </a:extLst>
          </p:cNvPr>
          <p:cNvSpPr txBox="1"/>
          <p:nvPr/>
        </p:nvSpPr>
        <p:spPr>
          <a:xfrm>
            <a:off x="4832143" y="1022702"/>
            <a:ext cx="6872177" cy="400110"/>
          </a:xfrm>
          <a:prstGeom prst="rect">
            <a:avLst/>
          </a:prstGeom>
          <a:noFill/>
        </p:spPr>
        <p:txBody>
          <a:bodyPr wrap="square" lIns="0" tIns="0" rIns="0" bIns="0">
            <a:spAutoFit/>
          </a:bodyPr>
          <a:lstStyle/>
          <a:p>
            <a:r>
              <a:rPr lang="en-ID" sz="1300" dirty="0">
                <a:hlinkClick r:id="rId2"/>
              </a:rPr>
              <a:t>https://data.humdata.org/dataset/c7e5d29e-f5e8-4d8b-a437-f784fcfd6103</a:t>
            </a:r>
            <a:r>
              <a:rPr lang="en-ID" sz="1300" dirty="0"/>
              <a:t> </a:t>
            </a:r>
          </a:p>
          <a:p>
            <a:endParaRPr sz="1300" b="0" dirty="0">
              <a:solidFill>
                <a:srgbClr val="696C77"/>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a:solidFill>
                  <a:srgbClr val="0184BC"/>
                </a:solidFill>
                <a:latin typeface="Calibri"/>
              </a:rPr>
              <a:t>Act 1: The Diagnostic Case - Kenya Drought</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Dataset: 'Kenya Drought-Related Key Figures' (HDX)</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6 / 26</a:t>
            </a:r>
          </a:p>
        </p:txBody>
      </p:sp>
      <p:graphicFrame>
        <p:nvGraphicFramePr>
          <p:cNvPr id="7" name="Table 6"/>
          <p:cNvGraphicFramePr>
            <a:graphicFrameLocks noGrp="1"/>
          </p:cNvGraphicFramePr>
          <p:nvPr>
            <p:extLst>
              <p:ext uri="{D42A27DB-BD31-4B8C-83A1-F6EECF244321}">
                <p14:modId xmlns:p14="http://schemas.microsoft.com/office/powerpoint/2010/main" val="2378738993"/>
              </p:ext>
            </p:extLst>
          </p:nvPr>
        </p:nvGraphicFramePr>
        <p:xfrm>
          <a:off x="411480" y="1103638"/>
          <a:ext cx="11338560" cy="2514600"/>
        </p:xfrm>
        <a:graphic>
          <a:graphicData uri="http://schemas.openxmlformats.org/drawingml/2006/table">
            <a:tbl>
              <a:tblPr firstRow="1" bandRow="1">
                <a:tableStyleId>{5C22544A-7EE6-4342-B048-85BDC9FD1C3A}</a:tableStyleId>
              </a:tblPr>
              <a:tblGrid>
                <a:gridCol w="3779520">
                  <a:extLst>
                    <a:ext uri="{9D8B030D-6E8A-4147-A177-3AD203B41FA5}">
                      <a16:colId xmlns:a16="http://schemas.microsoft.com/office/drawing/2014/main" val="20000"/>
                    </a:ext>
                  </a:extLst>
                </a:gridCol>
                <a:gridCol w="3779520">
                  <a:extLst>
                    <a:ext uri="{9D8B030D-6E8A-4147-A177-3AD203B41FA5}">
                      <a16:colId xmlns:a16="http://schemas.microsoft.com/office/drawing/2014/main" val="20001"/>
                    </a:ext>
                  </a:extLst>
                </a:gridCol>
                <a:gridCol w="3779520">
                  <a:extLst>
                    <a:ext uri="{9D8B030D-6E8A-4147-A177-3AD203B41FA5}">
                      <a16:colId xmlns:a16="http://schemas.microsoft.com/office/drawing/2014/main" val="20002"/>
                    </a:ext>
                  </a:extLst>
                </a:gridCol>
              </a:tblGrid>
              <a:tr h="419100">
                <a:tc>
                  <a:txBody>
                    <a:bodyPr/>
                    <a:lstStyle/>
                    <a:p>
                      <a:pPr algn="ctr"/>
                      <a:r>
                        <a:rPr sz="1400" b="1" dirty="0">
                          <a:solidFill>
                            <a:srgbClr val="FFFFFF"/>
                          </a:solidFill>
                          <a:latin typeface="Calibri"/>
                        </a:rPr>
                        <a:t>Attribute</a:t>
                      </a:r>
                    </a:p>
                  </a:txBody>
                  <a:tcPr>
                    <a:solidFill>
                      <a:srgbClr val="383A42"/>
                    </a:solidFill>
                  </a:tcPr>
                </a:tc>
                <a:tc>
                  <a:txBody>
                    <a:bodyPr/>
                    <a:lstStyle/>
                    <a:p>
                      <a:pPr algn="ctr"/>
                      <a:r>
                        <a:rPr sz="1400" b="1" dirty="0">
                          <a:solidFill>
                            <a:srgbClr val="FFFFFF"/>
                          </a:solidFill>
                          <a:latin typeface="Calibri"/>
                        </a:rPr>
                        <a:t>Regex output (wrong)</a:t>
                      </a:r>
                    </a:p>
                  </a:txBody>
                  <a:tcPr>
                    <a:solidFill>
                      <a:srgbClr val="383A42"/>
                    </a:solidFill>
                  </a:tcPr>
                </a:tc>
                <a:tc>
                  <a:txBody>
                    <a:bodyPr/>
                    <a:lstStyle/>
                    <a:p>
                      <a:pPr algn="ctr"/>
                      <a:r>
                        <a:rPr sz="1400" b="1" dirty="0">
                          <a:solidFill>
                            <a:srgbClr val="FFFFFF"/>
                          </a:solidFill>
                          <a:latin typeface="Calibri"/>
                        </a:rPr>
                        <a:t>Reality (correct)</a:t>
                      </a:r>
                    </a:p>
                  </a:txBody>
                  <a:tcPr>
                    <a:solidFill>
                      <a:srgbClr val="383A42"/>
                    </a:solidFill>
                  </a:tcPr>
                </a:tc>
                <a:extLst>
                  <a:ext uri="{0D108BD9-81ED-4DB2-BD59-A6C34878D82A}">
                    <a16:rowId xmlns:a16="http://schemas.microsoft.com/office/drawing/2014/main" val="10000"/>
                  </a:ext>
                </a:extLst>
              </a:tr>
              <a:tr h="419100">
                <a:tc>
                  <a:txBody>
                    <a:bodyPr/>
                    <a:lstStyle/>
                    <a:p>
                      <a:pPr algn="l"/>
                      <a:r>
                        <a:rPr sz="1050" b="0">
                          <a:solidFill>
                            <a:srgbClr val="383A42"/>
                          </a:solidFill>
                          <a:latin typeface="Calibri"/>
                        </a:rPr>
                        <a:t>Classification</a:t>
                      </a:r>
                    </a:p>
                  </a:txBody>
                  <a:tcPr>
                    <a:solidFill>
                      <a:srgbClr val="FFFFFF"/>
                    </a:solidFill>
                  </a:tcPr>
                </a:tc>
                <a:tc>
                  <a:txBody>
                    <a:bodyPr/>
                    <a:lstStyle/>
                    <a:p>
                      <a:pPr algn="l"/>
                      <a:r>
                        <a:rPr sz="1050" b="0">
                          <a:solidFill>
                            <a:srgbClr val="383A42"/>
                          </a:solidFill>
                          <a:latin typeface="Calibri"/>
                        </a:rPr>
                        <a:t>Hazard + Exposure + Vulnerability + Loss</a:t>
                      </a:r>
                    </a:p>
                  </a:txBody>
                  <a:tcPr>
                    <a:solidFill>
                      <a:srgbClr val="FFFFFF"/>
                    </a:solidFill>
                  </a:tcPr>
                </a:tc>
                <a:tc>
                  <a:txBody>
                    <a:bodyPr/>
                    <a:lstStyle/>
                    <a:p>
                      <a:pPr algn="l"/>
                      <a:r>
                        <a:rPr sz="1050" b="0">
                          <a:solidFill>
                            <a:srgbClr val="383A42"/>
                          </a:solidFill>
                          <a:latin typeface="Calibri"/>
                        </a:rPr>
                        <a:t>Loss only</a:t>
                      </a:r>
                    </a:p>
                  </a:txBody>
                  <a:tcPr>
                    <a:solidFill>
                      <a:srgbClr val="FFFFFF"/>
                    </a:solidFill>
                  </a:tcPr>
                </a:tc>
                <a:extLst>
                  <a:ext uri="{0D108BD9-81ED-4DB2-BD59-A6C34878D82A}">
                    <a16:rowId xmlns:a16="http://schemas.microsoft.com/office/drawing/2014/main" val="10001"/>
                  </a:ext>
                </a:extLst>
              </a:tr>
              <a:tr h="419100">
                <a:tc>
                  <a:txBody>
                    <a:bodyPr/>
                    <a:lstStyle/>
                    <a:p>
                      <a:pPr algn="l"/>
                      <a:r>
                        <a:rPr sz="1050" b="0">
                          <a:solidFill>
                            <a:srgbClr val="383A42"/>
                          </a:solidFill>
                          <a:latin typeface="Calibri"/>
                        </a:rPr>
                        <a:t>Hazard block</a:t>
                      </a:r>
                    </a:p>
                  </a:txBody>
                  <a:tcPr>
                    <a:solidFill>
                      <a:srgbClr val="F0F0F2"/>
                    </a:solidFill>
                  </a:tcPr>
                </a:tc>
                <a:tc>
                  <a:txBody>
                    <a:bodyPr/>
                    <a:lstStyle/>
                    <a:p>
                      <a:pPr algn="l"/>
                      <a:r>
                        <a:rPr sz="1050" b="0">
                          <a:solidFill>
                            <a:srgbClr val="383A42"/>
                          </a:solidFill>
                          <a:latin typeface="Calibri"/>
                        </a:rPr>
                        <a:t>"drought hazard data for Kenya", intensity: SPI:-</a:t>
                      </a:r>
                    </a:p>
                  </a:txBody>
                  <a:tcPr>
                    <a:solidFill>
                      <a:srgbClr val="F0F0F2"/>
                    </a:solidFill>
                  </a:tcPr>
                </a:tc>
                <a:tc>
                  <a:txBody>
                    <a:bodyPr/>
                    <a:lstStyle/>
                    <a:p>
                      <a:pPr algn="l"/>
                      <a:r>
                        <a:rPr sz="1050" b="0">
                          <a:solidFill>
                            <a:srgbClr val="383A42"/>
                          </a:solidFill>
                          <a:latin typeface="Calibri"/>
                        </a:rPr>
                        <a:t>No drought index in any file</a:t>
                      </a:r>
                    </a:p>
                  </a:txBody>
                  <a:tcPr>
                    <a:solidFill>
                      <a:srgbClr val="F0F0F2"/>
                    </a:solidFill>
                  </a:tcPr>
                </a:tc>
                <a:extLst>
                  <a:ext uri="{0D108BD9-81ED-4DB2-BD59-A6C34878D82A}">
                    <a16:rowId xmlns:a16="http://schemas.microsoft.com/office/drawing/2014/main" val="10002"/>
                  </a:ext>
                </a:extLst>
              </a:tr>
              <a:tr h="419100">
                <a:tc>
                  <a:txBody>
                    <a:bodyPr/>
                    <a:lstStyle/>
                    <a:p>
                      <a:pPr algn="l"/>
                      <a:r>
                        <a:rPr sz="1050" b="0">
                          <a:solidFill>
                            <a:srgbClr val="383A42"/>
                          </a:solidFill>
                          <a:latin typeface="Calibri"/>
                        </a:rPr>
                        <a:t>Exposure block</a:t>
                      </a:r>
                    </a:p>
                  </a:txBody>
                  <a:tcPr>
                    <a:solidFill>
                      <a:srgbClr val="FFFFFF"/>
                    </a:solidFill>
                  </a:tcPr>
                </a:tc>
                <a:tc>
                  <a:txBody>
                    <a:bodyPr/>
                    <a:lstStyle/>
                    <a:p>
                      <a:pPr algn="l"/>
                      <a:r>
                        <a:rPr sz="1050" b="0">
                          <a:solidFill>
                            <a:srgbClr val="383A42"/>
                          </a:solidFill>
                          <a:latin typeface="Calibri"/>
                        </a:rPr>
                        <a:t>Template from "population" keyword</a:t>
                      </a:r>
                    </a:p>
                  </a:txBody>
                  <a:tcPr>
                    <a:solidFill>
                      <a:srgbClr val="FFFFFF"/>
                    </a:solidFill>
                  </a:tcPr>
                </a:tc>
                <a:tc>
                  <a:txBody>
                    <a:bodyPr/>
                    <a:lstStyle/>
                    <a:p>
                      <a:pPr algn="l"/>
                      <a:r>
                        <a:rPr sz="1050" b="0">
                          <a:solidFill>
                            <a:srgbClr val="383A42"/>
                          </a:solidFill>
                          <a:latin typeface="Calibri"/>
                        </a:rPr>
                        <a:t>No asset or population inventory</a:t>
                      </a:r>
                    </a:p>
                  </a:txBody>
                  <a:tcPr>
                    <a:solidFill>
                      <a:srgbClr val="FFFFFF"/>
                    </a:solidFill>
                  </a:tcPr>
                </a:tc>
                <a:extLst>
                  <a:ext uri="{0D108BD9-81ED-4DB2-BD59-A6C34878D82A}">
                    <a16:rowId xmlns:a16="http://schemas.microsoft.com/office/drawing/2014/main" val="10003"/>
                  </a:ext>
                </a:extLst>
              </a:tr>
              <a:tr h="419100">
                <a:tc>
                  <a:txBody>
                    <a:bodyPr/>
                    <a:lstStyle/>
                    <a:p>
                      <a:pPr algn="l"/>
                      <a:r>
                        <a:rPr sz="1050" b="0">
                          <a:solidFill>
                            <a:srgbClr val="383A42"/>
                          </a:solidFill>
                          <a:latin typeface="Calibri"/>
                        </a:rPr>
                        <a:t>Vulnerability</a:t>
                      </a:r>
                    </a:p>
                  </a:txBody>
                  <a:tcPr>
                    <a:solidFill>
                      <a:srgbClr val="F0F0F2"/>
                    </a:solidFill>
                  </a:tcPr>
                </a:tc>
                <a:tc>
                  <a:txBody>
                    <a:bodyPr/>
                    <a:lstStyle/>
                    <a:p>
                      <a:pPr algn="l"/>
                      <a:r>
                        <a:rPr sz="1050" b="0">
                          <a:solidFill>
                            <a:srgbClr val="383A42"/>
                          </a:solidFill>
                          <a:latin typeface="Calibri"/>
                        </a:rPr>
                        <a:t>Template from "affected" keyword</a:t>
                      </a:r>
                    </a:p>
                  </a:txBody>
                  <a:tcPr>
                    <a:solidFill>
                      <a:srgbClr val="F0F0F2"/>
                    </a:solidFill>
                  </a:tcPr>
                </a:tc>
                <a:tc>
                  <a:txBody>
                    <a:bodyPr/>
                    <a:lstStyle/>
                    <a:p>
                      <a:pPr algn="l"/>
                      <a:r>
                        <a:rPr sz="1050" b="0">
                          <a:solidFill>
                            <a:srgbClr val="383A42"/>
                          </a:solidFill>
                          <a:latin typeface="Calibri"/>
                        </a:rPr>
                        <a:t>No fragility functions</a:t>
                      </a:r>
                    </a:p>
                  </a:txBody>
                  <a:tcPr>
                    <a:solidFill>
                      <a:srgbClr val="F0F0F2"/>
                    </a:solidFill>
                  </a:tcPr>
                </a:tc>
                <a:extLst>
                  <a:ext uri="{0D108BD9-81ED-4DB2-BD59-A6C34878D82A}">
                    <a16:rowId xmlns:a16="http://schemas.microsoft.com/office/drawing/2014/main" val="10004"/>
                  </a:ext>
                </a:extLst>
              </a:tr>
              <a:tr h="419100">
                <a:tc>
                  <a:txBody>
                    <a:bodyPr/>
                    <a:lstStyle/>
                    <a:p>
                      <a:pPr algn="l"/>
                      <a:r>
                        <a:rPr sz="1050" b="0">
                          <a:solidFill>
                            <a:srgbClr val="383A42"/>
                          </a:solidFill>
                          <a:latin typeface="Calibri"/>
                        </a:rPr>
                        <a:t>Loss block</a:t>
                      </a:r>
                    </a:p>
                  </a:txBody>
                  <a:tcPr>
                    <a:solidFill>
                      <a:srgbClr val="FFFFFF"/>
                    </a:solidFill>
                  </a:tcPr>
                </a:tc>
                <a:tc>
                  <a:txBody>
                    <a:bodyPr/>
                    <a:lstStyle/>
                    <a:p>
                      <a:pPr algn="l"/>
                      <a:r>
                        <a:rPr sz="1050" b="0">
                          <a:solidFill>
                            <a:srgbClr val="383A42"/>
                          </a:solidFill>
                          <a:latin typeface="Calibri"/>
                        </a:rPr>
                        <a:t>Displacement counts, mortality figures</a:t>
                      </a:r>
                    </a:p>
                  </a:txBody>
                  <a:tcPr>
                    <a:solidFill>
                      <a:srgbClr val="FFFFFF"/>
                    </a:solidFill>
                  </a:tcPr>
                </a:tc>
                <a:tc>
                  <a:txBody>
                    <a:bodyPr/>
                    <a:lstStyle/>
                    <a:p>
                      <a:pPr algn="l"/>
                      <a:r>
                        <a:rPr sz="1050" b="0" dirty="0">
                          <a:solidFill>
                            <a:srgbClr val="383A42"/>
                          </a:solidFill>
                          <a:latin typeface="Calibri"/>
                        </a:rPr>
                        <a:t>Displacement counts, mortality figures</a:t>
                      </a:r>
                    </a:p>
                  </a:txBody>
                  <a:tcPr>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411480" y="3737110"/>
            <a:ext cx="5394960" cy="215444"/>
          </a:xfrm>
          <a:prstGeom prst="rect">
            <a:avLst/>
          </a:prstGeom>
          <a:noFill/>
        </p:spPr>
        <p:txBody>
          <a:bodyPr wrap="square" lIns="0" tIns="0" rIns="0" bIns="0">
            <a:spAutoFit/>
          </a:bodyPr>
          <a:lstStyle/>
          <a:p>
            <a:pPr algn="l"/>
            <a:r>
              <a:rPr sz="1400" b="1">
                <a:solidFill>
                  <a:srgbClr val="E45649"/>
                </a:solidFill>
                <a:latin typeface="Calibri"/>
              </a:rPr>
              <a:t>Generated (wrong)</a:t>
            </a:r>
          </a:p>
        </p:txBody>
      </p:sp>
      <p:sp>
        <p:nvSpPr>
          <p:cNvPr id="9" name="Rectangle 8"/>
          <p:cNvSpPr/>
          <p:nvPr/>
        </p:nvSpPr>
        <p:spPr>
          <a:xfrm>
            <a:off x="411480" y="4102870"/>
            <a:ext cx="5394960" cy="2450592"/>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11480" y="4102870"/>
            <a:ext cx="38100" cy="2450592"/>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38480" y="4204470"/>
            <a:ext cx="5166360" cy="2247392"/>
          </a:xfrm>
          <a:prstGeom prst="rect">
            <a:avLst/>
          </a:prstGeom>
          <a:noFill/>
        </p:spPr>
        <p:txBody>
          <a:bodyPr wrap="none" lIns="0" tIns="0" rIns="0" bIns="0">
            <a:spAutoFit/>
          </a:bodyPr>
          <a:lstStyle/>
          <a:p>
            <a:pPr>
              <a:spcBef>
                <a:spcPts val="0"/>
              </a:spcBef>
              <a:spcAft>
                <a:spcPts val="0"/>
              </a:spcAft>
            </a:pPr>
            <a:r>
              <a:rPr sz="950">
                <a:solidFill>
                  <a:srgbClr val="DCDFE4"/>
                </a:solidFill>
                <a:latin typeface="Consolas"/>
              </a:rPr>
              <a:t>"hazard": {</a:t>
            </a:r>
          </a:p>
          <a:p>
            <a:pPr>
              <a:spcBef>
                <a:spcPts val="0"/>
              </a:spcBef>
              <a:spcAft>
                <a:spcPts val="0"/>
              </a:spcAft>
            </a:pPr>
            <a:r>
              <a:rPr sz="950">
                <a:solidFill>
                  <a:srgbClr val="DCDFE4"/>
                </a:solidFill>
                <a:latin typeface="Consolas"/>
              </a:rPr>
              <a:t>  "event_sets": [{</a:t>
            </a:r>
          </a:p>
          <a:p>
            <a:pPr>
              <a:spcBef>
                <a:spcPts val="0"/>
              </a:spcBef>
              <a:spcAft>
                <a:spcPts val="0"/>
              </a:spcAft>
            </a:pPr>
            <a:r>
              <a:rPr sz="950">
                <a:solidFill>
                  <a:srgbClr val="DCDFE4"/>
                </a:solidFill>
                <a:latin typeface="Consolas"/>
              </a:rPr>
              <a:t>    "hazards": [{"type": "drought",</a:t>
            </a:r>
          </a:p>
          <a:p>
            <a:pPr>
              <a:spcBef>
                <a:spcPts val="0"/>
              </a:spcBef>
              <a:spcAft>
                <a:spcPts val="0"/>
              </a:spcAft>
            </a:pPr>
            <a:r>
              <a:rPr sz="950">
                <a:solidFill>
                  <a:srgbClr val="DCDFE4"/>
                </a:solidFill>
                <a:latin typeface="Consolas"/>
              </a:rPr>
              <a:t>                 "intensity_measure": "SPI:-"}]</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a:t>
            </a:r>
          </a:p>
          <a:p>
            <a:pPr>
              <a:spcBef>
                <a:spcPts val="0"/>
              </a:spcBef>
              <a:spcAft>
                <a:spcPts val="0"/>
              </a:spcAft>
            </a:pPr>
            <a:r>
              <a:rPr sz="950">
                <a:solidFill>
                  <a:srgbClr val="DCDFE4"/>
                </a:solidFill>
                <a:latin typeface="Consolas"/>
              </a:rPr>
              <a:t>"exposure": [{"category": "population"}],</a:t>
            </a:r>
          </a:p>
          <a:p>
            <a:pPr>
              <a:spcBef>
                <a:spcPts val="0"/>
              </a:spcBef>
              <a:spcAft>
                <a:spcPts val="0"/>
              </a:spcAft>
            </a:pPr>
            <a:r>
              <a:rPr sz="950">
                <a:solidFill>
                  <a:srgbClr val="DCDFE4"/>
                </a:solidFill>
                <a:latin typeface="Consolas"/>
              </a:rPr>
              <a:t>"vulnerability": {"functions": {...}}</a:t>
            </a:r>
          </a:p>
        </p:txBody>
      </p:sp>
      <p:sp>
        <p:nvSpPr>
          <p:cNvPr id="12" name="TextBox 11"/>
          <p:cNvSpPr txBox="1"/>
          <p:nvPr/>
        </p:nvSpPr>
        <p:spPr>
          <a:xfrm>
            <a:off x="6217920" y="3737110"/>
            <a:ext cx="5486400" cy="215444"/>
          </a:xfrm>
          <a:prstGeom prst="rect">
            <a:avLst/>
          </a:prstGeom>
          <a:noFill/>
        </p:spPr>
        <p:txBody>
          <a:bodyPr wrap="square" lIns="0" tIns="0" rIns="0" bIns="0">
            <a:spAutoFit/>
          </a:bodyPr>
          <a:lstStyle/>
          <a:p>
            <a:pPr algn="l"/>
            <a:r>
              <a:rPr sz="1400" b="1">
                <a:solidFill>
                  <a:srgbClr val="50A14F"/>
                </a:solidFill>
                <a:latin typeface="Calibri"/>
              </a:rPr>
              <a:t>Should have been</a:t>
            </a:r>
          </a:p>
        </p:txBody>
      </p:sp>
      <p:sp>
        <p:nvSpPr>
          <p:cNvPr id="13" name="Rectangle 12"/>
          <p:cNvSpPr/>
          <p:nvPr/>
        </p:nvSpPr>
        <p:spPr>
          <a:xfrm>
            <a:off x="6217920" y="4102870"/>
            <a:ext cx="5486400" cy="2450592"/>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17920" y="4102870"/>
            <a:ext cx="38100" cy="2450592"/>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44920" y="4204470"/>
            <a:ext cx="5257800" cy="2247392"/>
          </a:xfrm>
          <a:prstGeom prst="rect">
            <a:avLst/>
          </a:prstGeom>
          <a:noFill/>
        </p:spPr>
        <p:txBody>
          <a:bodyPr wrap="none" lIns="0" tIns="0" rIns="0" bIns="0">
            <a:spAutoFit/>
          </a:bodyPr>
          <a:lstStyle/>
          <a:p>
            <a:pPr>
              <a:spcBef>
                <a:spcPts val="0"/>
              </a:spcBef>
              <a:spcAft>
                <a:spcPts val="0"/>
              </a:spcAft>
            </a:pPr>
            <a:r>
              <a:rPr sz="950">
                <a:solidFill>
                  <a:srgbClr val="DCDFE4"/>
                </a:solidFill>
                <a:latin typeface="Consolas"/>
              </a:rPr>
              <a:t>"risk_data_type": ["loss"],</a:t>
            </a:r>
          </a:p>
          <a:p>
            <a:pPr>
              <a:spcBef>
                <a:spcPts val="0"/>
              </a:spcBef>
              <a:spcAft>
                <a:spcPts val="0"/>
              </a:spcAft>
            </a:pPr>
            <a:r>
              <a:rPr sz="950">
                <a:solidFill>
                  <a:srgbClr val="DCDFE4"/>
                </a:solidFill>
                <a:latin typeface="Consolas"/>
              </a:rPr>
              <a:t>"loss": {</a:t>
            </a:r>
          </a:p>
          <a:p>
            <a:pPr>
              <a:spcBef>
                <a:spcPts val="0"/>
              </a:spcBef>
              <a:spcAft>
                <a:spcPts val="0"/>
              </a:spcAft>
            </a:pPr>
            <a:r>
              <a:rPr sz="950">
                <a:solidFill>
                  <a:srgbClr val="DCDFE4"/>
                </a:solidFill>
                <a:latin typeface="Consolas"/>
              </a:rPr>
              <a:t>  "losses": [{</a:t>
            </a:r>
          </a:p>
          <a:p>
            <a:pPr>
              <a:spcBef>
                <a:spcPts val="0"/>
              </a:spcBef>
              <a:spcAft>
                <a:spcPts val="0"/>
              </a:spcAft>
            </a:pPr>
            <a:r>
              <a:rPr sz="950">
                <a:solidFill>
                  <a:srgbClr val="DCDFE4"/>
                </a:solidFill>
                <a:latin typeface="Consolas"/>
              </a:rPr>
              <a:t>    "hazard": {"type": "drought"},</a:t>
            </a:r>
          </a:p>
          <a:p>
            <a:pPr>
              <a:spcBef>
                <a:spcPts val="0"/>
              </a:spcBef>
              <a:spcAft>
                <a:spcPts val="0"/>
              </a:spcAft>
            </a:pPr>
            <a:r>
              <a:rPr sz="950">
                <a:solidFill>
                  <a:srgbClr val="DCDFE4"/>
                </a:solidFill>
                <a:latin typeface="Consolas"/>
              </a:rPr>
              <a:t>    "asset_category": "population",</a:t>
            </a:r>
          </a:p>
          <a:p>
            <a:pPr>
              <a:spcBef>
                <a:spcPts val="0"/>
              </a:spcBef>
              <a:spcAft>
                <a:spcPts val="0"/>
              </a:spcAft>
            </a:pPr>
            <a:r>
              <a:rPr sz="950">
                <a:solidFill>
                  <a:srgbClr val="DCDFE4"/>
                </a:solidFill>
                <a:latin typeface="Consolas"/>
              </a:rPr>
              <a:t>    "impact_metric": "displaced_count"</a:t>
            </a:r>
          </a:p>
          <a:p>
            <a:pPr>
              <a:spcBef>
                <a:spcPts val="0"/>
              </a:spcBef>
              <a:spcAft>
                <a:spcPts val="0"/>
              </a:spcAft>
            </a:pPr>
            <a:r>
              <a:rPr sz="950">
                <a:solidFill>
                  <a:srgbClr val="DCDFE4"/>
                </a:solidFill>
                <a:latin typeface="Consolas"/>
              </a:rPr>
              <a:t>  }, {</a:t>
            </a:r>
          </a:p>
          <a:p>
            <a:pPr>
              <a:spcBef>
                <a:spcPts val="0"/>
              </a:spcBef>
              <a:spcAft>
                <a:spcPts val="0"/>
              </a:spcAft>
            </a:pPr>
            <a:r>
              <a:rPr sz="950">
                <a:solidFill>
                  <a:srgbClr val="DCDFE4"/>
                </a:solidFill>
                <a:latin typeface="Consolas"/>
              </a:rPr>
              <a:t>    "impact_metric": "mortality_count"</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a:solidFill>
                  <a:srgbClr val="0184BC"/>
                </a:solidFill>
                <a:latin typeface="Calibri"/>
              </a:rPr>
              <a:t>Act 1: Results and Verdict</a:t>
            </a:r>
          </a:p>
        </p:txBody>
      </p:sp>
      <p:sp>
        <p:nvSpPr>
          <p:cNvPr id="4" name="Rectangle 3"/>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7 / 26</a:t>
            </a:r>
          </a:p>
        </p:txBody>
      </p:sp>
      <p:graphicFrame>
        <p:nvGraphicFramePr>
          <p:cNvPr id="6" name="Table 5"/>
          <p:cNvGraphicFramePr>
            <a:graphicFrameLocks noGrp="1"/>
          </p:cNvGraphicFramePr>
          <p:nvPr>
            <p:extLst>
              <p:ext uri="{D42A27DB-BD31-4B8C-83A1-F6EECF244321}">
                <p14:modId xmlns:p14="http://schemas.microsoft.com/office/powerpoint/2010/main" val="4006410504"/>
              </p:ext>
            </p:extLst>
          </p:nvPr>
        </p:nvGraphicFramePr>
        <p:xfrm>
          <a:off x="411480" y="1103638"/>
          <a:ext cx="5669280" cy="425196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tblGrid>
              <a:tr h="472440">
                <a:tc>
                  <a:txBody>
                    <a:bodyPr/>
                    <a:lstStyle/>
                    <a:p>
                      <a:pPr algn="ctr"/>
                      <a:r>
                        <a:rPr sz="1400" b="1" dirty="0">
                          <a:solidFill>
                            <a:srgbClr val="FFFFFF"/>
                          </a:solidFill>
                          <a:latin typeface="Calibri"/>
                        </a:rPr>
                        <a:t>Metric</a:t>
                      </a:r>
                    </a:p>
                  </a:txBody>
                  <a:tcPr>
                    <a:solidFill>
                      <a:srgbClr val="383A42"/>
                    </a:solidFill>
                  </a:tcPr>
                </a:tc>
                <a:tc>
                  <a:txBody>
                    <a:bodyPr/>
                    <a:lstStyle/>
                    <a:p>
                      <a:pPr algn="ctr"/>
                      <a:r>
                        <a:rPr sz="1400" b="1" dirty="0">
                          <a:solidFill>
                            <a:srgbClr val="FFFFFF"/>
                          </a:solidFill>
                          <a:latin typeface="Calibri"/>
                        </a:rPr>
                        <a:t>Value</a:t>
                      </a:r>
                    </a:p>
                  </a:txBody>
                  <a:tcPr>
                    <a:solidFill>
                      <a:srgbClr val="383A42"/>
                    </a:solidFill>
                  </a:tcPr>
                </a:tc>
                <a:extLst>
                  <a:ext uri="{0D108BD9-81ED-4DB2-BD59-A6C34878D82A}">
                    <a16:rowId xmlns:a16="http://schemas.microsoft.com/office/drawing/2014/main" val="10000"/>
                  </a:ext>
                </a:extLst>
              </a:tr>
              <a:tr h="472440">
                <a:tc>
                  <a:txBody>
                    <a:bodyPr/>
                    <a:lstStyle/>
                    <a:p>
                      <a:pPr algn="l"/>
                      <a:r>
                        <a:rPr sz="1100" b="0">
                          <a:solidFill>
                            <a:srgbClr val="383A42"/>
                          </a:solidFill>
                          <a:latin typeface="Calibri"/>
                        </a:rPr>
                        <a:t>Total candidates processed</a:t>
                      </a:r>
                    </a:p>
                  </a:txBody>
                  <a:tcPr>
                    <a:solidFill>
                      <a:srgbClr val="FFFFFF"/>
                    </a:solidFill>
                  </a:tcPr>
                </a:tc>
                <a:tc>
                  <a:txBody>
                    <a:bodyPr/>
                    <a:lstStyle/>
                    <a:p>
                      <a:pPr algn="l"/>
                      <a:r>
                        <a:rPr sz="1100" b="0">
                          <a:solidFill>
                            <a:srgbClr val="383A42"/>
                          </a:solidFill>
                          <a:latin typeface="Calibri"/>
                        </a:rPr>
                        <a:t>12,594</a:t>
                      </a:r>
                    </a:p>
                  </a:txBody>
                  <a:tcPr>
                    <a:solidFill>
                      <a:srgbClr val="FFFFFF"/>
                    </a:solidFill>
                  </a:tcPr>
                </a:tc>
                <a:extLst>
                  <a:ext uri="{0D108BD9-81ED-4DB2-BD59-A6C34878D82A}">
                    <a16:rowId xmlns:a16="http://schemas.microsoft.com/office/drawing/2014/main" val="10001"/>
                  </a:ext>
                </a:extLst>
              </a:tr>
              <a:tr h="472440">
                <a:tc>
                  <a:txBody>
                    <a:bodyPr/>
                    <a:lstStyle/>
                    <a:p>
                      <a:pPr algn="l"/>
                      <a:r>
                        <a:rPr sz="1100" b="0">
                          <a:solidFill>
                            <a:srgbClr val="383A42"/>
                          </a:solidFill>
                          <a:latin typeface="Calibri"/>
                        </a:rPr>
                        <a:t>Processing time</a:t>
                      </a:r>
                    </a:p>
                  </a:txBody>
                  <a:tcPr>
                    <a:solidFill>
                      <a:srgbClr val="F0F0F2"/>
                    </a:solidFill>
                  </a:tcPr>
                </a:tc>
                <a:tc>
                  <a:txBody>
                    <a:bodyPr/>
                    <a:lstStyle/>
                    <a:p>
                      <a:pPr algn="l"/>
                      <a:r>
                        <a:rPr sz="1100" b="0">
                          <a:solidFill>
                            <a:srgbClr val="383A42"/>
                          </a:solidFill>
                          <a:latin typeface="Calibri"/>
                        </a:rPr>
                        <a:t>&lt; 60 seconds</a:t>
                      </a:r>
                    </a:p>
                  </a:txBody>
                  <a:tcPr>
                    <a:solidFill>
                      <a:srgbClr val="F0F0F2"/>
                    </a:solidFill>
                  </a:tcPr>
                </a:tc>
                <a:extLst>
                  <a:ext uri="{0D108BD9-81ED-4DB2-BD59-A6C34878D82A}">
                    <a16:rowId xmlns:a16="http://schemas.microsoft.com/office/drawing/2014/main" val="10002"/>
                  </a:ext>
                </a:extLst>
              </a:tr>
              <a:tr h="472440">
                <a:tc>
                  <a:txBody>
                    <a:bodyPr/>
                    <a:lstStyle/>
                    <a:p>
                      <a:pPr algn="l"/>
                      <a:r>
                        <a:rPr sz="1100" b="0">
                          <a:solidFill>
                            <a:srgbClr val="383A42"/>
                          </a:solidFill>
                          <a:latin typeface="Calibri"/>
                        </a:rPr>
                        <a:t>API cost</a:t>
                      </a:r>
                    </a:p>
                  </a:txBody>
                  <a:tcPr>
                    <a:solidFill>
                      <a:srgbClr val="FFFFFF"/>
                    </a:solidFill>
                  </a:tcPr>
                </a:tc>
                <a:tc>
                  <a:txBody>
                    <a:bodyPr/>
                    <a:lstStyle/>
                    <a:p>
                      <a:pPr algn="l"/>
                      <a:r>
                        <a:rPr sz="1100" b="0">
                          <a:solidFill>
                            <a:srgbClr val="383A42"/>
                          </a:solidFill>
                          <a:latin typeface="Calibri"/>
                        </a:rPr>
                        <a:t>USD 0</a:t>
                      </a:r>
                    </a:p>
                  </a:txBody>
                  <a:tcPr>
                    <a:solidFill>
                      <a:srgbClr val="FFFFFF"/>
                    </a:solidFill>
                  </a:tcPr>
                </a:tc>
                <a:extLst>
                  <a:ext uri="{0D108BD9-81ED-4DB2-BD59-A6C34878D82A}">
                    <a16:rowId xmlns:a16="http://schemas.microsoft.com/office/drawing/2014/main" val="10003"/>
                  </a:ext>
                </a:extLst>
              </a:tr>
              <a:tr h="472440">
                <a:tc>
                  <a:txBody>
                    <a:bodyPr/>
                    <a:lstStyle/>
                    <a:p>
                      <a:pPr algn="l"/>
                      <a:r>
                        <a:rPr sz="1100" b="0">
                          <a:solidFill>
                            <a:srgbClr val="383A42"/>
                          </a:solidFill>
                          <a:latin typeface="Calibri"/>
                        </a:rPr>
                        <a:t>Correctly classified</a:t>
                      </a:r>
                    </a:p>
                  </a:txBody>
                  <a:tcPr>
                    <a:solidFill>
                      <a:srgbClr val="F0F0F2"/>
                    </a:solidFill>
                  </a:tcPr>
                </a:tc>
                <a:tc>
                  <a:txBody>
                    <a:bodyPr/>
                    <a:lstStyle/>
                    <a:p>
                      <a:pPr algn="l"/>
                      <a:r>
                        <a:rPr sz="1100" b="0">
                          <a:solidFill>
                            <a:srgbClr val="383A42"/>
                          </a:solidFill>
                          <a:latin typeface="Calibri"/>
                        </a:rPr>
                        <a:t>~10,281  (81.6%)</a:t>
                      </a:r>
                    </a:p>
                  </a:txBody>
                  <a:tcPr>
                    <a:solidFill>
                      <a:srgbClr val="F0F0F2"/>
                    </a:solidFill>
                  </a:tcPr>
                </a:tc>
                <a:extLst>
                  <a:ext uri="{0D108BD9-81ED-4DB2-BD59-A6C34878D82A}">
                    <a16:rowId xmlns:a16="http://schemas.microsoft.com/office/drawing/2014/main" val="10004"/>
                  </a:ext>
                </a:extLst>
              </a:tr>
              <a:tr h="472440">
                <a:tc>
                  <a:txBody>
                    <a:bodyPr/>
                    <a:lstStyle/>
                    <a:p>
                      <a:pPr algn="l"/>
                      <a:r>
                        <a:rPr sz="1100" b="0">
                          <a:solidFill>
                            <a:srgbClr val="383A42"/>
                          </a:solidFill>
                          <a:latin typeface="Calibri"/>
                        </a:rPr>
                        <a:t>Over-classified (phantom components)</a:t>
                      </a:r>
                    </a:p>
                  </a:txBody>
                  <a:tcPr>
                    <a:solidFill>
                      <a:srgbClr val="FFFFFF"/>
                    </a:solidFill>
                  </a:tcPr>
                </a:tc>
                <a:tc>
                  <a:txBody>
                    <a:bodyPr/>
                    <a:lstStyle/>
                    <a:p>
                      <a:pPr algn="l"/>
                      <a:r>
                        <a:rPr sz="1100" b="0">
                          <a:solidFill>
                            <a:srgbClr val="383A42"/>
                          </a:solidFill>
                          <a:latin typeface="Calibri"/>
                        </a:rPr>
                        <a:t>2,313  (18.4%)</a:t>
                      </a:r>
                    </a:p>
                  </a:txBody>
                  <a:tcPr>
                    <a:solidFill>
                      <a:srgbClr val="FFFFFF"/>
                    </a:solidFill>
                  </a:tcPr>
                </a:tc>
                <a:extLst>
                  <a:ext uri="{0D108BD9-81ED-4DB2-BD59-A6C34878D82A}">
                    <a16:rowId xmlns:a16="http://schemas.microsoft.com/office/drawing/2014/main" val="10005"/>
                  </a:ext>
                </a:extLst>
              </a:tr>
              <a:tr h="472440">
                <a:tc>
                  <a:txBody>
                    <a:bodyPr/>
                    <a:lstStyle/>
                    <a:p>
                      <a:pPr algn="l"/>
                      <a:r>
                        <a:rPr sz="1100" b="0">
                          <a:solidFill>
                            <a:srgbClr val="383A42"/>
                          </a:solidFill>
                          <a:latin typeface="Calibri"/>
                        </a:rPr>
                        <a:t>Return periods captured</a:t>
                      </a:r>
                    </a:p>
                  </a:txBody>
                  <a:tcPr>
                    <a:solidFill>
                      <a:srgbClr val="F0F0F2"/>
                    </a:solidFill>
                  </a:tcPr>
                </a:tc>
                <a:tc>
                  <a:txBody>
                    <a:bodyPr/>
                    <a:lstStyle/>
                    <a:p>
                      <a:pPr algn="l"/>
                      <a:r>
                        <a:rPr sz="1100" b="0">
                          <a:solidFill>
                            <a:srgbClr val="383A42"/>
                          </a:solidFill>
                          <a:latin typeface="Calibri"/>
                        </a:rPr>
                        <a:t>0  (no mechanism)</a:t>
                      </a:r>
                    </a:p>
                  </a:txBody>
                  <a:tcPr>
                    <a:solidFill>
                      <a:srgbClr val="F0F0F2"/>
                    </a:solidFill>
                  </a:tcPr>
                </a:tc>
                <a:extLst>
                  <a:ext uri="{0D108BD9-81ED-4DB2-BD59-A6C34878D82A}">
                    <a16:rowId xmlns:a16="http://schemas.microsoft.com/office/drawing/2014/main" val="10006"/>
                  </a:ext>
                </a:extLst>
              </a:tr>
              <a:tr h="472440">
                <a:tc>
                  <a:txBody>
                    <a:bodyPr/>
                    <a:lstStyle/>
                    <a:p>
                      <a:pPr algn="l"/>
                      <a:r>
                        <a:rPr sz="1100" b="0">
                          <a:solidFill>
                            <a:srgbClr val="383A42"/>
                          </a:solidFill>
                          <a:latin typeface="Calibri"/>
                        </a:rPr>
                        <a:t>Multi-exposure records generated</a:t>
                      </a:r>
                    </a:p>
                  </a:txBody>
                  <a:tcPr>
                    <a:solidFill>
                      <a:srgbClr val="FFFFFF"/>
                    </a:solidFill>
                  </a:tcPr>
                </a:tc>
                <a:tc>
                  <a:txBody>
                    <a:bodyPr/>
                    <a:lstStyle/>
                    <a:p>
                      <a:pPr algn="l"/>
                      <a:r>
                        <a:rPr sz="1100" b="0">
                          <a:solidFill>
                            <a:srgbClr val="383A42"/>
                          </a:solidFill>
                          <a:latin typeface="Calibri"/>
                        </a:rPr>
                        <a:t>0  (no mechanism)</a:t>
                      </a:r>
                    </a:p>
                  </a:txBody>
                  <a:tcPr>
                    <a:solidFill>
                      <a:srgbClr val="FFFFFF"/>
                    </a:solidFill>
                  </a:tcPr>
                </a:tc>
                <a:extLst>
                  <a:ext uri="{0D108BD9-81ED-4DB2-BD59-A6C34878D82A}">
                    <a16:rowId xmlns:a16="http://schemas.microsoft.com/office/drawing/2014/main" val="10007"/>
                  </a:ext>
                </a:extLst>
              </a:tr>
              <a:tr h="472440">
                <a:tc>
                  <a:txBody>
                    <a:bodyPr/>
                    <a:lstStyle/>
                    <a:p>
                      <a:pPr algn="l"/>
                      <a:r>
                        <a:rPr sz="1100" b="0">
                          <a:solidFill>
                            <a:srgbClr val="383A42"/>
                          </a:solidFill>
                          <a:latin typeface="Calibri"/>
                        </a:rPr>
                        <a:t>Multi-loss entries generated</a:t>
                      </a:r>
                    </a:p>
                  </a:txBody>
                  <a:tcPr>
                    <a:solidFill>
                      <a:srgbClr val="F0F0F2"/>
                    </a:solidFill>
                  </a:tcPr>
                </a:tc>
                <a:tc>
                  <a:txBody>
                    <a:bodyPr/>
                    <a:lstStyle/>
                    <a:p>
                      <a:pPr algn="l"/>
                      <a:r>
                        <a:rPr sz="1100" b="0" dirty="0">
                          <a:solidFill>
                            <a:srgbClr val="383A42"/>
                          </a:solidFill>
                          <a:latin typeface="Calibri"/>
                        </a:rPr>
                        <a:t>0  (no mechanism)</a:t>
                      </a:r>
                    </a:p>
                  </a:txBody>
                  <a:tcPr>
                    <a:solidFill>
                      <a:srgbClr val="F0F0F2"/>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6400800" y="1103638"/>
            <a:ext cx="5394960" cy="215444"/>
          </a:xfrm>
          <a:prstGeom prst="rect">
            <a:avLst/>
          </a:prstGeom>
          <a:noFill/>
        </p:spPr>
        <p:txBody>
          <a:bodyPr wrap="square" lIns="0" tIns="0" rIns="0" bIns="0">
            <a:spAutoFit/>
          </a:bodyPr>
          <a:lstStyle/>
          <a:p>
            <a:pPr algn="l"/>
            <a:r>
              <a:rPr sz="1400" b="1">
                <a:solidFill>
                  <a:srgbClr val="50A14F"/>
                </a:solidFill>
                <a:latin typeface="Calibri"/>
              </a:rPr>
              <a:t>What worked well</a:t>
            </a:r>
          </a:p>
        </p:txBody>
      </p:sp>
      <p:sp>
        <p:nvSpPr>
          <p:cNvPr id="8" name="TextBox 7"/>
          <p:cNvSpPr txBox="1"/>
          <p:nvPr/>
        </p:nvSpPr>
        <p:spPr>
          <a:xfrm>
            <a:off x="6400800" y="1542550"/>
            <a:ext cx="5394960" cy="184666"/>
          </a:xfrm>
          <a:prstGeom prst="rect">
            <a:avLst/>
          </a:prstGeom>
          <a:noFill/>
        </p:spPr>
        <p:txBody>
          <a:bodyPr wrap="square" lIns="0" tIns="0" rIns="0" bIns="0">
            <a:spAutoFit/>
          </a:bodyPr>
          <a:lstStyle/>
          <a:p>
            <a:pPr algn="l"/>
            <a:r>
              <a:rPr sz="1200" b="0">
                <a:solidFill>
                  <a:srgbClr val="50A14F"/>
                </a:solidFill>
                <a:latin typeface="Calibri"/>
              </a:rPr>
              <a:t>+ Fast: 12,594 records in under 60 seconds</a:t>
            </a:r>
          </a:p>
        </p:txBody>
      </p:sp>
      <p:sp>
        <p:nvSpPr>
          <p:cNvPr id="9" name="TextBox 8"/>
          <p:cNvSpPr txBox="1"/>
          <p:nvPr/>
        </p:nvSpPr>
        <p:spPr>
          <a:xfrm>
            <a:off x="6400800" y="1963174"/>
            <a:ext cx="5394960" cy="184666"/>
          </a:xfrm>
          <a:prstGeom prst="rect">
            <a:avLst/>
          </a:prstGeom>
          <a:noFill/>
        </p:spPr>
        <p:txBody>
          <a:bodyPr wrap="square" lIns="0" tIns="0" rIns="0" bIns="0">
            <a:spAutoFit/>
          </a:bodyPr>
          <a:lstStyle/>
          <a:p>
            <a:pPr algn="l"/>
            <a:r>
              <a:rPr sz="1200" b="0">
                <a:solidFill>
                  <a:srgbClr val="50A14F"/>
                </a:solidFill>
                <a:latin typeface="Calibri"/>
              </a:rPr>
              <a:t>+ Deterministic and fully reproducible</a:t>
            </a:r>
          </a:p>
        </p:txBody>
      </p:sp>
      <p:sp>
        <p:nvSpPr>
          <p:cNvPr id="10" name="TextBox 9"/>
          <p:cNvSpPr txBox="1"/>
          <p:nvPr/>
        </p:nvSpPr>
        <p:spPr>
          <a:xfrm>
            <a:off x="6400800" y="2383798"/>
            <a:ext cx="5394960" cy="184666"/>
          </a:xfrm>
          <a:prstGeom prst="rect">
            <a:avLst/>
          </a:prstGeom>
          <a:noFill/>
        </p:spPr>
        <p:txBody>
          <a:bodyPr wrap="square" lIns="0" tIns="0" rIns="0" bIns="0">
            <a:spAutoFit/>
          </a:bodyPr>
          <a:lstStyle/>
          <a:p>
            <a:pPr algn="l"/>
            <a:r>
              <a:rPr sz="1200" b="0">
                <a:solidFill>
                  <a:srgbClr val="50A14F"/>
                </a:solidFill>
                <a:latin typeface="Calibri"/>
              </a:rPr>
              <a:t>+ Zero API cost</a:t>
            </a:r>
          </a:p>
        </p:txBody>
      </p:sp>
      <p:sp>
        <p:nvSpPr>
          <p:cNvPr id="11" name="TextBox 10"/>
          <p:cNvSpPr txBox="1"/>
          <p:nvPr/>
        </p:nvSpPr>
        <p:spPr>
          <a:xfrm>
            <a:off x="6400800" y="2804422"/>
            <a:ext cx="5394960" cy="184666"/>
          </a:xfrm>
          <a:prstGeom prst="rect">
            <a:avLst/>
          </a:prstGeom>
          <a:noFill/>
        </p:spPr>
        <p:txBody>
          <a:bodyPr wrap="square" lIns="0" tIns="0" rIns="0" bIns="0">
            <a:spAutoFit/>
          </a:bodyPr>
          <a:lstStyle/>
          <a:p>
            <a:pPr algn="l"/>
            <a:r>
              <a:rPr sz="1200" b="0">
                <a:solidFill>
                  <a:srgbClr val="50A14F"/>
                </a:solidFill>
                <a:latin typeface="Calibri"/>
              </a:rPr>
              <a:t>+ Correctly handled ~82% of all records</a:t>
            </a:r>
          </a:p>
        </p:txBody>
      </p:sp>
      <p:sp>
        <p:nvSpPr>
          <p:cNvPr id="12" name="TextBox 11"/>
          <p:cNvSpPr txBox="1"/>
          <p:nvPr/>
        </p:nvSpPr>
        <p:spPr>
          <a:xfrm>
            <a:off x="6400800" y="3462790"/>
            <a:ext cx="5394960" cy="215444"/>
          </a:xfrm>
          <a:prstGeom prst="rect">
            <a:avLst/>
          </a:prstGeom>
          <a:noFill/>
        </p:spPr>
        <p:txBody>
          <a:bodyPr wrap="square" lIns="0" tIns="0" rIns="0" bIns="0">
            <a:spAutoFit/>
          </a:bodyPr>
          <a:lstStyle/>
          <a:p>
            <a:pPr algn="l"/>
            <a:r>
              <a:rPr sz="1400" b="1">
                <a:solidFill>
                  <a:srgbClr val="E45649"/>
                </a:solidFill>
                <a:latin typeface="Calibri"/>
              </a:rPr>
              <a:t>The fundamental limit</a:t>
            </a:r>
          </a:p>
        </p:txBody>
      </p:sp>
      <p:sp>
        <p:nvSpPr>
          <p:cNvPr id="13" name="Rectangle 12"/>
          <p:cNvSpPr/>
          <p:nvPr/>
        </p:nvSpPr>
        <p:spPr>
          <a:xfrm>
            <a:off x="6400800" y="3874270"/>
            <a:ext cx="5394960" cy="173736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0" y="3874270"/>
            <a:ext cx="50800" cy="1737360"/>
          </a:xfrm>
          <a:prstGeom prst="rect">
            <a:avLst/>
          </a:prstGeom>
          <a:solidFill>
            <a:srgbClr val="E456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78600" y="3950470"/>
            <a:ext cx="5140960" cy="553998"/>
          </a:xfrm>
          <a:prstGeom prst="rect">
            <a:avLst/>
          </a:prstGeom>
          <a:noFill/>
        </p:spPr>
        <p:txBody>
          <a:bodyPr wrap="square" lIns="0" tIns="0" rIns="0" bIns="0">
            <a:spAutoFit/>
          </a:bodyPr>
          <a:lstStyle/>
          <a:p>
            <a:r>
              <a:rPr sz="1200" b="0" dirty="0">
                <a:solidFill>
                  <a:srgbClr val="383A42"/>
                </a:solidFill>
                <a:latin typeface="Calibri"/>
              </a:rPr>
              <a:t>Pattern matching cannot cross the semantic boundary between what a dataset is about and what it actually contains. For HDX, this boundary affects 1 in 5 records. No additional patterns can fix it - the failure mode is architectural.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p:cNvSpPr/>
          <p:nvPr/>
        </p:nvSpPr>
        <p:spPr>
          <a:xfrm>
            <a:off x="0" y="3493008"/>
            <a:ext cx="12188952" cy="19050"/>
          </a:xfrm>
          <a:prstGeom prst="rect">
            <a:avLst/>
          </a:prstGeom>
          <a:solidFill>
            <a:srgbClr val="C18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31720"/>
            <a:ext cx="10972800" cy="246221"/>
          </a:xfrm>
          <a:prstGeom prst="rect">
            <a:avLst/>
          </a:prstGeom>
          <a:noFill/>
        </p:spPr>
        <p:txBody>
          <a:bodyPr wrap="square" lIns="0" tIns="0" rIns="0" bIns="0">
            <a:spAutoFit/>
          </a:bodyPr>
          <a:lstStyle/>
          <a:p>
            <a:pPr algn="l"/>
            <a:r>
              <a:rPr sz="1600" b="0" dirty="0">
                <a:solidFill>
                  <a:srgbClr val="C18401"/>
                </a:solidFill>
                <a:latin typeface="Calibri"/>
              </a:rPr>
              <a:t>Act</a:t>
            </a:r>
            <a:r>
              <a:rPr lang="en-US" sz="1600" b="0" dirty="0">
                <a:solidFill>
                  <a:srgbClr val="C18401"/>
                </a:solidFill>
                <a:latin typeface="Calibri"/>
              </a:rPr>
              <a:t>ivity</a:t>
            </a:r>
            <a:r>
              <a:rPr sz="1600" b="0" dirty="0">
                <a:solidFill>
                  <a:srgbClr val="C18401"/>
                </a:solidFill>
                <a:latin typeface="Calibri"/>
              </a:rPr>
              <a:t> 2</a:t>
            </a:r>
          </a:p>
        </p:txBody>
      </p:sp>
      <p:sp>
        <p:nvSpPr>
          <p:cNvPr id="5" name="TextBox 4"/>
          <p:cNvSpPr txBox="1"/>
          <p:nvPr/>
        </p:nvSpPr>
        <p:spPr>
          <a:xfrm>
            <a:off x="502920" y="2743200"/>
            <a:ext cx="10972800" cy="914400"/>
          </a:xfrm>
          <a:prstGeom prst="rect">
            <a:avLst/>
          </a:prstGeom>
          <a:noFill/>
        </p:spPr>
        <p:txBody>
          <a:bodyPr wrap="square" lIns="0" tIns="0" rIns="0" bIns="0">
            <a:spAutoFit/>
          </a:bodyPr>
          <a:lstStyle/>
          <a:p>
            <a:pPr algn="l"/>
            <a:r>
              <a:rPr sz="4200" b="1">
                <a:solidFill>
                  <a:srgbClr val="383A42"/>
                </a:solidFill>
                <a:latin typeface="Calibri"/>
              </a:rPr>
              <a:t>The Hybrid Pipeline</a:t>
            </a:r>
          </a:p>
        </p:txBody>
      </p:sp>
      <p:sp>
        <p:nvSpPr>
          <p:cNvPr id="6" name="TextBox 5"/>
          <p:cNvSpPr txBox="1"/>
          <p:nvPr/>
        </p:nvSpPr>
        <p:spPr>
          <a:xfrm>
            <a:off x="502920" y="3749039"/>
            <a:ext cx="10972800" cy="246221"/>
          </a:xfrm>
          <a:prstGeom prst="rect">
            <a:avLst/>
          </a:prstGeom>
          <a:noFill/>
        </p:spPr>
        <p:txBody>
          <a:bodyPr wrap="square" lIns="0" tIns="0" rIns="0" bIns="0">
            <a:spAutoFit/>
          </a:bodyPr>
          <a:lstStyle/>
          <a:p>
            <a:pPr algn="l"/>
            <a:r>
              <a:rPr sz="1600" b="0" dirty="0">
                <a:solidFill>
                  <a:srgbClr val="383A42"/>
                </a:solidFill>
                <a:latin typeface="Calibri"/>
              </a:rPr>
              <a:t>Regex for clear-cut cases. </a:t>
            </a:r>
            <a:r>
              <a:rPr sz="1600" b="0" dirty="0">
                <a:solidFill>
                  <a:srgbClr val="C18401"/>
                </a:solidFill>
                <a:latin typeface="Calibri"/>
              </a:rPr>
              <a:t>LLM where it matters. </a:t>
            </a:r>
            <a:r>
              <a:rPr sz="1600" b="0" dirty="0">
                <a:solidFill>
                  <a:srgbClr val="383A42"/>
                </a:solidFill>
                <a:latin typeface="Calibri"/>
              </a:rPr>
              <a:t>Column headers as evidence.</a:t>
            </a:r>
          </a:p>
        </p:txBody>
      </p:sp>
      <p:sp>
        <p:nvSpPr>
          <p:cNvPr id="7" name="TextBox 6"/>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8 / 26</a:t>
            </a:r>
          </a:p>
        </p:txBody>
      </p:sp>
      <p:sp>
        <p:nvSpPr>
          <p:cNvPr id="2" name="Rectangle 1"/>
          <p:cNvSpPr/>
          <p:nvPr/>
        </p:nvSpPr>
        <p:spPr>
          <a:xfrm>
            <a:off x="0" y="0"/>
            <a:ext cx="180000" cy="6858000"/>
          </a:xfrm>
          <a:prstGeom prst="rect">
            <a:avLst/>
          </a:prstGeom>
          <a:solidFill>
            <a:srgbClr val="C18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dirty="0">
                <a:solidFill>
                  <a:srgbClr val="0184BC"/>
                </a:solidFill>
                <a:latin typeface="Calibri"/>
              </a:rPr>
              <a:t>Act 2: The Four-Phase Hybrid Design</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Regex handles 48% of records at zero cost; LLM reviews the ambiguous 52%</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9 / 26</a:t>
            </a:r>
          </a:p>
        </p:txBody>
      </p:sp>
      <p:sp>
        <p:nvSpPr>
          <p:cNvPr id="7" name="Rectangle 6"/>
          <p:cNvSpPr/>
          <p:nvPr/>
        </p:nvSpPr>
        <p:spPr>
          <a:xfrm>
            <a:off x="411480" y="1103638"/>
            <a:ext cx="11338560" cy="5349240"/>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11480" y="1103638"/>
            <a:ext cx="38100" cy="5349240"/>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8480" y="1205238"/>
            <a:ext cx="11109960" cy="5146040"/>
          </a:xfrm>
          <a:prstGeom prst="rect">
            <a:avLst/>
          </a:prstGeom>
          <a:noFill/>
        </p:spPr>
        <p:txBody>
          <a:bodyPr wrap="none" lIns="0" tIns="0" rIns="0" bIns="0">
            <a:spAutoFit/>
          </a:bodyPr>
          <a:lstStyle/>
          <a:p>
            <a:pPr>
              <a:spcBef>
                <a:spcPts val="0"/>
              </a:spcBef>
              <a:spcAft>
                <a:spcPts val="0"/>
              </a:spcAft>
            </a:pPr>
            <a:r>
              <a:rPr sz="950">
                <a:solidFill>
                  <a:srgbClr val="DCDFE4"/>
                </a:solidFill>
                <a:latin typeface="Consolas"/>
              </a:rPr>
              <a:t>12,594 candidates from regex pre-screen</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         v</a:t>
            </a:r>
          </a:p>
          <a:p>
            <a:pPr>
              <a:spcBef>
                <a:spcPts val="0"/>
              </a:spcBef>
              <a:spcAft>
                <a:spcPts val="0"/>
              </a:spcAft>
            </a:pPr>
            <a:r>
              <a:rPr sz="950">
                <a:solidFill>
                  <a:srgbClr val="DCDFE4"/>
                </a:solidFill>
                <a:latin typeface="Consolas"/>
              </a:rPr>
              <a:t>  Phase 1: Signal Triage</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  |  High confidence (regex score &gt;= 0.8)   4,088 records  (48%)   |  bypasses LLM</a:t>
            </a:r>
          </a:p>
          <a:p>
            <a:pPr>
              <a:spcBef>
                <a:spcPts val="0"/>
              </a:spcBef>
              <a:spcAft>
                <a:spcPts val="0"/>
              </a:spcAft>
            </a:pPr>
            <a:r>
              <a:rPr sz="950">
                <a:solidFill>
                  <a:srgbClr val="DCDFE4"/>
                </a:solidFill>
                <a:latin typeface="Consolas"/>
              </a:rPr>
              <a:t>  |  Borderline / ambiguous                 7,836 records          |</a:t>
            </a:r>
          </a:p>
          <a:p>
            <a:pPr>
              <a:spcBef>
                <a:spcPts val="0"/>
              </a:spcBef>
              <a:spcAft>
                <a:spcPts val="0"/>
              </a:spcAft>
            </a:pPr>
            <a:r>
              <a:rPr sz="950">
                <a:solidFill>
                  <a:srgbClr val="DCDFE4"/>
                </a:solidFill>
                <a:latin typeface="Consolas"/>
              </a:rPr>
              <a:t>  |  No signal at all                         455 records          |</a:t>
            </a:r>
          </a:p>
          <a:p>
            <a:pPr>
              <a:spcBef>
                <a:spcPts val="0"/>
              </a:spcBef>
              <a:spcAft>
                <a:spcPts val="0"/>
              </a:spcAft>
            </a:pPr>
            <a:r>
              <a:rPr sz="950">
                <a:solidFill>
                  <a:srgbClr val="DCDFE4"/>
                </a:solidFill>
                <a:latin typeface="Consolas"/>
              </a:rPr>
              <a:t>  |  Random validation sample (5%)             215 records         |</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         |   8,506 records proceed</a:t>
            </a:r>
          </a:p>
          <a:p>
            <a:pPr>
              <a:spcBef>
                <a:spcPts val="0"/>
              </a:spcBef>
              <a:spcAft>
                <a:spcPts val="0"/>
              </a:spcAft>
            </a:pPr>
            <a:r>
              <a:rPr sz="950">
                <a:solidFill>
                  <a:srgbClr val="DCDFE4"/>
                </a:solidFill>
                <a:latin typeface="Consolas"/>
              </a:rPr>
              <a:t>         v</a:t>
            </a:r>
          </a:p>
          <a:p>
            <a:pPr>
              <a:spcBef>
                <a:spcPts val="0"/>
              </a:spcBef>
              <a:spcAft>
                <a:spcPts val="0"/>
              </a:spcAft>
            </a:pPr>
            <a:r>
              <a:rPr sz="950">
                <a:solidFill>
                  <a:srgbClr val="DCDFE4"/>
                </a:solidFill>
                <a:latin typeface="Consolas"/>
              </a:rPr>
              <a:t>  Phase 2: Column Enrichment    inject actual column headers from CKAN API cache</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         v</a:t>
            </a:r>
          </a:p>
          <a:p>
            <a:pPr>
              <a:spcBef>
                <a:spcPts val="0"/>
              </a:spcBef>
              <a:spcAft>
                <a:spcPts val="0"/>
              </a:spcAft>
            </a:pPr>
            <a:r>
              <a:rPr sz="950">
                <a:solidFill>
                  <a:srgbClr val="DCDFE4"/>
                </a:solidFill>
                <a:latin typeface="Consolas"/>
              </a:rPr>
              <a:t>  Phase 3: LLM Classification  Claude Haiku 4.5, structured RDLS definitions</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         v</a:t>
            </a:r>
          </a:p>
          <a:p>
            <a:pPr>
              <a:spcBef>
                <a:spcPts val="0"/>
              </a:spcBef>
              <a:spcAft>
                <a:spcPts val="0"/>
              </a:spcAft>
            </a:pPr>
            <a:r>
              <a:rPr sz="950">
                <a:solidFill>
                  <a:srgbClr val="DCDFE4"/>
                </a:solidFill>
                <a:latin typeface="Consolas"/>
              </a:rPr>
              <a:t>  Phase 4: Reconciliation       merge LLM + regex, remove phantom components,</a:t>
            </a:r>
          </a:p>
          <a:p>
            <a:pPr>
              <a:spcBef>
                <a:spcPts val="0"/>
              </a:spcBef>
              <a:spcAft>
                <a:spcPts val="0"/>
              </a:spcAft>
            </a:pPr>
            <a:r>
              <a:rPr sz="950">
                <a:solidFill>
                  <a:srgbClr val="DCDFE4"/>
                </a:solidFill>
                <a:latin typeface="Consolas"/>
              </a:rPr>
              <a:t>                                rebuild record IDs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a:solidFill>
                  <a:srgbClr val="0184BC"/>
                </a:solidFill>
                <a:latin typeface="Calibri"/>
              </a:rPr>
              <a:t>Act 2: The Column Enrichment Breakthrough</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Actual data column headers - the single most impactful design decision</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10 / 26</a:t>
            </a:r>
          </a:p>
        </p:txBody>
      </p:sp>
      <p:sp>
        <p:nvSpPr>
          <p:cNvPr id="7" name="TextBox 6"/>
          <p:cNvSpPr txBox="1"/>
          <p:nvPr/>
        </p:nvSpPr>
        <p:spPr>
          <a:xfrm>
            <a:off x="411480" y="1024128"/>
            <a:ext cx="5577840" cy="215444"/>
          </a:xfrm>
          <a:prstGeom prst="rect">
            <a:avLst/>
          </a:prstGeom>
          <a:noFill/>
        </p:spPr>
        <p:txBody>
          <a:bodyPr wrap="square" lIns="0" tIns="0" rIns="0" bIns="0">
            <a:spAutoFit/>
          </a:bodyPr>
          <a:lstStyle/>
          <a:p>
            <a:pPr algn="l"/>
            <a:r>
              <a:rPr sz="1400" b="1" dirty="0">
                <a:solidFill>
                  <a:srgbClr val="E45649"/>
                </a:solidFill>
                <a:latin typeface="Calibri"/>
              </a:rPr>
              <a:t>Without column enrichment  (title + tags only)</a:t>
            </a:r>
          </a:p>
        </p:txBody>
      </p:sp>
      <p:sp>
        <p:nvSpPr>
          <p:cNvPr id="8" name="Rectangle 7"/>
          <p:cNvSpPr/>
          <p:nvPr/>
        </p:nvSpPr>
        <p:spPr>
          <a:xfrm>
            <a:off x="411480" y="1417320"/>
            <a:ext cx="5394960" cy="2423160"/>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11480" y="1417320"/>
            <a:ext cx="38100" cy="2423160"/>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8480" y="1518920"/>
            <a:ext cx="5166360" cy="2219960"/>
          </a:xfrm>
          <a:prstGeom prst="rect">
            <a:avLst/>
          </a:prstGeom>
          <a:noFill/>
        </p:spPr>
        <p:txBody>
          <a:bodyPr wrap="none" lIns="0" tIns="0" rIns="0" bIns="0">
            <a:spAutoFit/>
          </a:bodyPr>
          <a:lstStyle/>
          <a:p>
            <a:pPr>
              <a:spcBef>
                <a:spcPts val="0"/>
              </a:spcBef>
              <a:spcAft>
                <a:spcPts val="0"/>
              </a:spcAft>
            </a:pPr>
            <a:r>
              <a:rPr sz="950">
                <a:solidFill>
                  <a:srgbClr val="DCDFE4"/>
                </a:solidFill>
                <a:latin typeface="Consolas"/>
              </a:rPr>
              <a:t>Dataset: Somalia Flood Impact Assessment</a:t>
            </a:r>
          </a:p>
          <a:p>
            <a:pPr>
              <a:spcBef>
                <a:spcPts val="0"/>
              </a:spcBef>
              <a:spcAft>
                <a:spcPts val="0"/>
              </a:spcAft>
            </a:pPr>
            <a:endParaRPr sz="950">
              <a:solidFill>
                <a:srgbClr val="DCDFE4"/>
              </a:solidFill>
              <a:latin typeface="Consolas"/>
            </a:endParaRPr>
          </a:p>
          <a:p>
            <a:pPr>
              <a:spcBef>
                <a:spcPts val="0"/>
              </a:spcBef>
              <a:spcAft>
                <a:spcPts val="0"/>
              </a:spcAft>
            </a:pPr>
            <a:r>
              <a:rPr sz="950">
                <a:solidFill>
                  <a:srgbClr val="DCDFE4"/>
                </a:solidFill>
                <a:latin typeface="Consolas"/>
              </a:rPr>
              <a:t>Title: Somalia Flood Impact Assessment</a:t>
            </a:r>
          </a:p>
          <a:p>
            <a:pPr>
              <a:spcBef>
                <a:spcPts val="0"/>
              </a:spcBef>
              <a:spcAft>
                <a:spcPts val="0"/>
              </a:spcAft>
            </a:pPr>
            <a:r>
              <a:rPr sz="950">
                <a:solidFill>
                  <a:srgbClr val="DCDFE4"/>
                </a:solidFill>
                <a:latin typeface="Consolas"/>
              </a:rPr>
              <a:t>Tags:  flood, Somalia, displacement,</a:t>
            </a:r>
          </a:p>
          <a:p>
            <a:pPr>
              <a:spcBef>
                <a:spcPts val="0"/>
              </a:spcBef>
              <a:spcAft>
                <a:spcPts val="0"/>
              </a:spcAft>
            </a:pPr>
            <a:r>
              <a:rPr sz="950">
                <a:solidFill>
                  <a:srgbClr val="DCDFE4"/>
                </a:solidFill>
                <a:latin typeface="Consolas"/>
              </a:rPr>
              <a:t>       humanitarian, affected population</a:t>
            </a:r>
          </a:p>
          <a:p>
            <a:pPr>
              <a:spcBef>
                <a:spcPts val="0"/>
              </a:spcBef>
              <a:spcAft>
                <a:spcPts val="0"/>
              </a:spcAft>
            </a:pPr>
            <a:r>
              <a:rPr sz="950">
                <a:solidFill>
                  <a:srgbClr val="DCDFE4"/>
                </a:solidFill>
                <a:latin typeface="Consolas"/>
              </a:rPr>
              <a:t>Desc:  'Assessment of flood impacts...'</a:t>
            </a:r>
          </a:p>
          <a:p>
            <a:pPr>
              <a:spcBef>
                <a:spcPts val="0"/>
              </a:spcBef>
              <a:spcAft>
                <a:spcPts val="0"/>
              </a:spcAft>
            </a:pPr>
            <a:endParaRPr sz="950">
              <a:solidFill>
                <a:srgbClr val="DCDFE4"/>
              </a:solidFill>
              <a:latin typeface="Consolas"/>
            </a:endParaRPr>
          </a:p>
          <a:p>
            <a:pPr>
              <a:spcBef>
                <a:spcPts val="0"/>
              </a:spcBef>
              <a:spcAft>
                <a:spcPts val="0"/>
              </a:spcAft>
            </a:pPr>
            <a:r>
              <a:rPr sz="950">
                <a:solidFill>
                  <a:srgbClr val="DCDFE4"/>
                </a:solidFill>
                <a:latin typeface="Consolas"/>
              </a:rPr>
              <a:t>LLM sees: flood + population + affected</a:t>
            </a:r>
          </a:p>
          <a:p>
            <a:pPr>
              <a:spcBef>
                <a:spcPts val="0"/>
              </a:spcBef>
              <a:spcAft>
                <a:spcPts val="0"/>
              </a:spcAft>
            </a:pPr>
            <a:r>
              <a:rPr sz="950">
                <a:solidFill>
                  <a:srgbClr val="DCDFE4"/>
                </a:solidFill>
                <a:latin typeface="Consolas"/>
              </a:rPr>
              <a:t>          --&gt; H + E + L ?  (ambiguous)</a:t>
            </a:r>
          </a:p>
        </p:txBody>
      </p:sp>
      <p:sp>
        <p:nvSpPr>
          <p:cNvPr id="11" name="TextBox 10"/>
          <p:cNvSpPr txBox="1"/>
          <p:nvPr/>
        </p:nvSpPr>
        <p:spPr>
          <a:xfrm>
            <a:off x="6217920" y="1024128"/>
            <a:ext cx="5486400" cy="215444"/>
          </a:xfrm>
          <a:prstGeom prst="rect">
            <a:avLst/>
          </a:prstGeom>
          <a:noFill/>
        </p:spPr>
        <p:txBody>
          <a:bodyPr wrap="square" lIns="0" tIns="0" rIns="0" bIns="0">
            <a:spAutoFit/>
          </a:bodyPr>
          <a:lstStyle/>
          <a:p>
            <a:pPr algn="l"/>
            <a:r>
              <a:rPr sz="1400" b="1">
                <a:solidFill>
                  <a:srgbClr val="50A14F"/>
                </a:solidFill>
                <a:latin typeface="Calibri"/>
              </a:rPr>
              <a:t>With column enrichment  (+ actual data columns)</a:t>
            </a:r>
          </a:p>
        </p:txBody>
      </p:sp>
      <p:sp>
        <p:nvSpPr>
          <p:cNvPr id="12" name="Rectangle 11"/>
          <p:cNvSpPr/>
          <p:nvPr/>
        </p:nvSpPr>
        <p:spPr>
          <a:xfrm>
            <a:off x="6217920" y="1417320"/>
            <a:ext cx="5486400" cy="2743200"/>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0" y="1417320"/>
            <a:ext cx="38100" cy="2743200"/>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44920" y="1518920"/>
            <a:ext cx="5257800" cy="2540000"/>
          </a:xfrm>
          <a:prstGeom prst="rect">
            <a:avLst/>
          </a:prstGeom>
          <a:noFill/>
        </p:spPr>
        <p:txBody>
          <a:bodyPr wrap="none" lIns="0" tIns="0" rIns="0" bIns="0">
            <a:spAutoFit/>
          </a:bodyPr>
          <a:lstStyle/>
          <a:p>
            <a:pPr>
              <a:spcBef>
                <a:spcPts val="0"/>
              </a:spcBef>
              <a:spcAft>
                <a:spcPts val="0"/>
              </a:spcAft>
            </a:pPr>
            <a:r>
              <a:rPr sz="950">
                <a:solidFill>
                  <a:srgbClr val="DCDFE4"/>
                </a:solidFill>
                <a:latin typeface="Consolas"/>
              </a:rPr>
              <a:t>Dataset: Somalia Flood Impact Assessment</a:t>
            </a:r>
          </a:p>
          <a:p>
            <a:pPr>
              <a:spcBef>
                <a:spcPts val="0"/>
              </a:spcBef>
              <a:spcAft>
                <a:spcPts val="0"/>
              </a:spcAft>
            </a:pPr>
            <a:r>
              <a:rPr sz="950">
                <a:solidFill>
                  <a:srgbClr val="DCDFE4"/>
                </a:solidFill>
                <a:latin typeface="Consolas"/>
              </a:rPr>
              <a:t>...same metadata...</a:t>
            </a:r>
          </a:p>
          <a:p>
            <a:pPr>
              <a:spcBef>
                <a:spcPts val="0"/>
              </a:spcBef>
              <a:spcAft>
                <a:spcPts val="0"/>
              </a:spcAft>
            </a:pPr>
            <a:endParaRPr sz="950">
              <a:solidFill>
                <a:srgbClr val="DCDFE4"/>
              </a:solidFill>
              <a:latin typeface="Consolas"/>
            </a:endParaRPr>
          </a:p>
          <a:p>
            <a:pPr>
              <a:spcBef>
                <a:spcPts val="0"/>
              </a:spcBef>
              <a:spcAft>
                <a:spcPts val="0"/>
              </a:spcAft>
            </a:pPr>
            <a:r>
              <a:rPr sz="950">
                <a:solidFill>
                  <a:srgbClr val="DCDFE4"/>
                </a:solidFill>
                <a:latin typeface="Consolas"/>
              </a:rPr>
              <a:t>Column headers from resource files:</a:t>
            </a:r>
          </a:p>
          <a:p>
            <a:pPr>
              <a:spcBef>
                <a:spcPts val="0"/>
              </a:spcBef>
              <a:spcAft>
                <a:spcPts val="0"/>
              </a:spcAft>
            </a:pPr>
            <a:r>
              <a:rPr sz="950">
                <a:solidFill>
                  <a:srgbClr val="DCDFE4"/>
                </a:solidFill>
                <a:latin typeface="Consolas"/>
              </a:rPr>
              <a:t>  affected_population.csv:</a:t>
            </a:r>
          </a:p>
          <a:p>
            <a:pPr>
              <a:spcBef>
                <a:spcPts val="0"/>
              </a:spcBef>
              <a:spcAft>
                <a:spcPts val="0"/>
              </a:spcAft>
            </a:pPr>
            <a:r>
              <a:rPr sz="950">
                <a:solidFill>
                  <a:srgbClr val="DCDFE4"/>
                </a:solidFill>
                <a:latin typeface="Consolas"/>
              </a:rPr>
              <a:t>    Region, District, Flood_Date,</a:t>
            </a:r>
          </a:p>
          <a:p>
            <a:pPr>
              <a:spcBef>
                <a:spcPts val="0"/>
              </a:spcBef>
              <a:spcAft>
                <a:spcPts val="0"/>
              </a:spcAft>
            </a:pPr>
            <a:r>
              <a:rPr sz="950">
                <a:solidFill>
                  <a:srgbClr val="DCDFE4"/>
                </a:solidFill>
                <a:latin typeface="Consolas"/>
              </a:rPr>
              <a:t>    People_Affected, People_Displaced,</a:t>
            </a:r>
          </a:p>
          <a:p>
            <a:pPr>
              <a:spcBef>
                <a:spcPts val="0"/>
              </a:spcBef>
              <a:spcAft>
                <a:spcPts val="0"/>
              </a:spcAft>
            </a:pPr>
            <a:r>
              <a:rPr sz="950">
                <a:solidFill>
                  <a:srgbClr val="DCDFE4"/>
                </a:solidFill>
                <a:latin typeface="Consolas"/>
              </a:rPr>
              <a:t>    Households_Affected, Deaths,</a:t>
            </a:r>
          </a:p>
          <a:p>
            <a:pPr>
              <a:spcBef>
                <a:spcPts val="0"/>
              </a:spcBef>
              <a:spcAft>
                <a:spcPts val="0"/>
              </a:spcAft>
            </a:pPr>
            <a:r>
              <a:rPr sz="950">
                <a:solidFill>
                  <a:srgbClr val="DCDFE4"/>
                </a:solidFill>
                <a:latin typeface="Consolas"/>
              </a:rPr>
              <a:t>    Injuries, Houses_Damaged_Total,</a:t>
            </a:r>
          </a:p>
          <a:p>
            <a:pPr>
              <a:spcBef>
                <a:spcPts val="0"/>
              </a:spcBef>
              <a:spcAft>
                <a:spcPts val="0"/>
              </a:spcAft>
            </a:pPr>
            <a:r>
              <a:rPr sz="950">
                <a:solidFill>
                  <a:srgbClr val="DCDFE4"/>
                </a:solidFill>
                <a:latin typeface="Consolas"/>
              </a:rPr>
              <a:t>    Houses_Damaged_Severe</a:t>
            </a:r>
          </a:p>
          <a:p>
            <a:pPr>
              <a:spcBef>
                <a:spcPts val="0"/>
              </a:spcBef>
              <a:spcAft>
                <a:spcPts val="0"/>
              </a:spcAft>
            </a:pPr>
            <a:endParaRPr sz="950">
              <a:solidFill>
                <a:srgbClr val="DCDFE4"/>
              </a:solidFill>
              <a:latin typeface="Consolas"/>
            </a:endParaRPr>
          </a:p>
          <a:p>
            <a:pPr>
              <a:spcBef>
                <a:spcPts val="0"/>
              </a:spcBef>
              <a:spcAft>
                <a:spcPts val="0"/>
              </a:spcAft>
            </a:pPr>
            <a:r>
              <a:rPr sz="950">
                <a:solidFill>
                  <a:srgbClr val="DCDFE4"/>
                </a:solidFill>
                <a:latin typeface="Consolas"/>
              </a:rPr>
              <a:t>LLM sees: displacement + deaths + damage</a:t>
            </a:r>
          </a:p>
          <a:p>
            <a:pPr>
              <a:spcBef>
                <a:spcPts val="0"/>
              </a:spcBef>
              <a:spcAft>
                <a:spcPts val="0"/>
              </a:spcAft>
            </a:pPr>
            <a:r>
              <a:rPr sz="950">
                <a:solidFill>
                  <a:srgbClr val="DCDFE4"/>
                </a:solidFill>
                <a:latin typeface="Consolas"/>
              </a:rPr>
              <a:t>          --&gt; Loss only.  No flood depth.</a:t>
            </a:r>
          </a:p>
        </p:txBody>
      </p:sp>
      <p:sp>
        <p:nvSpPr>
          <p:cNvPr id="15" name="Rectangle 14"/>
          <p:cNvSpPr/>
          <p:nvPr/>
        </p:nvSpPr>
        <p:spPr>
          <a:xfrm>
            <a:off x="411480" y="3977639"/>
            <a:ext cx="11338560" cy="658368"/>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11480" y="3977639"/>
            <a:ext cx="50800" cy="658368"/>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89280" y="4053839"/>
            <a:ext cx="11084560" cy="430887"/>
          </a:xfrm>
          <a:prstGeom prst="rect">
            <a:avLst/>
          </a:prstGeom>
          <a:noFill/>
        </p:spPr>
        <p:txBody>
          <a:bodyPr wrap="square" lIns="0" tIns="0" rIns="0" bIns="0">
            <a:spAutoFit/>
          </a:bodyPr>
          <a:lstStyle/>
          <a:p>
            <a:r>
              <a:rPr sz="1400" b="0" dirty="0">
                <a:solidFill>
                  <a:srgbClr val="383A42"/>
                </a:solidFill>
                <a:latin typeface="Calibri"/>
              </a:rPr>
              <a:t>One-time CKAN API crawl: 88,327 resources queried (~48 hours). Column headers cached to disk. Available for 48,719 of 26,246 datasets. Zero cost on every subsequent run.</a:t>
            </a:r>
          </a:p>
        </p:txBody>
      </p:sp>
      <p:sp>
        <p:nvSpPr>
          <p:cNvPr id="18" name="TextBox 17"/>
          <p:cNvSpPr txBox="1"/>
          <p:nvPr/>
        </p:nvSpPr>
        <p:spPr>
          <a:xfrm>
            <a:off x="411480" y="4839955"/>
            <a:ext cx="11338560" cy="246221"/>
          </a:xfrm>
          <a:prstGeom prst="rect">
            <a:avLst/>
          </a:prstGeom>
          <a:noFill/>
        </p:spPr>
        <p:txBody>
          <a:bodyPr wrap="square" lIns="0" tIns="0" rIns="0" bIns="0">
            <a:spAutoFit/>
          </a:bodyPr>
          <a:lstStyle/>
          <a:p>
            <a:pPr algn="l"/>
            <a:r>
              <a:rPr sz="1400" b="1" dirty="0">
                <a:solidFill>
                  <a:srgbClr val="383A42"/>
                </a:solidFill>
                <a:latin typeface="Calibri"/>
              </a:rPr>
              <a:t>"</a:t>
            </a:r>
            <a:r>
              <a:rPr sz="1400" b="1" dirty="0" err="1">
                <a:solidFill>
                  <a:srgbClr val="383A42"/>
                </a:solidFill>
                <a:latin typeface="Calibri"/>
              </a:rPr>
              <a:t>Building_Damaged_</a:t>
            </a:r>
            <a:r>
              <a:rPr sz="1600" b="1" dirty="0" err="1">
                <a:solidFill>
                  <a:srgbClr val="383A42"/>
                </a:solidFill>
                <a:latin typeface="Calibri"/>
              </a:rPr>
              <a:t>Severe</a:t>
            </a:r>
            <a:r>
              <a:rPr sz="1400" b="1" dirty="0">
                <a:solidFill>
                  <a:srgbClr val="383A42"/>
                </a:solidFill>
                <a:latin typeface="Calibri"/>
              </a:rPr>
              <a:t>"  is unambiguous in a way that "damaged buildings" in a dataset title is not.</a:t>
            </a:r>
          </a:p>
        </p:txBody>
      </p:sp>
      <p:sp>
        <p:nvSpPr>
          <p:cNvPr id="19" name="Rectangle 18"/>
          <p:cNvSpPr/>
          <p:nvPr/>
        </p:nvSpPr>
        <p:spPr>
          <a:xfrm>
            <a:off x="411480" y="5321808"/>
            <a:ext cx="11338560" cy="658368"/>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11480" y="5321808"/>
            <a:ext cx="50800" cy="658368"/>
          </a:xfrm>
          <a:prstGeom prst="rect">
            <a:avLst/>
          </a:prstGeom>
          <a:solidFill>
            <a:srgbClr val="50A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89280" y="5429812"/>
            <a:ext cx="11084560" cy="215444"/>
          </a:xfrm>
          <a:prstGeom prst="rect">
            <a:avLst/>
          </a:prstGeom>
          <a:noFill/>
        </p:spPr>
        <p:txBody>
          <a:bodyPr wrap="square" lIns="0" tIns="0" rIns="0" bIns="0">
            <a:spAutoFit/>
          </a:bodyPr>
          <a:lstStyle/>
          <a:p>
            <a:r>
              <a:rPr sz="1400" b="1" dirty="0">
                <a:solidFill>
                  <a:srgbClr val="383A42"/>
                </a:solidFill>
                <a:latin typeface="Calibri"/>
              </a:rPr>
              <a:t>Lesson: for distinguishing data content from context, actual column headers outperform any amount of title and tag analysis.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dirty="0">
                <a:solidFill>
                  <a:srgbClr val="0184BC"/>
                </a:solidFill>
                <a:latin typeface="Calibri"/>
              </a:rPr>
              <a:t>Act 2: Precision Over Scale</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Exact RDLS definitions in the prompt - teaching the model the semantic boundary itself</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11 / 26</a:t>
            </a:r>
          </a:p>
        </p:txBody>
      </p:sp>
      <p:sp>
        <p:nvSpPr>
          <p:cNvPr id="7" name="Rectangle 6"/>
          <p:cNvSpPr/>
          <p:nvPr/>
        </p:nvSpPr>
        <p:spPr>
          <a:xfrm>
            <a:off x="411480" y="1103638"/>
            <a:ext cx="11338560" cy="4462272"/>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11480" y="1103638"/>
            <a:ext cx="38100" cy="4462272"/>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8480" y="1205238"/>
            <a:ext cx="5360442" cy="3077766"/>
          </a:xfrm>
          <a:prstGeom prst="rect">
            <a:avLst/>
          </a:prstGeom>
          <a:noFill/>
        </p:spPr>
        <p:txBody>
          <a:bodyPr wrap="none" lIns="0" tIns="0" rIns="0" bIns="0">
            <a:spAutoFit/>
          </a:bodyPr>
          <a:lstStyle/>
          <a:p>
            <a:pPr>
              <a:spcBef>
                <a:spcPts val="0"/>
              </a:spcBef>
              <a:spcAft>
                <a:spcPts val="0"/>
              </a:spcAft>
            </a:pPr>
            <a:r>
              <a:rPr sz="1000" dirty="0">
                <a:solidFill>
                  <a:srgbClr val="DCDFE4"/>
                </a:solidFill>
                <a:latin typeface="Consolas"/>
              </a:rPr>
              <a:t>RDLS Component Definitions  (from LLM prompt)</a:t>
            </a:r>
          </a:p>
          <a:p>
            <a:pPr>
              <a:spcBef>
                <a:spcPts val="0"/>
              </a:spcBef>
              <a:spcAft>
                <a:spcPts val="0"/>
              </a:spcAft>
            </a:pPr>
            <a:r>
              <a:rPr sz="1000" dirty="0">
                <a:solidFill>
                  <a:srgbClr val="DCDFE4"/>
                </a:solidFill>
                <a:latin typeface="Consolas"/>
              </a:rPr>
              <a:t>────────────────────────────────────────────────────────────────────────</a:t>
            </a:r>
          </a:p>
          <a:p>
            <a:pPr>
              <a:spcBef>
                <a:spcPts val="0"/>
              </a:spcBef>
              <a:spcAft>
                <a:spcPts val="0"/>
              </a:spcAft>
            </a:pPr>
            <a:endParaRPr sz="1000" dirty="0">
              <a:solidFill>
                <a:srgbClr val="DCDFE4"/>
              </a:solidFill>
              <a:latin typeface="Consolas"/>
            </a:endParaRPr>
          </a:p>
          <a:p>
            <a:pPr>
              <a:spcBef>
                <a:spcPts val="0"/>
              </a:spcBef>
              <a:spcAft>
                <a:spcPts val="0"/>
              </a:spcAft>
            </a:pPr>
            <a:r>
              <a:rPr sz="1000" dirty="0">
                <a:solidFill>
                  <a:srgbClr val="DCDFE4"/>
                </a:solidFill>
                <a:latin typeface="Consolas"/>
              </a:rPr>
              <a:t>Hazard:       </a:t>
            </a:r>
            <a:r>
              <a:rPr lang="en-US" sz="1000" dirty="0">
                <a:solidFill>
                  <a:srgbClr val="DCDFE4"/>
                </a:solidFill>
                <a:latin typeface="Consolas"/>
              </a:rPr>
              <a:t> </a:t>
            </a:r>
            <a:r>
              <a:rPr sz="1000" dirty="0">
                <a:solidFill>
                  <a:srgbClr val="DCDFE4"/>
                </a:solidFill>
                <a:latin typeface="Consolas"/>
              </a:rPr>
              <a:t>The dataset CONTAINS hazard measurements or models.</a:t>
            </a:r>
          </a:p>
          <a:p>
            <a:pPr>
              <a:spcBef>
                <a:spcPts val="0"/>
              </a:spcBef>
              <a:spcAft>
                <a:spcPts val="0"/>
              </a:spcAft>
            </a:pPr>
            <a:r>
              <a:rPr sz="1000" dirty="0">
                <a:solidFill>
                  <a:srgbClr val="DCDFE4"/>
                </a:solidFill>
                <a:latin typeface="Consolas"/>
              </a:rPr>
              <a:t>              </a:t>
            </a:r>
            <a:r>
              <a:rPr lang="en-US" sz="1000" dirty="0">
                <a:solidFill>
                  <a:srgbClr val="DCDFE4"/>
                </a:solidFill>
                <a:latin typeface="Consolas"/>
              </a:rPr>
              <a:t> </a:t>
            </a:r>
            <a:r>
              <a:rPr sz="1000" dirty="0">
                <a:solidFill>
                  <a:srgbClr val="DCDFE4"/>
                </a:solidFill>
                <a:latin typeface="Consolas"/>
              </a:rPr>
              <a:t>A dataset that merely REFERENCES a hazard event does NOT</a:t>
            </a:r>
          </a:p>
          <a:p>
            <a:pPr>
              <a:spcBef>
                <a:spcPts val="0"/>
              </a:spcBef>
              <a:spcAft>
                <a:spcPts val="0"/>
              </a:spcAft>
            </a:pPr>
            <a:r>
              <a:rPr sz="1000" dirty="0">
                <a:solidFill>
                  <a:srgbClr val="DCDFE4"/>
                </a:solidFill>
                <a:latin typeface="Consolas"/>
              </a:rPr>
              <a:t>              </a:t>
            </a:r>
            <a:r>
              <a:rPr lang="en-US" sz="1000" dirty="0">
                <a:solidFill>
                  <a:srgbClr val="DCDFE4"/>
                </a:solidFill>
                <a:latin typeface="Consolas"/>
              </a:rPr>
              <a:t> </a:t>
            </a:r>
            <a:r>
              <a:rPr sz="1000" dirty="0">
                <a:solidFill>
                  <a:srgbClr val="DCDFE4"/>
                </a:solidFill>
                <a:latin typeface="Consolas"/>
              </a:rPr>
              <a:t>contain hazard data.</a:t>
            </a:r>
          </a:p>
          <a:p>
            <a:pPr>
              <a:spcBef>
                <a:spcPts val="0"/>
              </a:spcBef>
              <a:spcAft>
                <a:spcPts val="0"/>
              </a:spcAft>
            </a:pPr>
            <a:r>
              <a:rPr sz="1000" dirty="0">
                <a:solidFill>
                  <a:srgbClr val="DCDFE4"/>
                </a:solidFill>
                <a:latin typeface="Consolas"/>
              </a:rPr>
              <a:t>              </a:t>
            </a:r>
            <a:r>
              <a:rPr lang="en-US" sz="1000" dirty="0">
                <a:solidFill>
                  <a:srgbClr val="DCDFE4"/>
                </a:solidFill>
                <a:latin typeface="Consolas"/>
              </a:rPr>
              <a:t> </a:t>
            </a:r>
            <a:r>
              <a:rPr sz="1000" dirty="0">
                <a:solidFill>
                  <a:srgbClr val="DCDFE4"/>
                </a:solidFill>
                <a:latin typeface="Consolas"/>
              </a:rPr>
              <a:t>Required: measurement values, model outputs, intensity grids.</a:t>
            </a:r>
          </a:p>
          <a:p>
            <a:pPr>
              <a:spcBef>
                <a:spcPts val="0"/>
              </a:spcBef>
              <a:spcAft>
                <a:spcPts val="0"/>
              </a:spcAft>
            </a:pPr>
            <a:endParaRPr sz="1000" dirty="0">
              <a:solidFill>
                <a:srgbClr val="DCDFE4"/>
              </a:solidFill>
              <a:latin typeface="Consolas"/>
            </a:endParaRPr>
          </a:p>
          <a:p>
            <a:pPr>
              <a:spcBef>
                <a:spcPts val="0"/>
              </a:spcBef>
              <a:spcAft>
                <a:spcPts val="0"/>
              </a:spcAft>
            </a:pPr>
            <a:r>
              <a:rPr sz="1000" dirty="0">
                <a:solidFill>
                  <a:srgbClr val="DCDFE4"/>
                </a:solidFill>
                <a:latin typeface="Consolas"/>
              </a:rPr>
              <a:t>Exposure:     </a:t>
            </a:r>
            <a:r>
              <a:rPr lang="en-US" sz="1000" dirty="0">
                <a:solidFill>
                  <a:srgbClr val="DCDFE4"/>
                </a:solidFill>
                <a:latin typeface="Consolas"/>
              </a:rPr>
              <a:t> </a:t>
            </a:r>
            <a:r>
              <a:rPr sz="1000" dirty="0">
                <a:solidFill>
                  <a:srgbClr val="DCDFE4"/>
                </a:solidFill>
                <a:latin typeface="Consolas"/>
              </a:rPr>
              <a:t>The dataset CONTAINS spatial inventories of assets at risk.</a:t>
            </a:r>
          </a:p>
          <a:p>
            <a:pPr>
              <a:spcBef>
                <a:spcPts val="0"/>
              </a:spcBef>
              <a:spcAft>
                <a:spcPts val="0"/>
              </a:spcAft>
            </a:pPr>
            <a:r>
              <a:rPr sz="1000" dirty="0">
                <a:solidFill>
                  <a:srgbClr val="DCDFE4"/>
                </a:solidFill>
                <a:latin typeface="Consolas"/>
              </a:rPr>
              <a:t>              </a:t>
            </a:r>
            <a:r>
              <a:rPr lang="en-US" sz="1000" dirty="0">
                <a:solidFill>
                  <a:srgbClr val="DCDFE4"/>
                </a:solidFill>
                <a:latin typeface="Consolas"/>
              </a:rPr>
              <a:t> </a:t>
            </a:r>
            <a:r>
              <a:rPr sz="1000" dirty="0">
                <a:solidFill>
                  <a:srgbClr val="DCDFE4"/>
                </a:solidFill>
                <a:latin typeface="Consolas"/>
              </a:rPr>
              <a:t>A dataset that mentions affected populations does NOT contain</a:t>
            </a:r>
          </a:p>
          <a:p>
            <a:pPr>
              <a:spcBef>
                <a:spcPts val="0"/>
              </a:spcBef>
              <a:spcAft>
                <a:spcPts val="0"/>
              </a:spcAft>
            </a:pPr>
            <a:r>
              <a:rPr sz="1000" dirty="0">
                <a:solidFill>
                  <a:srgbClr val="DCDFE4"/>
                </a:solidFill>
                <a:latin typeface="Consolas"/>
              </a:rPr>
              <a:t>              </a:t>
            </a:r>
            <a:r>
              <a:rPr lang="en-US" sz="1000" dirty="0">
                <a:solidFill>
                  <a:srgbClr val="DCDFE4"/>
                </a:solidFill>
                <a:latin typeface="Consolas"/>
              </a:rPr>
              <a:t> </a:t>
            </a:r>
            <a:r>
              <a:rPr sz="1000" dirty="0">
                <a:solidFill>
                  <a:srgbClr val="DCDFE4"/>
                </a:solidFill>
                <a:latin typeface="Consolas"/>
              </a:rPr>
              <a:t>exposure data unless it provides an asset inventory.</a:t>
            </a:r>
          </a:p>
          <a:p>
            <a:pPr>
              <a:spcBef>
                <a:spcPts val="0"/>
              </a:spcBef>
              <a:spcAft>
                <a:spcPts val="0"/>
              </a:spcAft>
            </a:pPr>
            <a:r>
              <a:rPr sz="1000" dirty="0">
                <a:solidFill>
                  <a:srgbClr val="DCDFE4"/>
                </a:solidFill>
                <a:latin typeface="Consolas"/>
              </a:rPr>
              <a:t>              </a:t>
            </a:r>
            <a:r>
              <a:rPr lang="en-US" sz="1000" dirty="0">
                <a:solidFill>
                  <a:srgbClr val="DCDFE4"/>
                </a:solidFill>
                <a:latin typeface="Consolas"/>
              </a:rPr>
              <a:t> </a:t>
            </a:r>
            <a:r>
              <a:rPr sz="1000" dirty="0">
                <a:solidFill>
                  <a:srgbClr val="DCDFE4"/>
                </a:solidFill>
                <a:latin typeface="Consolas"/>
              </a:rPr>
              <a:t>Required: building locations/counts, population grids.</a:t>
            </a:r>
          </a:p>
          <a:p>
            <a:pPr>
              <a:spcBef>
                <a:spcPts val="0"/>
              </a:spcBef>
              <a:spcAft>
                <a:spcPts val="0"/>
              </a:spcAft>
            </a:pPr>
            <a:endParaRPr sz="1000" dirty="0">
              <a:solidFill>
                <a:srgbClr val="DCDFE4"/>
              </a:solidFill>
              <a:latin typeface="Consolas"/>
            </a:endParaRPr>
          </a:p>
          <a:p>
            <a:pPr>
              <a:spcBef>
                <a:spcPts val="0"/>
              </a:spcBef>
              <a:spcAft>
                <a:spcPts val="0"/>
              </a:spcAft>
            </a:pPr>
            <a:r>
              <a:rPr sz="1000" dirty="0">
                <a:solidFill>
                  <a:srgbClr val="DCDFE4"/>
                </a:solidFill>
                <a:latin typeface="Consolas"/>
              </a:rPr>
              <a:t>Vulnerability: The dataset CONTAINS damage or fragility functions.</a:t>
            </a:r>
          </a:p>
          <a:p>
            <a:pPr>
              <a:spcBef>
                <a:spcPts val="0"/>
              </a:spcBef>
              <a:spcAft>
                <a:spcPts val="0"/>
              </a:spcAft>
            </a:pPr>
            <a:r>
              <a:rPr sz="1000" dirty="0">
                <a:solidFill>
                  <a:srgbClr val="DCDFE4"/>
                </a:solidFill>
                <a:latin typeface="Consolas"/>
              </a:rPr>
              <a:t>              </a:t>
            </a:r>
            <a:r>
              <a:rPr lang="en-US" sz="1000" dirty="0">
                <a:solidFill>
                  <a:srgbClr val="DCDFE4"/>
                </a:solidFill>
                <a:latin typeface="Consolas"/>
              </a:rPr>
              <a:t> </a:t>
            </a:r>
            <a:r>
              <a:rPr sz="1000" dirty="0">
                <a:solidFill>
                  <a:srgbClr val="DCDFE4"/>
                </a:solidFill>
                <a:latin typeface="Consolas"/>
              </a:rPr>
              <a:t>Required: curves or matrices relating hazard intensity</a:t>
            </a:r>
          </a:p>
          <a:p>
            <a:pPr>
              <a:spcBef>
                <a:spcPts val="0"/>
              </a:spcBef>
              <a:spcAft>
                <a:spcPts val="0"/>
              </a:spcAft>
            </a:pPr>
            <a:r>
              <a:rPr sz="1000" dirty="0">
                <a:solidFill>
                  <a:srgbClr val="DCDFE4"/>
                </a:solidFill>
                <a:latin typeface="Consolas"/>
              </a:rPr>
              <a:t>              </a:t>
            </a:r>
            <a:r>
              <a:rPr lang="en-US" sz="1000" dirty="0">
                <a:solidFill>
                  <a:srgbClr val="DCDFE4"/>
                </a:solidFill>
                <a:latin typeface="Consolas"/>
              </a:rPr>
              <a:t> </a:t>
            </a:r>
            <a:r>
              <a:rPr sz="1000" dirty="0">
                <a:solidFill>
                  <a:srgbClr val="DCDFE4"/>
                </a:solidFill>
                <a:latin typeface="Consolas"/>
              </a:rPr>
              <a:t>to expected damage rate.</a:t>
            </a:r>
          </a:p>
          <a:p>
            <a:pPr>
              <a:spcBef>
                <a:spcPts val="0"/>
              </a:spcBef>
              <a:spcAft>
                <a:spcPts val="0"/>
              </a:spcAft>
            </a:pPr>
            <a:endParaRPr sz="1000" dirty="0">
              <a:solidFill>
                <a:srgbClr val="DCDFE4"/>
              </a:solidFill>
              <a:latin typeface="Consolas"/>
            </a:endParaRPr>
          </a:p>
          <a:p>
            <a:pPr>
              <a:spcBef>
                <a:spcPts val="0"/>
              </a:spcBef>
              <a:spcAft>
                <a:spcPts val="0"/>
              </a:spcAft>
            </a:pPr>
            <a:r>
              <a:rPr sz="1000" dirty="0">
                <a:solidFill>
                  <a:srgbClr val="DCDFE4"/>
                </a:solidFill>
                <a:latin typeface="Consolas"/>
              </a:rPr>
              <a:t>Loss:         </a:t>
            </a:r>
            <a:r>
              <a:rPr lang="en-US" sz="1000" dirty="0">
                <a:solidFill>
                  <a:srgbClr val="DCDFE4"/>
                </a:solidFill>
                <a:latin typeface="Consolas"/>
              </a:rPr>
              <a:t> </a:t>
            </a:r>
            <a:r>
              <a:rPr sz="1000" dirty="0">
                <a:solidFill>
                  <a:srgbClr val="DCDFE4"/>
                </a:solidFill>
                <a:latin typeface="Consolas"/>
              </a:rPr>
              <a:t>The dataset CONTAINS post-event impact data.</a:t>
            </a:r>
          </a:p>
          <a:p>
            <a:pPr>
              <a:spcBef>
                <a:spcPts val="0"/>
              </a:spcBef>
              <a:spcAft>
                <a:spcPts val="0"/>
              </a:spcAft>
            </a:pPr>
            <a:r>
              <a:rPr sz="1000" dirty="0">
                <a:solidFill>
                  <a:srgbClr val="DCDFE4"/>
                </a:solidFill>
                <a:latin typeface="Consolas"/>
              </a:rPr>
              <a:t>              </a:t>
            </a:r>
            <a:r>
              <a:rPr lang="en-US" sz="1000" dirty="0">
                <a:solidFill>
                  <a:srgbClr val="DCDFE4"/>
                </a:solidFill>
                <a:latin typeface="Consolas"/>
              </a:rPr>
              <a:t> </a:t>
            </a:r>
            <a:r>
              <a:rPr sz="1000" dirty="0">
                <a:solidFill>
                  <a:srgbClr val="DCDFE4"/>
                </a:solidFill>
                <a:latin typeface="Consolas"/>
              </a:rPr>
              <a:t>Casualties, displacement, damage status, economic losses</a:t>
            </a:r>
          </a:p>
          <a:p>
            <a:pPr>
              <a:spcBef>
                <a:spcPts val="0"/>
              </a:spcBef>
              <a:spcAft>
                <a:spcPts val="0"/>
              </a:spcAft>
            </a:pPr>
            <a:r>
              <a:rPr sz="1000" dirty="0">
                <a:solidFill>
                  <a:srgbClr val="DCDFE4"/>
                </a:solidFill>
                <a:latin typeface="Consolas"/>
              </a:rPr>
              <a:t>              </a:t>
            </a:r>
            <a:r>
              <a:rPr lang="en-US" sz="1000" dirty="0">
                <a:solidFill>
                  <a:srgbClr val="DCDFE4"/>
                </a:solidFill>
                <a:latin typeface="Consolas"/>
              </a:rPr>
              <a:t> </a:t>
            </a:r>
            <a:r>
              <a:rPr sz="1000" dirty="0">
                <a:solidFill>
                  <a:srgbClr val="DCDFE4"/>
                </a:solidFill>
                <a:latin typeface="Consolas"/>
              </a:rPr>
              <a:t>measured after an event occurred.</a:t>
            </a:r>
          </a:p>
        </p:txBody>
      </p:sp>
      <p:sp>
        <p:nvSpPr>
          <p:cNvPr id="10" name="Rectangle 9"/>
          <p:cNvSpPr/>
          <p:nvPr/>
        </p:nvSpPr>
        <p:spPr>
          <a:xfrm>
            <a:off x="411480" y="5675638"/>
            <a:ext cx="11338560" cy="804672"/>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11480" y="5675638"/>
            <a:ext cx="50800" cy="804672"/>
          </a:xfrm>
          <a:prstGeom prst="rect">
            <a:avLst/>
          </a:prstGeom>
          <a:solidFill>
            <a:srgbClr val="50A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9280" y="5783642"/>
            <a:ext cx="11084560" cy="430887"/>
          </a:xfrm>
          <a:prstGeom prst="rect">
            <a:avLst/>
          </a:prstGeom>
          <a:noFill/>
        </p:spPr>
        <p:txBody>
          <a:bodyPr wrap="square" lIns="0" tIns="0" rIns="0" bIns="0">
            <a:spAutoFit/>
          </a:bodyPr>
          <a:lstStyle/>
          <a:p>
            <a:r>
              <a:rPr sz="1400" b="1" dirty="0">
                <a:solidFill>
                  <a:srgbClr val="383A42"/>
                </a:solidFill>
                <a:latin typeface="Calibri"/>
              </a:rPr>
              <a:t>Finding: with these definitions, Claude Haiku (the smallest, cheapest model) achieved 94% average confidence with effectively zero classification errors. Prompt precision beats model scale for structured classification tasks.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a:solidFill>
                  <a:srgbClr val="0184BC"/>
                </a:solidFill>
                <a:latin typeface="Calibri"/>
              </a:rPr>
              <a:t>Act 2: Results</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7,146 RDLS-relevant records - 3,511 reclassified, 5,448 non-risk separated</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12 / 26</a:t>
            </a:r>
          </a:p>
        </p:txBody>
      </p:sp>
      <p:graphicFrame>
        <p:nvGraphicFramePr>
          <p:cNvPr id="7" name="Table 6"/>
          <p:cNvGraphicFramePr>
            <a:graphicFrameLocks noGrp="1"/>
          </p:cNvGraphicFramePr>
          <p:nvPr>
            <p:extLst>
              <p:ext uri="{D42A27DB-BD31-4B8C-83A1-F6EECF244321}">
                <p14:modId xmlns:p14="http://schemas.microsoft.com/office/powerpoint/2010/main" val="825428641"/>
              </p:ext>
            </p:extLst>
          </p:nvPr>
        </p:nvGraphicFramePr>
        <p:xfrm>
          <a:off x="411480" y="1024128"/>
          <a:ext cx="7772400" cy="3291840"/>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411480">
                <a:tc>
                  <a:txBody>
                    <a:bodyPr/>
                    <a:lstStyle/>
                    <a:p>
                      <a:pPr algn="ctr"/>
                      <a:r>
                        <a:rPr sz="1400" b="1" dirty="0">
                          <a:solidFill>
                            <a:srgbClr val="FFFFFF"/>
                          </a:solidFill>
                          <a:latin typeface="Calibri"/>
                        </a:rPr>
                        <a:t>Metric</a:t>
                      </a:r>
                    </a:p>
                  </a:txBody>
                  <a:tcPr>
                    <a:solidFill>
                      <a:srgbClr val="383A42"/>
                    </a:solidFill>
                  </a:tcPr>
                </a:tc>
                <a:tc>
                  <a:txBody>
                    <a:bodyPr/>
                    <a:lstStyle/>
                    <a:p>
                      <a:pPr algn="ctr"/>
                      <a:r>
                        <a:rPr sz="1400" b="1" dirty="0">
                          <a:solidFill>
                            <a:srgbClr val="FFFFFF"/>
                          </a:solidFill>
                          <a:latin typeface="Calibri"/>
                        </a:rPr>
                        <a:t>Count</a:t>
                      </a:r>
                    </a:p>
                  </a:txBody>
                  <a:tcPr>
                    <a:solidFill>
                      <a:srgbClr val="383A42"/>
                    </a:solidFill>
                  </a:tcPr>
                </a:tc>
                <a:tc>
                  <a:txBody>
                    <a:bodyPr/>
                    <a:lstStyle/>
                    <a:p>
                      <a:pPr algn="ctr"/>
                      <a:r>
                        <a:rPr sz="1400" b="1" dirty="0">
                          <a:solidFill>
                            <a:srgbClr val="FFFFFF"/>
                          </a:solidFill>
                          <a:latin typeface="Calibri"/>
                        </a:rPr>
                        <a:t>Note</a:t>
                      </a:r>
                    </a:p>
                  </a:txBody>
                  <a:tcPr>
                    <a:solidFill>
                      <a:srgbClr val="383A42"/>
                    </a:solidFill>
                  </a:tcPr>
                </a:tc>
                <a:extLst>
                  <a:ext uri="{0D108BD9-81ED-4DB2-BD59-A6C34878D82A}">
                    <a16:rowId xmlns:a16="http://schemas.microsoft.com/office/drawing/2014/main" val="10000"/>
                  </a:ext>
                </a:extLst>
              </a:tr>
              <a:tr h="411480">
                <a:tc>
                  <a:txBody>
                    <a:bodyPr/>
                    <a:lstStyle/>
                    <a:p>
                      <a:pPr algn="l"/>
                      <a:r>
                        <a:rPr sz="1100" b="0">
                          <a:solidFill>
                            <a:srgbClr val="383A42"/>
                          </a:solidFill>
                          <a:latin typeface="Calibri"/>
                        </a:rPr>
                        <a:t>RDLS candidates (input)</a:t>
                      </a:r>
                    </a:p>
                  </a:txBody>
                  <a:tcPr>
                    <a:solidFill>
                      <a:srgbClr val="FFFFFF"/>
                    </a:solidFill>
                  </a:tcPr>
                </a:tc>
                <a:tc>
                  <a:txBody>
                    <a:bodyPr/>
                    <a:lstStyle/>
                    <a:p>
                      <a:pPr algn="l"/>
                      <a:r>
                        <a:rPr sz="1100" b="0">
                          <a:solidFill>
                            <a:srgbClr val="383A42"/>
                          </a:solidFill>
                          <a:latin typeface="Calibri"/>
                        </a:rPr>
                        <a:t>12,594</a:t>
                      </a:r>
                    </a:p>
                  </a:txBody>
                  <a:tcPr>
                    <a:solidFill>
                      <a:srgbClr val="FFFFFF"/>
                    </a:solidFill>
                  </a:tcPr>
                </a:tc>
                <a:tc>
                  <a:txBody>
                    <a:bodyPr/>
                    <a:lstStyle/>
                    <a:p>
                      <a:pPr algn="l"/>
                      <a:r>
                        <a:rPr sz="1100" b="0">
                          <a:solidFill>
                            <a:srgbClr val="383A42"/>
                          </a:solidFill>
                          <a:latin typeface="Calibri"/>
                        </a:rPr>
                        <a:t>From regex pre-screen</a:t>
                      </a:r>
                    </a:p>
                  </a:txBody>
                  <a:tcPr>
                    <a:solidFill>
                      <a:srgbClr val="FFFFFF"/>
                    </a:solidFill>
                  </a:tcPr>
                </a:tc>
                <a:extLst>
                  <a:ext uri="{0D108BD9-81ED-4DB2-BD59-A6C34878D82A}">
                    <a16:rowId xmlns:a16="http://schemas.microsoft.com/office/drawing/2014/main" val="10001"/>
                  </a:ext>
                </a:extLst>
              </a:tr>
              <a:tr h="411480">
                <a:tc>
                  <a:txBody>
                    <a:bodyPr/>
                    <a:lstStyle/>
                    <a:p>
                      <a:pPr algn="l"/>
                      <a:r>
                        <a:rPr sz="1100" b="0">
                          <a:solidFill>
                            <a:srgbClr val="383A42"/>
                          </a:solidFill>
                          <a:latin typeface="Calibri"/>
                        </a:rPr>
                        <a:t>Records sent to LLM</a:t>
                      </a:r>
                    </a:p>
                  </a:txBody>
                  <a:tcPr>
                    <a:solidFill>
                      <a:srgbClr val="F0F0F2"/>
                    </a:solidFill>
                  </a:tcPr>
                </a:tc>
                <a:tc>
                  <a:txBody>
                    <a:bodyPr/>
                    <a:lstStyle/>
                    <a:p>
                      <a:pPr algn="l"/>
                      <a:r>
                        <a:rPr sz="1100" b="0">
                          <a:solidFill>
                            <a:srgbClr val="383A42"/>
                          </a:solidFill>
                          <a:latin typeface="Calibri"/>
                        </a:rPr>
                        <a:t>8,506</a:t>
                      </a:r>
                    </a:p>
                  </a:txBody>
                  <a:tcPr>
                    <a:solidFill>
                      <a:srgbClr val="F0F0F2"/>
                    </a:solidFill>
                  </a:tcPr>
                </a:tc>
                <a:tc>
                  <a:txBody>
                    <a:bodyPr/>
                    <a:lstStyle/>
                    <a:p>
                      <a:pPr algn="l"/>
                      <a:r>
                        <a:rPr sz="1100" b="0">
                          <a:solidFill>
                            <a:srgbClr val="383A42"/>
                          </a:solidFill>
                          <a:latin typeface="Calibri"/>
                        </a:rPr>
                        <a:t>Ambiguous + validation sample</a:t>
                      </a:r>
                    </a:p>
                  </a:txBody>
                  <a:tcPr>
                    <a:solidFill>
                      <a:srgbClr val="F0F0F2"/>
                    </a:solidFill>
                  </a:tcPr>
                </a:tc>
                <a:extLst>
                  <a:ext uri="{0D108BD9-81ED-4DB2-BD59-A6C34878D82A}">
                    <a16:rowId xmlns:a16="http://schemas.microsoft.com/office/drawing/2014/main" val="10002"/>
                  </a:ext>
                </a:extLst>
              </a:tr>
              <a:tr h="411480">
                <a:tc>
                  <a:txBody>
                    <a:bodyPr/>
                    <a:lstStyle/>
                    <a:p>
                      <a:pPr algn="l"/>
                      <a:r>
                        <a:rPr sz="1100" b="0">
                          <a:solidFill>
                            <a:srgbClr val="383A42"/>
                          </a:solidFill>
                          <a:latin typeface="Calibri"/>
                        </a:rPr>
                        <a:t>Reclassified by LLM</a:t>
                      </a:r>
                    </a:p>
                  </a:txBody>
                  <a:tcPr>
                    <a:solidFill>
                      <a:srgbClr val="FFFFFF"/>
                    </a:solidFill>
                  </a:tcPr>
                </a:tc>
                <a:tc>
                  <a:txBody>
                    <a:bodyPr/>
                    <a:lstStyle/>
                    <a:p>
                      <a:pPr algn="l"/>
                      <a:r>
                        <a:rPr sz="1100" b="0">
                          <a:solidFill>
                            <a:srgbClr val="383A42"/>
                          </a:solidFill>
                          <a:latin typeface="Calibri"/>
                        </a:rPr>
                        <a:t>3,511</a:t>
                      </a:r>
                    </a:p>
                  </a:txBody>
                  <a:tcPr>
                    <a:solidFill>
                      <a:srgbClr val="FFFFFF"/>
                    </a:solidFill>
                  </a:tcPr>
                </a:tc>
                <a:tc>
                  <a:txBody>
                    <a:bodyPr/>
                    <a:lstStyle/>
                    <a:p>
                      <a:pPr algn="l"/>
                      <a:r>
                        <a:rPr sz="1100" b="0">
                          <a:solidFill>
                            <a:srgbClr val="383A42"/>
                          </a:solidFill>
                          <a:latin typeface="Calibri"/>
                        </a:rPr>
                        <a:t>27.9% of input</a:t>
                      </a:r>
                    </a:p>
                  </a:txBody>
                  <a:tcPr>
                    <a:solidFill>
                      <a:srgbClr val="FFFFFF"/>
                    </a:solidFill>
                  </a:tcPr>
                </a:tc>
                <a:extLst>
                  <a:ext uri="{0D108BD9-81ED-4DB2-BD59-A6C34878D82A}">
                    <a16:rowId xmlns:a16="http://schemas.microsoft.com/office/drawing/2014/main" val="10003"/>
                  </a:ext>
                </a:extLst>
              </a:tr>
              <a:tr h="411480">
                <a:tc>
                  <a:txBody>
                    <a:bodyPr/>
                    <a:lstStyle/>
                    <a:p>
                      <a:pPr algn="l"/>
                      <a:r>
                        <a:rPr sz="1100" b="0">
                          <a:solidFill>
                            <a:srgbClr val="383A42"/>
                          </a:solidFill>
                          <a:latin typeface="Calibri"/>
                        </a:rPr>
                        <a:t>Non-risk datasets separated</a:t>
                      </a:r>
                    </a:p>
                  </a:txBody>
                  <a:tcPr>
                    <a:solidFill>
                      <a:srgbClr val="F0F0F2"/>
                    </a:solidFill>
                  </a:tcPr>
                </a:tc>
                <a:tc>
                  <a:txBody>
                    <a:bodyPr/>
                    <a:lstStyle/>
                    <a:p>
                      <a:pPr algn="l"/>
                      <a:r>
                        <a:rPr sz="1100" b="0">
                          <a:solidFill>
                            <a:srgbClr val="383A42"/>
                          </a:solidFill>
                          <a:latin typeface="Calibri"/>
                        </a:rPr>
                        <a:t>5,448</a:t>
                      </a:r>
                    </a:p>
                  </a:txBody>
                  <a:tcPr>
                    <a:solidFill>
                      <a:srgbClr val="F0F0F2"/>
                    </a:solidFill>
                  </a:tcPr>
                </a:tc>
                <a:tc>
                  <a:txBody>
                    <a:bodyPr/>
                    <a:lstStyle/>
                    <a:p>
                      <a:pPr algn="l"/>
                      <a:r>
                        <a:rPr sz="1100" b="0">
                          <a:solidFill>
                            <a:srgbClr val="383A42"/>
                          </a:solidFill>
                          <a:latin typeface="Calibri"/>
                        </a:rPr>
                        <a:t>43.3% were not risk data at all</a:t>
                      </a:r>
                    </a:p>
                  </a:txBody>
                  <a:tcPr>
                    <a:solidFill>
                      <a:srgbClr val="F0F0F2"/>
                    </a:solidFill>
                  </a:tcPr>
                </a:tc>
                <a:extLst>
                  <a:ext uri="{0D108BD9-81ED-4DB2-BD59-A6C34878D82A}">
                    <a16:rowId xmlns:a16="http://schemas.microsoft.com/office/drawing/2014/main" val="10004"/>
                  </a:ext>
                </a:extLst>
              </a:tr>
              <a:tr h="411480">
                <a:tc>
                  <a:txBody>
                    <a:bodyPr/>
                    <a:lstStyle/>
                    <a:p>
                      <a:pPr algn="l"/>
                      <a:r>
                        <a:rPr sz="1100" b="0">
                          <a:solidFill>
                            <a:srgbClr val="383A42"/>
                          </a:solidFill>
                          <a:latin typeface="Calibri"/>
                        </a:rPr>
                        <a:t>RDLS-relevant records (final)</a:t>
                      </a:r>
                    </a:p>
                  </a:txBody>
                  <a:tcPr>
                    <a:solidFill>
                      <a:srgbClr val="FFFFFF"/>
                    </a:solidFill>
                  </a:tcPr>
                </a:tc>
                <a:tc>
                  <a:txBody>
                    <a:bodyPr/>
                    <a:lstStyle/>
                    <a:p>
                      <a:pPr algn="l"/>
                      <a:r>
                        <a:rPr sz="1100" b="0">
                          <a:solidFill>
                            <a:srgbClr val="383A42"/>
                          </a:solidFill>
                          <a:latin typeface="Calibri"/>
                        </a:rPr>
                        <a:t>7,146</a:t>
                      </a:r>
                    </a:p>
                  </a:txBody>
                  <a:tcPr>
                    <a:solidFill>
                      <a:srgbClr val="FFFFFF"/>
                    </a:solidFill>
                  </a:tcPr>
                </a:tc>
                <a:tc>
                  <a:txBody>
                    <a:bodyPr/>
                    <a:lstStyle/>
                    <a:p>
                      <a:pPr algn="l"/>
                      <a:r>
                        <a:rPr sz="1100" b="0">
                          <a:solidFill>
                            <a:srgbClr val="383A42"/>
                          </a:solidFill>
                          <a:latin typeface="Calibri"/>
                        </a:rPr>
                        <a:t>56.7% of input</a:t>
                      </a:r>
                    </a:p>
                  </a:txBody>
                  <a:tcPr>
                    <a:solidFill>
                      <a:srgbClr val="FFFFFF"/>
                    </a:solidFill>
                  </a:tcPr>
                </a:tc>
                <a:extLst>
                  <a:ext uri="{0D108BD9-81ED-4DB2-BD59-A6C34878D82A}">
                    <a16:rowId xmlns:a16="http://schemas.microsoft.com/office/drawing/2014/main" val="10005"/>
                  </a:ext>
                </a:extLst>
              </a:tr>
              <a:tr h="411480">
                <a:tc>
                  <a:txBody>
                    <a:bodyPr/>
                    <a:lstStyle/>
                    <a:p>
                      <a:pPr algn="l"/>
                      <a:r>
                        <a:rPr sz="1100" b="0">
                          <a:solidFill>
                            <a:srgbClr val="383A42"/>
                          </a:solidFill>
                          <a:latin typeface="Calibri"/>
                        </a:rPr>
                        <a:t>Schema-valid records</a:t>
                      </a:r>
                    </a:p>
                  </a:txBody>
                  <a:tcPr>
                    <a:solidFill>
                      <a:srgbClr val="F0F0F2"/>
                    </a:solidFill>
                  </a:tcPr>
                </a:tc>
                <a:tc>
                  <a:txBody>
                    <a:bodyPr/>
                    <a:lstStyle/>
                    <a:p>
                      <a:pPr algn="l"/>
                      <a:r>
                        <a:rPr sz="1100" b="0">
                          <a:solidFill>
                            <a:srgbClr val="383A42"/>
                          </a:solidFill>
                          <a:latin typeface="Calibri"/>
                        </a:rPr>
                        <a:t>3,312</a:t>
                      </a:r>
                    </a:p>
                  </a:txBody>
                  <a:tcPr>
                    <a:solidFill>
                      <a:srgbClr val="F0F0F2"/>
                    </a:solidFill>
                  </a:tcPr>
                </a:tc>
                <a:tc>
                  <a:txBody>
                    <a:bodyPr/>
                    <a:lstStyle/>
                    <a:p>
                      <a:pPr algn="l"/>
                      <a:r>
                        <a:rPr sz="1100" b="0">
                          <a:solidFill>
                            <a:srgbClr val="383A42"/>
                          </a:solidFill>
                          <a:latin typeface="Calibri"/>
                        </a:rPr>
                        <a:t>46.3% of relevant</a:t>
                      </a:r>
                    </a:p>
                  </a:txBody>
                  <a:tcPr>
                    <a:solidFill>
                      <a:srgbClr val="F0F0F2"/>
                    </a:solidFill>
                  </a:tcPr>
                </a:tc>
                <a:extLst>
                  <a:ext uri="{0D108BD9-81ED-4DB2-BD59-A6C34878D82A}">
                    <a16:rowId xmlns:a16="http://schemas.microsoft.com/office/drawing/2014/main" val="10006"/>
                  </a:ext>
                </a:extLst>
              </a:tr>
              <a:tr h="411480">
                <a:tc>
                  <a:txBody>
                    <a:bodyPr/>
                    <a:lstStyle/>
                    <a:p>
                      <a:pPr algn="l"/>
                      <a:r>
                        <a:rPr sz="1100" b="0">
                          <a:solidFill>
                            <a:srgbClr val="383A42"/>
                          </a:solidFill>
                          <a:latin typeface="Calibri"/>
                        </a:rPr>
                        <a:t>Record identifiers renamed</a:t>
                      </a:r>
                    </a:p>
                  </a:txBody>
                  <a:tcPr>
                    <a:solidFill>
                      <a:srgbClr val="FFFFFF"/>
                    </a:solidFill>
                  </a:tcPr>
                </a:tc>
                <a:tc>
                  <a:txBody>
                    <a:bodyPr/>
                    <a:lstStyle/>
                    <a:p>
                      <a:pPr algn="l"/>
                      <a:r>
                        <a:rPr sz="1100" b="0">
                          <a:solidFill>
                            <a:srgbClr val="383A42"/>
                          </a:solidFill>
                          <a:latin typeface="Calibri"/>
                        </a:rPr>
                        <a:t>2,425</a:t>
                      </a:r>
                    </a:p>
                  </a:txBody>
                  <a:tcPr>
                    <a:solidFill>
                      <a:srgbClr val="FFFFFF"/>
                    </a:solidFill>
                  </a:tcPr>
                </a:tc>
                <a:tc>
                  <a:txBody>
                    <a:bodyPr/>
                    <a:lstStyle/>
                    <a:p>
                      <a:pPr algn="l"/>
                      <a:r>
                        <a:rPr sz="1100" b="0" dirty="0">
                          <a:solidFill>
                            <a:srgbClr val="383A42"/>
                          </a:solidFill>
                          <a:latin typeface="Calibri"/>
                        </a:rPr>
                        <a:t>Reflecting corrected classification</a:t>
                      </a:r>
                    </a:p>
                  </a:txBody>
                  <a:tcPr>
                    <a:solidFill>
                      <a:srgbClr val="FFFFFF"/>
                    </a:solidFill>
                  </a:tcPr>
                </a:tc>
                <a:extLst>
                  <a:ext uri="{0D108BD9-81ED-4DB2-BD59-A6C34878D82A}">
                    <a16:rowId xmlns:a16="http://schemas.microsoft.com/office/drawing/2014/main" val="10007"/>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080130698"/>
              </p:ext>
            </p:extLst>
          </p:nvPr>
        </p:nvGraphicFramePr>
        <p:xfrm>
          <a:off x="8321040" y="1024128"/>
          <a:ext cx="3474720" cy="329184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tblGrid>
              <a:tr h="470262">
                <a:tc>
                  <a:txBody>
                    <a:bodyPr/>
                    <a:lstStyle/>
                    <a:p>
                      <a:pPr algn="ctr"/>
                      <a:r>
                        <a:rPr sz="1400" b="1" dirty="0">
                          <a:solidFill>
                            <a:srgbClr val="FFFFFF"/>
                          </a:solidFill>
                          <a:latin typeface="Calibri"/>
                        </a:rPr>
                        <a:t>Non-risk domain</a:t>
                      </a:r>
                    </a:p>
                  </a:txBody>
                  <a:tcPr>
                    <a:solidFill>
                      <a:srgbClr val="383A42"/>
                    </a:solidFill>
                  </a:tcPr>
                </a:tc>
                <a:tc>
                  <a:txBody>
                    <a:bodyPr/>
                    <a:lstStyle/>
                    <a:p>
                      <a:pPr algn="ctr"/>
                      <a:r>
                        <a:rPr sz="1400" b="1" dirty="0">
                          <a:solidFill>
                            <a:srgbClr val="FFFFFF"/>
                          </a:solidFill>
                          <a:latin typeface="Calibri"/>
                        </a:rPr>
                        <a:t>Count</a:t>
                      </a:r>
                    </a:p>
                  </a:txBody>
                  <a:tcPr>
                    <a:solidFill>
                      <a:srgbClr val="383A42"/>
                    </a:solidFill>
                  </a:tcPr>
                </a:tc>
                <a:extLst>
                  <a:ext uri="{0D108BD9-81ED-4DB2-BD59-A6C34878D82A}">
                    <a16:rowId xmlns:a16="http://schemas.microsoft.com/office/drawing/2014/main" val="10000"/>
                  </a:ext>
                </a:extLst>
              </a:tr>
              <a:tr h="470262">
                <a:tc>
                  <a:txBody>
                    <a:bodyPr/>
                    <a:lstStyle/>
                    <a:p>
                      <a:pPr algn="l"/>
                      <a:r>
                        <a:rPr sz="1000" b="0">
                          <a:solidFill>
                            <a:srgbClr val="383A42"/>
                          </a:solidFill>
                          <a:latin typeface="Calibri"/>
                        </a:rPr>
                        <a:t>General (education, trade, etc.)</a:t>
                      </a:r>
                    </a:p>
                  </a:txBody>
                  <a:tcPr>
                    <a:solidFill>
                      <a:srgbClr val="FFFFFF"/>
                    </a:solidFill>
                  </a:tcPr>
                </a:tc>
                <a:tc>
                  <a:txBody>
                    <a:bodyPr/>
                    <a:lstStyle/>
                    <a:p>
                      <a:pPr algn="l"/>
                      <a:r>
                        <a:rPr sz="1000" b="0">
                          <a:solidFill>
                            <a:srgbClr val="383A42"/>
                          </a:solidFill>
                          <a:latin typeface="Calibri"/>
                        </a:rPr>
                        <a:t>2,657</a:t>
                      </a:r>
                    </a:p>
                  </a:txBody>
                  <a:tcPr>
                    <a:solidFill>
                      <a:srgbClr val="FFFFFF"/>
                    </a:solidFill>
                  </a:tcPr>
                </a:tc>
                <a:extLst>
                  <a:ext uri="{0D108BD9-81ED-4DB2-BD59-A6C34878D82A}">
                    <a16:rowId xmlns:a16="http://schemas.microsoft.com/office/drawing/2014/main" val="10001"/>
                  </a:ext>
                </a:extLst>
              </a:tr>
              <a:tr h="470262">
                <a:tc>
                  <a:txBody>
                    <a:bodyPr/>
                    <a:lstStyle/>
                    <a:p>
                      <a:pPr algn="l"/>
                      <a:r>
                        <a:rPr sz="1000" b="0">
                          <a:solidFill>
                            <a:srgbClr val="383A42"/>
                          </a:solidFill>
                          <a:latin typeface="Calibri"/>
                        </a:rPr>
                        <a:t>Health surveillance</a:t>
                      </a:r>
                    </a:p>
                  </a:txBody>
                  <a:tcPr>
                    <a:solidFill>
                      <a:srgbClr val="F0F0F2"/>
                    </a:solidFill>
                  </a:tcPr>
                </a:tc>
                <a:tc>
                  <a:txBody>
                    <a:bodyPr/>
                    <a:lstStyle/>
                    <a:p>
                      <a:pPr algn="l"/>
                      <a:r>
                        <a:rPr sz="1000" b="0">
                          <a:solidFill>
                            <a:srgbClr val="383A42"/>
                          </a:solidFill>
                          <a:latin typeface="Calibri"/>
                        </a:rPr>
                        <a:t>941</a:t>
                      </a:r>
                    </a:p>
                  </a:txBody>
                  <a:tcPr>
                    <a:solidFill>
                      <a:srgbClr val="F0F0F2"/>
                    </a:solidFill>
                  </a:tcPr>
                </a:tc>
                <a:extLst>
                  <a:ext uri="{0D108BD9-81ED-4DB2-BD59-A6C34878D82A}">
                    <a16:rowId xmlns:a16="http://schemas.microsoft.com/office/drawing/2014/main" val="10002"/>
                  </a:ext>
                </a:extLst>
              </a:tr>
              <a:tr h="470262">
                <a:tc>
                  <a:txBody>
                    <a:bodyPr/>
                    <a:lstStyle/>
                    <a:p>
                      <a:pPr algn="l"/>
                      <a:r>
                        <a:rPr sz="1000" b="0">
                          <a:solidFill>
                            <a:srgbClr val="383A42"/>
                          </a:solidFill>
                          <a:latin typeface="Calibri"/>
                        </a:rPr>
                        <a:t>Reference / admin boundaries</a:t>
                      </a:r>
                    </a:p>
                  </a:txBody>
                  <a:tcPr>
                    <a:solidFill>
                      <a:srgbClr val="FFFFFF"/>
                    </a:solidFill>
                  </a:tcPr>
                </a:tc>
                <a:tc>
                  <a:txBody>
                    <a:bodyPr/>
                    <a:lstStyle/>
                    <a:p>
                      <a:pPr algn="l"/>
                      <a:r>
                        <a:rPr sz="1000" b="0">
                          <a:solidFill>
                            <a:srgbClr val="383A42"/>
                          </a:solidFill>
                          <a:latin typeface="Calibri"/>
                        </a:rPr>
                        <a:t>894</a:t>
                      </a:r>
                    </a:p>
                  </a:txBody>
                  <a:tcPr>
                    <a:solidFill>
                      <a:srgbClr val="FFFFFF"/>
                    </a:solidFill>
                  </a:tcPr>
                </a:tc>
                <a:extLst>
                  <a:ext uri="{0D108BD9-81ED-4DB2-BD59-A6C34878D82A}">
                    <a16:rowId xmlns:a16="http://schemas.microsoft.com/office/drawing/2014/main" val="10003"/>
                  </a:ext>
                </a:extLst>
              </a:tr>
              <a:tr h="470262">
                <a:tc>
                  <a:txBody>
                    <a:bodyPr/>
                    <a:lstStyle/>
                    <a:p>
                      <a:pPr algn="l"/>
                      <a:r>
                        <a:rPr sz="1000" b="0">
                          <a:solidFill>
                            <a:srgbClr val="383A42"/>
                          </a:solidFill>
                          <a:latin typeface="Calibri"/>
                        </a:rPr>
                        <a:t>Humanitarian operations</a:t>
                      </a:r>
                    </a:p>
                  </a:txBody>
                  <a:tcPr>
                    <a:solidFill>
                      <a:srgbClr val="F0F0F2"/>
                    </a:solidFill>
                  </a:tcPr>
                </a:tc>
                <a:tc>
                  <a:txBody>
                    <a:bodyPr/>
                    <a:lstStyle/>
                    <a:p>
                      <a:pPr algn="l"/>
                      <a:r>
                        <a:rPr sz="1000" b="0">
                          <a:solidFill>
                            <a:srgbClr val="383A42"/>
                          </a:solidFill>
                          <a:latin typeface="Calibri"/>
                        </a:rPr>
                        <a:t>263</a:t>
                      </a:r>
                    </a:p>
                  </a:txBody>
                  <a:tcPr>
                    <a:solidFill>
                      <a:srgbClr val="F0F0F2"/>
                    </a:solidFill>
                  </a:tcPr>
                </a:tc>
                <a:extLst>
                  <a:ext uri="{0D108BD9-81ED-4DB2-BD59-A6C34878D82A}">
                    <a16:rowId xmlns:a16="http://schemas.microsoft.com/office/drawing/2014/main" val="10004"/>
                  </a:ext>
                </a:extLst>
              </a:tr>
              <a:tr h="470262">
                <a:tc>
                  <a:txBody>
                    <a:bodyPr/>
                    <a:lstStyle/>
                    <a:p>
                      <a:pPr algn="l"/>
                      <a:r>
                        <a:rPr sz="1000" b="0">
                          <a:solidFill>
                            <a:srgbClr val="383A42"/>
                          </a:solidFill>
                          <a:latin typeface="Calibri"/>
                        </a:rPr>
                        <a:t>Climate (non-risk)</a:t>
                      </a:r>
                    </a:p>
                  </a:txBody>
                  <a:tcPr>
                    <a:solidFill>
                      <a:srgbClr val="FFFFFF"/>
                    </a:solidFill>
                  </a:tcPr>
                </a:tc>
                <a:tc>
                  <a:txBody>
                    <a:bodyPr/>
                    <a:lstStyle/>
                    <a:p>
                      <a:pPr algn="l"/>
                      <a:r>
                        <a:rPr sz="1000" b="0">
                          <a:solidFill>
                            <a:srgbClr val="383A42"/>
                          </a:solidFill>
                          <a:latin typeface="Calibri"/>
                        </a:rPr>
                        <a:t>39</a:t>
                      </a:r>
                    </a:p>
                  </a:txBody>
                  <a:tcPr>
                    <a:solidFill>
                      <a:srgbClr val="FFFFFF"/>
                    </a:solidFill>
                  </a:tcPr>
                </a:tc>
                <a:extLst>
                  <a:ext uri="{0D108BD9-81ED-4DB2-BD59-A6C34878D82A}">
                    <a16:rowId xmlns:a16="http://schemas.microsoft.com/office/drawing/2014/main" val="10005"/>
                  </a:ext>
                </a:extLst>
              </a:tr>
              <a:tr h="470268">
                <a:tc>
                  <a:txBody>
                    <a:bodyPr/>
                    <a:lstStyle/>
                    <a:p>
                      <a:pPr algn="l"/>
                      <a:r>
                        <a:rPr sz="1000" b="0">
                          <a:solidFill>
                            <a:srgbClr val="383A42"/>
                          </a:solidFill>
                          <a:latin typeface="Calibri"/>
                        </a:rPr>
                        <a:t>No HEVL blocks after reconcile</a:t>
                      </a:r>
                    </a:p>
                  </a:txBody>
                  <a:tcPr>
                    <a:solidFill>
                      <a:srgbClr val="F0F0F2"/>
                    </a:solidFill>
                  </a:tcPr>
                </a:tc>
                <a:tc>
                  <a:txBody>
                    <a:bodyPr/>
                    <a:lstStyle/>
                    <a:p>
                      <a:pPr algn="l"/>
                      <a:r>
                        <a:rPr sz="1000" b="0" dirty="0">
                          <a:solidFill>
                            <a:srgbClr val="383A42"/>
                          </a:solidFill>
                          <a:latin typeface="Calibri"/>
                        </a:rPr>
                        <a:t>654</a:t>
                      </a:r>
                    </a:p>
                  </a:txBody>
                  <a:tcPr>
                    <a:solidFill>
                      <a:srgbClr val="F0F0F2"/>
                    </a:solidFill>
                  </a:tcPr>
                </a:tc>
                <a:extLst>
                  <a:ext uri="{0D108BD9-81ED-4DB2-BD59-A6C34878D82A}">
                    <a16:rowId xmlns:a16="http://schemas.microsoft.com/office/drawing/2014/main" val="10006"/>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678513140"/>
              </p:ext>
            </p:extLst>
          </p:nvPr>
        </p:nvGraphicFramePr>
        <p:xfrm>
          <a:off x="411480" y="4462272"/>
          <a:ext cx="4389120" cy="173736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tblGrid>
              <a:tr h="347472">
                <a:tc>
                  <a:txBody>
                    <a:bodyPr/>
                    <a:lstStyle/>
                    <a:p>
                      <a:pPr algn="ctr"/>
                      <a:r>
                        <a:rPr sz="1400" b="1" dirty="0">
                          <a:solidFill>
                            <a:srgbClr val="FFFFFF"/>
                          </a:solidFill>
                          <a:latin typeface="Calibri"/>
                        </a:rPr>
                        <a:t>Cost metric</a:t>
                      </a:r>
                    </a:p>
                  </a:txBody>
                  <a:tcPr>
                    <a:solidFill>
                      <a:srgbClr val="383A42"/>
                    </a:solidFill>
                  </a:tcPr>
                </a:tc>
                <a:tc>
                  <a:txBody>
                    <a:bodyPr/>
                    <a:lstStyle/>
                    <a:p>
                      <a:pPr algn="ctr"/>
                      <a:r>
                        <a:rPr sz="1400" b="1" dirty="0">
                          <a:solidFill>
                            <a:srgbClr val="FFFFFF"/>
                          </a:solidFill>
                          <a:latin typeface="Calibri"/>
                        </a:rPr>
                        <a:t>Value</a:t>
                      </a:r>
                    </a:p>
                  </a:txBody>
                  <a:tcPr>
                    <a:solidFill>
                      <a:srgbClr val="383A42"/>
                    </a:solidFill>
                  </a:tcPr>
                </a:tc>
                <a:extLst>
                  <a:ext uri="{0D108BD9-81ED-4DB2-BD59-A6C34878D82A}">
                    <a16:rowId xmlns:a16="http://schemas.microsoft.com/office/drawing/2014/main" val="10000"/>
                  </a:ext>
                </a:extLst>
              </a:tr>
              <a:tr h="347472">
                <a:tc>
                  <a:txBody>
                    <a:bodyPr/>
                    <a:lstStyle/>
                    <a:p>
                      <a:pPr algn="l"/>
                      <a:r>
                        <a:rPr sz="1100" b="0">
                          <a:solidFill>
                            <a:srgbClr val="383A42"/>
                          </a:solidFill>
                          <a:latin typeface="Calibri"/>
                        </a:rPr>
                        <a:t>LLM cost (initial run)</a:t>
                      </a:r>
                    </a:p>
                  </a:txBody>
                  <a:tcPr>
                    <a:solidFill>
                      <a:srgbClr val="FFFFFF"/>
                    </a:solidFill>
                  </a:tcPr>
                </a:tc>
                <a:tc>
                  <a:txBody>
                    <a:bodyPr/>
                    <a:lstStyle/>
                    <a:p>
                      <a:pPr algn="l"/>
                      <a:r>
                        <a:rPr sz="1100" b="0">
                          <a:solidFill>
                            <a:srgbClr val="383A42"/>
                          </a:solidFill>
                          <a:latin typeface="Calibri"/>
                        </a:rPr>
                        <a:t>~USD 22</a:t>
                      </a:r>
                    </a:p>
                  </a:txBody>
                  <a:tcPr>
                    <a:solidFill>
                      <a:srgbClr val="FFFFFF"/>
                    </a:solidFill>
                  </a:tcPr>
                </a:tc>
                <a:extLst>
                  <a:ext uri="{0D108BD9-81ED-4DB2-BD59-A6C34878D82A}">
                    <a16:rowId xmlns:a16="http://schemas.microsoft.com/office/drawing/2014/main" val="10001"/>
                  </a:ext>
                </a:extLst>
              </a:tr>
              <a:tr h="347472">
                <a:tc>
                  <a:txBody>
                    <a:bodyPr/>
                    <a:lstStyle/>
                    <a:p>
                      <a:pPr algn="l"/>
                      <a:r>
                        <a:rPr sz="1100" b="0">
                          <a:solidFill>
                            <a:srgbClr val="383A42"/>
                          </a:solidFill>
                          <a:latin typeface="Calibri"/>
                        </a:rPr>
                        <a:t>Re-run cost (cached)</a:t>
                      </a:r>
                    </a:p>
                  </a:txBody>
                  <a:tcPr>
                    <a:solidFill>
                      <a:srgbClr val="F0F0F2"/>
                    </a:solidFill>
                  </a:tcPr>
                </a:tc>
                <a:tc>
                  <a:txBody>
                    <a:bodyPr/>
                    <a:lstStyle/>
                    <a:p>
                      <a:pPr algn="l"/>
                      <a:r>
                        <a:rPr sz="1100" b="0">
                          <a:solidFill>
                            <a:srgbClr val="383A42"/>
                          </a:solidFill>
                          <a:latin typeface="Calibri"/>
                        </a:rPr>
                        <a:t>USD 0</a:t>
                      </a:r>
                    </a:p>
                  </a:txBody>
                  <a:tcPr>
                    <a:solidFill>
                      <a:srgbClr val="F0F0F2"/>
                    </a:solidFill>
                  </a:tcPr>
                </a:tc>
                <a:extLst>
                  <a:ext uri="{0D108BD9-81ED-4DB2-BD59-A6C34878D82A}">
                    <a16:rowId xmlns:a16="http://schemas.microsoft.com/office/drawing/2014/main" val="10002"/>
                  </a:ext>
                </a:extLst>
              </a:tr>
              <a:tr h="347472">
                <a:tc>
                  <a:txBody>
                    <a:bodyPr/>
                    <a:lstStyle/>
                    <a:p>
                      <a:pPr algn="l"/>
                      <a:r>
                        <a:rPr sz="1100" b="0">
                          <a:solidFill>
                            <a:srgbClr val="383A42"/>
                          </a:solidFill>
                          <a:latin typeface="Calibri"/>
                        </a:rPr>
                        <a:t>Cost per record</a:t>
                      </a:r>
                    </a:p>
                  </a:txBody>
                  <a:tcPr>
                    <a:solidFill>
                      <a:srgbClr val="FFFFFF"/>
                    </a:solidFill>
                  </a:tcPr>
                </a:tc>
                <a:tc>
                  <a:txBody>
                    <a:bodyPr/>
                    <a:lstStyle/>
                    <a:p>
                      <a:pPr algn="l"/>
                      <a:r>
                        <a:rPr sz="1100" b="0">
                          <a:solidFill>
                            <a:srgbClr val="383A42"/>
                          </a:solidFill>
                          <a:latin typeface="Calibri"/>
                        </a:rPr>
                        <a:t>~$0.003</a:t>
                      </a:r>
                    </a:p>
                  </a:txBody>
                  <a:tcPr>
                    <a:solidFill>
                      <a:srgbClr val="FFFFFF"/>
                    </a:solidFill>
                  </a:tcPr>
                </a:tc>
                <a:extLst>
                  <a:ext uri="{0D108BD9-81ED-4DB2-BD59-A6C34878D82A}">
                    <a16:rowId xmlns:a16="http://schemas.microsoft.com/office/drawing/2014/main" val="10003"/>
                  </a:ext>
                </a:extLst>
              </a:tr>
              <a:tr h="347472">
                <a:tc>
                  <a:txBody>
                    <a:bodyPr/>
                    <a:lstStyle/>
                    <a:p>
                      <a:pPr algn="l"/>
                      <a:r>
                        <a:rPr sz="1100" b="0">
                          <a:solidFill>
                            <a:srgbClr val="383A42"/>
                          </a:solidFill>
                          <a:latin typeface="Calibri"/>
                        </a:rPr>
                        <a:t>Time (with cache)</a:t>
                      </a:r>
                    </a:p>
                  </a:txBody>
                  <a:tcPr>
                    <a:solidFill>
                      <a:srgbClr val="F0F0F2"/>
                    </a:solidFill>
                  </a:tcPr>
                </a:tc>
                <a:tc>
                  <a:txBody>
                    <a:bodyPr/>
                    <a:lstStyle/>
                    <a:p>
                      <a:pPr algn="l"/>
                      <a:r>
                        <a:rPr sz="1100" b="0" dirty="0">
                          <a:solidFill>
                            <a:srgbClr val="383A42"/>
                          </a:solidFill>
                          <a:latin typeface="Calibri"/>
                        </a:rPr>
                        <a:t>~22 minutes</a:t>
                      </a:r>
                    </a:p>
                  </a:txBody>
                  <a:tcPr>
                    <a:solidFill>
                      <a:srgbClr val="F0F0F2"/>
                    </a:solidFill>
                  </a:tcPr>
                </a:tc>
                <a:extLst>
                  <a:ext uri="{0D108BD9-81ED-4DB2-BD59-A6C34878D82A}">
                    <a16:rowId xmlns:a16="http://schemas.microsoft.com/office/drawing/2014/main" val="10004"/>
                  </a:ext>
                </a:extLst>
              </a:tr>
            </a:tbl>
          </a:graphicData>
        </a:graphic>
      </p:graphicFrame>
      <p:sp>
        <p:nvSpPr>
          <p:cNvPr id="10" name="Rectangle 9"/>
          <p:cNvSpPr/>
          <p:nvPr/>
        </p:nvSpPr>
        <p:spPr>
          <a:xfrm>
            <a:off x="5074920" y="4462272"/>
            <a:ext cx="6675120" cy="105156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74920" y="4462272"/>
            <a:ext cx="50800" cy="105156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52720" y="4538472"/>
            <a:ext cx="6421120" cy="430887"/>
          </a:xfrm>
          <a:prstGeom prst="rect">
            <a:avLst/>
          </a:prstGeom>
          <a:noFill/>
        </p:spPr>
        <p:txBody>
          <a:bodyPr wrap="square" lIns="0" tIns="0" rIns="0" bIns="0">
            <a:spAutoFit/>
          </a:bodyPr>
          <a:lstStyle/>
          <a:p>
            <a:r>
              <a:rPr sz="1400" b="0" dirty="0">
                <a:solidFill>
                  <a:srgbClr val="383A42"/>
                </a:solidFill>
                <a:latin typeface="Calibri"/>
              </a:rPr>
              <a:t>LLM overrode the regex result in 61% of validation sample cross-checks (132 of 215 records). Column headers were decisive in the majority of those cases.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a:solidFill>
                  <a:srgbClr val="0184BC"/>
                </a:solidFill>
                <a:latin typeface="Calibri"/>
              </a:rPr>
              <a:t>Act 2: The Remaining Ceiling</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Correct classification - but extraction quality still bounded by regex</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13 / 26</a:t>
            </a:r>
          </a:p>
        </p:txBody>
      </p:sp>
      <p:sp>
        <p:nvSpPr>
          <p:cNvPr id="7" name="TextBox 6"/>
          <p:cNvSpPr txBox="1"/>
          <p:nvPr/>
        </p:nvSpPr>
        <p:spPr>
          <a:xfrm>
            <a:off x="411480" y="1024128"/>
            <a:ext cx="11430000" cy="215444"/>
          </a:xfrm>
          <a:prstGeom prst="rect">
            <a:avLst/>
          </a:prstGeom>
          <a:noFill/>
        </p:spPr>
        <p:txBody>
          <a:bodyPr wrap="square" lIns="0" tIns="0" rIns="0" bIns="0">
            <a:spAutoFit/>
          </a:bodyPr>
          <a:lstStyle/>
          <a:p>
            <a:pPr algn="l"/>
            <a:r>
              <a:rPr sz="1400" b="1" dirty="0">
                <a:solidFill>
                  <a:srgbClr val="C18401"/>
                </a:solidFill>
                <a:latin typeface="Calibri"/>
              </a:rPr>
              <a:t>Limitation 1: Extraction quality bounded by pattern matching</a:t>
            </a:r>
          </a:p>
        </p:txBody>
      </p:sp>
      <p:sp>
        <p:nvSpPr>
          <p:cNvPr id="8" name="Rectangle 7"/>
          <p:cNvSpPr/>
          <p:nvPr/>
        </p:nvSpPr>
        <p:spPr>
          <a:xfrm>
            <a:off x="411480" y="1444752"/>
            <a:ext cx="11338560" cy="2286000"/>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11480" y="1444752"/>
            <a:ext cx="38100" cy="2286000"/>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8480" y="1546352"/>
            <a:ext cx="11109960" cy="2082800"/>
          </a:xfrm>
          <a:prstGeom prst="rect">
            <a:avLst/>
          </a:prstGeom>
          <a:noFill/>
        </p:spPr>
        <p:txBody>
          <a:bodyPr wrap="none" lIns="0" tIns="0" rIns="0" bIns="0">
            <a:spAutoFit/>
          </a:bodyPr>
          <a:lstStyle/>
          <a:p>
            <a:pPr>
              <a:spcBef>
                <a:spcPts val="0"/>
              </a:spcBef>
              <a:spcAft>
                <a:spcPts val="0"/>
              </a:spcAft>
            </a:pPr>
            <a:r>
              <a:rPr sz="1000">
                <a:solidFill>
                  <a:srgbClr val="DCDFE4"/>
                </a:solidFill>
                <a:latin typeface="Consolas"/>
              </a:rPr>
              <a:t># A 6-return-period probabilistic flood dataset received:</a:t>
            </a:r>
          </a:p>
          <a:p>
            <a:pPr>
              <a:spcBef>
                <a:spcPts val="0"/>
              </a:spcBef>
              <a:spcAft>
                <a:spcPts val="0"/>
              </a:spcAft>
            </a:pPr>
            <a:r>
              <a:rPr sz="1000">
                <a:solidFill>
                  <a:srgbClr val="DCDFE4"/>
                </a:solidFill>
                <a:latin typeface="Consolas"/>
              </a:rPr>
              <a:t>"hazard": {</a:t>
            </a:r>
          </a:p>
          <a:p>
            <a:pPr>
              <a:spcBef>
                <a:spcPts val="0"/>
              </a:spcBef>
              <a:spcAft>
                <a:spcPts val="0"/>
              </a:spcAft>
            </a:pPr>
            <a:r>
              <a:rPr sz="1000">
                <a:solidFill>
                  <a:srgbClr val="DCDFE4"/>
                </a:solidFill>
                <a:latin typeface="Consolas"/>
              </a:rPr>
              <a:t>  "event_sets": [{</a:t>
            </a:r>
          </a:p>
          <a:p>
            <a:pPr>
              <a:spcBef>
                <a:spcPts val="0"/>
              </a:spcBef>
              <a:spcAft>
                <a:spcPts val="0"/>
              </a:spcAft>
            </a:pPr>
            <a:r>
              <a:rPr sz="1000">
                <a:solidFill>
                  <a:srgbClr val="DCDFE4"/>
                </a:solidFill>
                <a:latin typeface="Consolas"/>
              </a:rPr>
              <a:t>    "hazards": [{"type": "flood", "intensity_measure": "wd:m"}],</a:t>
            </a:r>
          </a:p>
          <a:p>
            <a:pPr>
              <a:spcBef>
                <a:spcPts val="0"/>
              </a:spcBef>
              <a:spcAft>
                <a:spcPts val="0"/>
              </a:spcAft>
            </a:pPr>
            <a:r>
              <a:rPr sz="1000">
                <a:solidFill>
                  <a:srgbClr val="DCDFE4"/>
                </a:solidFill>
                <a:latin typeface="Consolas"/>
              </a:rPr>
              <a:t>    "analysis_type": "probabilistic",</a:t>
            </a:r>
          </a:p>
          <a:p>
            <a:pPr>
              <a:spcBef>
                <a:spcPts val="0"/>
              </a:spcBef>
              <a:spcAft>
                <a:spcPts val="0"/>
              </a:spcAft>
            </a:pPr>
            <a:r>
              <a:rPr sz="1000">
                <a:solidFill>
                  <a:srgbClr val="DCDFE4"/>
                </a:solidFill>
                <a:latin typeface="Consolas"/>
              </a:rPr>
              <a:t>    "events": []            # no return periods - regex has no mechanism</a:t>
            </a:r>
          </a:p>
          <a:p>
            <a:pPr>
              <a:spcBef>
                <a:spcPts val="0"/>
              </a:spcBef>
              <a:spcAft>
                <a:spcPts val="0"/>
              </a:spcAft>
            </a:pPr>
            <a:r>
              <a:rPr sz="1000">
                <a:solidFill>
                  <a:srgbClr val="DCDFE4"/>
                </a:solidFill>
                <a:latin typeface="Consolas"/>
              </a:rPr>
              <a:t>  }]</a:t>
            </a:r>
          </a:p>
          <a:p>
            <a:pPr>
              <a:spcBef>
                <a:spcPts val="0"/>
              </a:spcBef>
              <a:spcAft>
                <a:spcPts val="0"/>
              </a:spcAft>
            </a:pPr>
            <a:r>
              <a:rPr sz="1000">
                <a:solidFill>
                  <a:srgbClr val="DCDFE4"/>
                </a:solidFill>
                <a:latin typeface="Consolas"/>
              </a:rPr>
              <a:t>},</a:t>
            </a:r>
          </a:p>
          <a:p>
            <a:pPr>
              <a:spcBef>
                <a:spcPts val="0"/>
              </a:spcBef>
              <a:spcAft>
                <a:spcPts val="0"/>
              </a:spcAft>
            </a:pPr>
            <a:r>
              <a:rPr sz="1000">
                <a:solidFill>
                  <a:srgbClr val="DCDFE4"/>
                </a:solidFill>
                <a:latin typeface="Consolas"/>
              </a:rPr>
              <a:t>"exposure": [{"category": "buildings"}]   # no dimension, no metric</a:t>
            </a:r>
          </a:p>
        </p:txBody>
      </p:sp>
      <p:sp>
        <p:nvSpPr>
          <p:cNvPr id="11" name="TextBox 10"/>
          <p:cNvSpPr txBox="1"/>
          <p:nvPr/>
        </p:nvSpPr>
        <p:spPr>
          <a:xfrm>
            <a:off x="411480" y="3858768"/>
            <a:ext cx="11430000" cy="215444"/>
          </a:xfrm>
          <a:prstGeom prst="rect">
            <a:avLst/>
          </a:prstGeom>
          <a:noFill/>
        </p:spPr>
        <p:txBody>
          <a:bodyPr wrap="square" lIns="0" tIns="0" rIns="0" bIns="0">
            <a:spAutoFit/>
          </a:bodyPr>
          <a:lstStyle/>
          <a:p>
            <a:pPr algn="l"/>
            <a:r>
              <a:rPr sz="1400" b="1" dirty="0">
                <a:solidFill>
                  <a:srgbClr val="C18401"/>
                </a:solidFill>
                <a:latin typeface="Calibri"/>
              </a:rPr>
              <a:t>Limitation 2: RDLS v1.0 requires fields regex cannot populate</a:t>
            </a:r>
          </a:p>
        </p:txBody>
      </p:sp>
      <p:graphicFrame>
        <p:nvGraphicFramePr>
          <p:cNvPr id="12" name="Table 11"/>
          <p:cNvGraphicFramePr>
            <a:graphicFrameLocks noGrp="1"/>
          </p:cNvGraphicFramePr>
          <p:nvPr>
            <p:extLst>
              <p:ext uri="{D42A27DB-BD31-4B8C-83A1-F6EECF244321}">
                <p14:modId xmlns:p14="http://schemas.microsoft.com/office/powerpoint/2010/main" val="2847386230"/>
              </p:ext>
            </p:extLst>
          </p:nvPr>
        </p:nvGraphicFramePr>
        <p:xfrm>
          <a:off x="411480" y="4251960"/>
          <a:ext cx="11338560" cy="1950720"/>
        </p:xfrm>
        <a:graphic>
          <a:graphicData uri="http://schemas.openxmlformats.org/drawingml/2006/table">
            <a:tbl>
              <a:tblPr firstRow="1" bandRow="1">
                <a:tableStyleId>{5C22544A-7EE6-4342-B048-85BDC9FD1C3A}</a:tableStyleId>
              </a:tblPr>
              <a:tblGrid>
                <a:gridCol w="3779520">
                  <a:extLst>
                    <a:ext uri="{9D8B030D-6E8A-4147-A177-3AD203B41FA5}">
                      <a16:colId xmlns:a16="http://schemas.microsoft.com/office/drawing/2014/main" val="20000"/>
                    </a:ext>
                  </a:extLst>
                </a:gridCol>
                <a:gridCol w="3779520">
                  <a:extLst>
                    <a:ext uri="{9D8B030D-6E8A-4147-A177-3AD203B41FA5}">
                      <a16:colId xmlns:a16="http://schemas.microsoft.com/office/drawing/2014/main" val="20001"/>
                    </a:ext>
                  </a:extLst>
                </a:gridCol>
                <a:gridCol w="3779520">
                  <a:extLst>
                    <a:ext uri="{9D8B030D-6E8A-4147-A177-3AD203B41FA5}">
                      <a16:colId xmlns:a16="http://schemas.microsoft.com/office/drawing/2014/main" val="20002"/>
                    </a:ext>
                  </a:extLst>
                </a:gridCol>
              </a:tblGrid>
              <a:tr h="274320">
                <a:tc>
                  <a:txBody>
                    <a:bodyPr/>
                    <a:lstStyle/>
                    <a:p>
                      <a:pPr algn="ctr"/>
                      <a:r>
                        <a:rPr sz="1400" b="1" dirty="0">
                          <a:solidFill>
                            <a:srgbClr val="FFFFFF"/>
                          </a:solidFill>
                          <a:latin typeface="Calibri"/>
                        </a:rPr>
                        <a:t>v1.0 Field</a:t>
                      </a:r>
                    </a:p>
                  </a:txBody>
                  <a:tcPr>
                    <a:solidFill>
                      <a:srgbClr val="383A42"/>
                    </a:solidFill>
                  </a:tcPr>
                </a:tc>
                <a:tc>
                  <a:txBody>
                    <a:bodyPr/>
                    <a:lstStyle/>
                    <a:p>
                      <a:pPr algn="ctr"/>
                      <a:r>
                        <a:rPr sz="1400" b="1" dirty="0">
                          <a:solidFill>
                            <a:srgbClr val="FFFFFF"/>
                          </a:solidFill>
                          <a:latin typeface="Calibri"/>
                        </a:rPr>
                        <a:t>What it requires</a:t>
                      </a:r>
                    </a:p>
                  </a:txBody>
                  <a:tcPr>
                    <a:solidFill>
                      <a:srgbClr val="383A42"/>
                    </a:solidFill>
                  </a:tcPr>
                </a:tc>
                <a:tc>
                  <a:txBody>
                    <a:bodyPr/>
                    <a:lstStyle/>
                    <a:p>
                      <a:pPr algn="ctr"/>
                      <a:r>
                        <a:rPr sz="1400" b="1" dirty="0">
                          <a:solidFill>
                            <a:srgbClr val="FFFFFF"/>
                          </a:solidFill>
                          <a:latin typeface="Calibri"/>
                        </a:rPr>
                        <a:t>Regex?</a:t>
                      </a:r>
                    </a:p>
                  </a:txBody>
                  <a:tcPr>
                    <a:solidFill>
                      <a:srgbClr val="383A42"/>
                    </a:solidFill>
                  </a:tcPr>
                </a:tc>
                <a:extLst>
                  <a:ext uri="{0D108BD9-81ED-4DB2-BD59-A6C34878D82A}">
                    <a16:rowId xmlns:a16="http://schemas.microsoft.com/office/drawing/2014/main" val="10000"/>
                  </a:ext>
                </a:extLst>
              </a:tr>
              <a:tr h="274320">
                <a:tc>
                  <a:txBody>
                    <a:bodyPr/>
                    <a:lstStyle/>
                    <a:p>
                      <a:pPr algn="l"/>
                      <a:r>
                        <a:rPr sz="1000" b="0">
                          <a:solidFill>
                            <a:srgbClr val="383A42"/>
                          </a:solidFill>
                          <a:latin typeface="Calibri"/>
                        </a:rPr>
                        <a:t>publisher / creator / contact_point</a:t>
                      </a:r>
                    </a:p>
                  </a:txBody>
                  <a:tcPr>
                    <a:solidFill>
                      <a:srgbClr val="FFFFFF"/>
                    </a:solidFill>
                  </a:tcPr>
                </a:tc>
                <a:tc>
                  <a:txBody>
                    <a:bodyPr/>
                    <a:lstStyle/>
                    <a:p>
                      <a:pPr algn="l"/>
                      <a:r>
                        <a:rPr sz="1000" b="0">
                          <a:solidFill>
                            <a:srgbClr val="383A42"/>
                          </a:solidFill>
                          <a:latin typeface="Calibri"/>
                        </a:rPr>
                        <a:t>Separate entity objects</a:t>
                      </a:r>
                    </a:p>
                  </a:txBody>
                  <a:tcPr>
                    <a:solidFill>
                      <a:srgbClr val="FFFFFF"/>
                    </a:solidFill>
                  </a:tcPr>
                </a:tc>
                <a:tc>
                  <a:txBody>
                    <a:bodyPr/>
                    <a:lstStyle/>
                    <a:p>
                      <a:pPr algn="l"/>
                      <a:r>
                        <a:rPr sz="1000" b="0">
                          <a:solidFill>
                            <a:srgbClr val="383A42"/>
                          </a:solidFill>
                          <a:latin typeface="Calibri"/>
                        </a:rPr>
                        <a:t>Partial</a:t>
                      </a:r>
                    </a:p>
                  </a:txBody>
                  <a:tcPr>
                    <a:solidFill>
                      <a:srgbClr val="FFFFFF"/>
                    </a:solidFill>
                  </a:tcPr>
                </a:tc>
                <a:extLst>
                  <a:ext uri="{0D108BD9-81ED-4DB2-BD59-A6C34878D82A}">
                    <a16:rowId xmlns:a16="http://schemas.microsoft.com/office/drawing/2014/main" val="10001"/>
                  </a:ext>
                </a:extLst>
              </a:tr>
              <a:tr h="274320">
                <a:tc>
                  <a:txBody>
                    <a:bodyPr/>
                    <a:lstStyle/>
                    <a:p>
                      <a:pPr algn="l"/>
                      <a:r>
                        <a:rPr sz="1000" b="0">
                          <a:solidFill>
                            <a:srgbClr val="383A42"/>
                          </a:solidFill>
                          <a:latin typeface="Calibri"/>
                        </a:rPr>
                        <a:t>lineage.sources</a:t>
                      </a:r>
                    </a:p>
                  </a:txBody>
                  <a:tcPr>
                    <a:solidFill>
                      <a:srgbClr val="F0F0F2"/>
                    </a:solidFill>
                  </a:tcPr>
                </a:tc>
                <a:tc>
                  <a:txBody>
                    <a:bodyPr/>
                    <a:lstStyle/>
                    <a:p>
                      <a:pPr algn="l"/>
                      <a:r>
                        <a:rPr sz="1000" b="0">
                          <a:solidFill>
                            <a:srgbClr val="383A42"/>
                          </a:solidFill>
                          <a:latin typeface="Calibri"/>
                        </a:rPr>
                        <a:t>Per-contributing-dataset provenance</a:t>
                      </a:r>
                    </a:p>
                  </a:txBody>
                  <a:tcPr>
                    <a:solidFill>
                      <a:srgbClr val="F0F0F2"/>
                    </a:solidFill>
                  </a:tcPr>
                </a:tc>
                <a:tc>
                  <a:txBody>
                    <a:bodyPr/>
                    <a:lstStyle/>
                    <a:p>
                      <a:pPr algn="l"/>
                      <a:r>
                        <a:rPr sz="1000" b="0">
                          <a:solidFill>
                            <a:srgbClr val="383A42"/>
                          </a:solidFill>
                          <a:latin typeface="Calibri"/>
                        </a:rPr>
                        <a:t>No</a:t>
                      </a:r>
                    </a:p>
                  </a:txBody>
                  <a:tcPr>
                    <a:solidFill>
                      <a:srgbClr val="F0F0F2"/>
                    </a:solidFill>
                  </a:tcPr>
                </a:tc>
                <a:extLst>
                  <a:ext uri="{0D108BD9-81ED-4DB2-BD59-A6C34878D82A}">
                    <a16:rowId xmlns:a16="http://schemas.microsoft.com/office/drawing/2014/main" val="10002"/>
                  </a:ext>
                </a:extLst>
              </a:tr>
              <a:tr h="274320">
                <a:tc>
                  <a:txBody>
                    <a:bodyPr/>
                    <a:lstStyle/>
                    <a:p>
                      <a:pPr algn="l"/>
                      <a:r>
                        <a:rPr sz="1000" b="0">
                          <a:solidFill>
                            <a:srgbClr val="383A42"/>
                          </a:solidFill>
                          <a:latin typeface="Calibri"/>
                        </a:rPr>
                        <a:t>attributions</a:t>
                      </a:r>
                    </a:p>
                  </a:txBody>
                  <a:tcPr>
                    <a:solidFill>
                      <a:srgbClr val="FFFFFF"/>
                    </a:solidFill>
                  </a:tcPr>
                </a:tc>
                <a:tc>
                  <a:txBody>
                    <a:bodyPr/>
                    <a:lstStyle/>
                    <a:p>
                      <a:pPr algn="l"/>
                      <a:r>
                        <a:rPr sz="1000" b="0">
                          <a:solidFill>
                            <a:srgbClr val="383A42"/>
                          </a:solidFill>
                          <a:latin typeface="Calibri"/>
                        </a:rPr>
                        <a:t>Each contributing org with specific role</a:t>
                      </a:r>
                    </a:p>
                  </a:txBody>
                  <a:tcPr>
                    <a:solidFill>
                      <a:srgbClr val="FFFFFF"/>
                    </a:solidFill>
                  </a:tcPr>
                </a:tc>
                <a:tc>
                  <a:txBody>
                    <a:bodyPr/>
                    <a:lstStyle/>
                    <a:p>
                      <a:pPr algn="l"/>
                      <a:r>
                        <a:rPr sz="1000" b="0">
                          <a:solidFill>
                            <a:srgbClr val="383A42"/>
                          </a:solidFill>
                          <a:latin typeface="Calibri"/>
                        </a:rPr>
                        <a:t>No</a:t>
                      </a:r>
                    </a:p>
                  </a:txBody>
                  <a:tcPr>
                    <a:solidFill>
                      <a:srgbClr val="FFFFFF"/>
                    </a:solidFill>
                  </a:tcPr>
                </a:tc>
                <a:extLst>
                  <a:ext uri="{0D108BD9-81ED-4DB2-BD59-A6C34878D82A}">
                    <a16:rowId xmlns:a16="http://schemas.microsoft.com/office/drawing/2014/main" val="10003"/>
                  </a:ext>
                </a:extLst>
              </a:tr>
              <a:tr h="274320">
                <a:tc>
                  <a:txBody>
                    <a:bodyPr/>
                    <a:lstStyle/>
                    <a:p>
                      <a:pPr algn="l"/>
                      <a:r>
                        <a:rPr sz="1000" b="0">
                          <a:solidFill>
                            <a:srgbClr val="383A42"/>
                          </a:solidFill>
                          <a:latin typeface="Calibri"/>
                        </a:rPr>
                        <a:t>Multi-event event_sets</a:t>
                      </a:r>
                    </a:p>
                  </a:txBody>
                  <a:tcPr>
                    <a:solidFill>
                      <a:srgbClr val="F0F0F2"/>
                    </a:solidFill>
                  </a:tcPr>
                </a:tc>
                <a:tc>
                  <a:txBody>
                    <a:bodyPr/>
                    <a:lstStyle/>
                    <a:p>
                      <a:pPr algn="l"/>
                      <a:r>
                        <a:rPr sz="1000" b="0">
                          <a:solidFill>
                            <a:srgbClr val="383A42"/>
                          </a:solidFill>
                          <a:latin typeface="Calibri"/>
                        </a:rPr>
                        <a:t>One event per stated return period</a:t>
                      </a:r>
                    </a:p>
                  </a:txBody>
                  <a:tcPr>
                    <a:solidFill>
                      <a:srgbClr val="F0F0F2"/>
                    </a:solidFill>
                  </a:tcPr>
                </a:tc>
                <a:tc>
                  <a:txBody>
                    <a:bodyPr/>
                    <a:lstStyle/>
                    <a:p>
                      <a:pPr algn="l"/>
                      <a:r>
                        <a:rPr sz="1000" b="0">
                          <a:solidFill>
                            <a:srgbClr val="383A42"/>
                          </a:solidFill>
                          <a:latin typeface="Calibri"/>
                        </a:rPr>
                        <a:t>No</a:t>
                      </a:r>
                    </a:p>
                  </a:txBody>
                  <a:tcPr>
                    <a:solidFill>
                      <a:srgbClr val="F0F0F2"/>
                    </a:solidFill>
                  </a:tcPr>
                </a:tc>
                <a:extLst>
                  <a:ext uri="{0D108BD9-81ED-4DB2-BD59-A6C34878D82A}">
                    <a16:rowId xmlns:a16="http://schemas.microsoft.com/office/drawing/2014/main" val="10004"/>
                  </a:ext>
                </a:extLst>
              </a:tr>
              <a:tr h="274320">
                <a:tc>
                  <a:txBody>
                    <a:bodyPr/>
                    <a:lstStyle/>
                    <a:p>
                      <a:pPr algn="l"/>
                      <a:r>
                        <a:rPr sz="1000" b="0">
                          <a:solidFill>
                            <a:srgbClr val="383A42"/>
                          </a:solidFill>
                          <a:latin typeface="Calibri"/>
                        </a:rPr>
                        <a:t>Multiple exposure items</a:t>
                      </a:r>
                    </a:p>
                  </a:txBody>
                  <a:tcPr>
                    <a:solidFill>
                      <a:srgbClr val="FFFFFF"/>
                    </a:solidFill>
                  </a:tcPr>
                </a:tc>
                <a:tc>
                  <a:txBody>
                    <a:bodyPr/>
                    <a:lstStyle/>
                    <a:p>
                      <a:pPr algn="l"/>
                      <a:r>
                        <a:rPr sz="1000" b="0">
                          <a:solidFill>
                            <a:srgbClr val="383A42"/>
                          </a:solidFill>
                          <a:latin typeface="Calibri"/>
                        </a:rPr>
                        <a:t>One item per asset category</a:t>
                      </a:r>
                    </a:p>
                  </a:txBody>
                  <a:tcPr>
                    <a:solidFill>
                      <a:srgbClr val="FFFFFF"/>
                    </a:solidFill>
                  </a:tcPr>
                </a:tc>
                <a:tc>
                  <a:txBody>
                    <a:bodyPr/>
                    <a:lstStyle/>
                    <a:p>
                      <a:pPr algn="l"/>
                      <a:r>
                        <a:rPr sz="1000" b="0">
                          <a:solidFill>
                            <a:srgbClr val="383A42"/>
                          </a:solidFill>
                          <a:latin typeface="Calibri"/>
                        </a:rPr>
                        <a:t>No</a:t>
                      </a:r>
                    </a:p>
                  </a:txBody>
                  <a:tcPr>
                    <a:solidFill>
                      <a:srgbClr val="FFFFFF"/>
                    </a:solidFill>
                  </a:tcPr>
                </a:tc>
                <a:extLst>
                  <a:ext uri="{0D108BD9-81ED-4DB2-BD59-A6C34878D82A}">
                    <a16:rowId xmlns:a16="http://schemas.microsoft.com/office/drawing/2014/main" val="10005"/>
                  </a:ext>
                </a:extLst>
              </a:tr>
              <a:tr h="274320">
                <a:tc>
                  <a:txBody>
                    <a:bodyPr/>
                    <a:lstStyle/>
                    <a:p>
                      <a:pPr algn="l"/>
                      <a:r>
                        <a:rPr sz="1000" b="0">
                          <a:solidFill>
                            <a:srgbClr val="383A42"/>
                          </a:solidFill>
                          <a:latin typeface="Calibri"/>
                        </a:rPr>
                        <a:t>Multiple loss entries</a:t>
                      </a:r>
                    </a:p>
                  </a:txBody>
                  <a:tcPr>
                    <a:solidFill>
                      <a:srgbClr val="F0F0F2"/>
                    </a:solidFill>
                  </a:tcPr>
                </a:tc>
                <a:tc>
                  <a:txBody>
                    <a:bodyPr/>
                    <a:lstStyle/>
                    <a:p>
                      <a:pPr algn="l"/>
                      <a:r>
                        <a:rPr sz="1000" b="0">
                          <a:solidFill>
                            <a:srgbClr val="383A42"/>
                          </a:solidFill>
                          <a:latin typeface="Calibri"/>
                        </a:rPr>
                        <a:t>One entry per impact combination</a:t>
                      </a:r>
                    </a:p>
                  </a:txBody>
                  <a:tcPr>
                    <a:solidFill>
                      <a:srgbClr val="F0F0F2"/>
                    </a:solidFill>
                  </a:tcPr>
                </a:tc>
                <a:tc>
                  <a:txBody>
                    <a:bodyPr/>
                    <a:lstStyle/>
                    <a:p>
                      <a:pPr algn="l"/>
                      <a:r>
                        <a:rPr sz="1000" b="0" dirty="0">
                          <a:solidFill>
                            <a:srgbClr val="383A42"/>
                          </a:solidFill>
                          <a:latin typeface="Calibri"/>
                        </a:rPr>
                        <a:t>No</a:t>
                      </a:r>
                    </a:p>
                  </a:txBody>
                  <a:tcPr>
                    <a:solidFill>
                      <a:srgbClr val="F0F0F2"/>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p:cNvSpPr/>
          <p:nvPr/>
        </p:nvSpPr>
        <p:spPr>
          <a:xfrm>
            <a:off x="0" y="3493008"/>
            <a:ext cx="12188952" cy="19050"/>
          </a:xfrm>
          <a:prstGeom prst="rect">
            <a:avLst/>
          </a:prstGeom>
          <a:solidFill>
            <a:srgbClr val="50A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31720"/>
            <a:ext cx="10972800" cy="246221"/>
          </a:xfrm>
          <a:prstGeom prst="rect">
            <a:avLst/>
          </a:prstGeom>
          <a:noFill/>
        </p:spPr>
        <p:txBody>
          <a:bodyPr wrap="square" lIns="0" tIns="0" rIns="0" bIns="0">
            <a:spAutoFit/>
          </a:bodyPr>
          <a:lstStyle/>
          <a:p>
            <a:pPr algn="l"/>
            <a:r>
              <a:rPr sz="1600" b="0" dirty="0">
                <a:solidFill>
                  <a:srgbClr val="50A14F"/>
                </a:solidFill>
                <a:latin typeface="Calibri"/>
              </a:rPr>
              <a:t>Act</a:t>
            </a:r>
            <a:r>
              <a:rPr lang="en-US" sz="1600" b="0" dirty="0">
                <a:solidFill>
                  <a:srgbClr val="50A14F"/>
                </a:solidFill>
                <a:latin typeface="Calibri"/>
              </a:rPr>
              <a:t>ivity</a:t>
            </a:r>
            <a:r>
              <a:rPr sz="1600" b="0" dirty="0">
                <a:solidFill>
                  <a:srgbClr val="50A14F"/>
                </a:solidFill>
                <a:latin typeface="Calibri"/>
              </a:rPr>
              <a:t> 3</a:t>
            </a:r>
          </a:p>
        </p:txBody>
      </p:sp>
      <p:sp>
        <p:nvSpPr>
          <p:cNvPr id="5" name="TextBox 4"/>
          <p:cNvSpPr txBox="1"/>
          <p:nvPr/>
        </p:nvSpPr>
        <p:spPr>
          <a:xfrm>
            <a:off x="502920" y="2743200"/>
            <a:ext cx="10972800" cy="914400"/>
          </a:xfrm>
          <a:prstGeom prst="rect">
            <a:avLst/>
          </a:prstGeom>
          <a:noFill/>
        </p:spPr>
        <p:txBody>
          <a:bodyPr wrap="square" lIns="0" tIns="0" rIns="0" bIns="0">
            <a:spAutoFit/>
          </a:bodyPr>
          <a:lstStyle/>
          <a:p>
            <a:pPr algn="l"/>
            <a:r>
              <a:rPr sz="4200" b="1">
                <a:solidFill>
                  <a:srgbClr val="383A42"/>
                </a:solidFill>
                <a:latin typeface="Calibri"/>
              </a:rPr>
              <a:t>The LLM-First Pipeline</a:t>
            </a:r>
          </a:p>
        </p:txBody>
      </p:sp>
      <p:sp>
        <p:nvSpPr>
          <p:cNvPr id="6" name="TextBox 5"/>
          <p:cNvSpPr txBox="1"/>
          <p:nvPr/>
        </p:nvSpPr>
        <p:spPr>
          <a:xfrm>
            <a:off x="502920" y="3749039"/>
            <a:ext cx="10972800" cy="246221"/>
          </a:xfrm>
          <a:prstGeom prst="rect">
            <a:avLst/>
          </a:prstGeom>
          <a:noFill/>
        </p:spPr>
        <p:txBody>
          <a:bodyPr wrap="square" lIns="0" tIns="0" rIns="0" bIns="0">
            <a:spAutoFit/>
          </a:bodyPr>
          <a:lstStyle/>
          <a:p>
            <a:pPr algn="l"/>
            <a:r>
              <a:rPr sz="1600" b="0" dirty="0">
                <a:solidFill>
                  <a:srgbClr val="383A42"/>
                </a:solidFill>
                <a:latin typeface="Calibri"/>
              </a:rPr>
              <a:t>One call. </a:t>
            </a:r>
            <a:r>
              <a:rPr sz="1600" b="0" dirty="0">
                <a:solidFill>
                  <a:srgbClr val="50A14F"/>
                </a:solidFill>
                <a:latin typeface="Calibri"/>
              </a:rPr>
              <a:t>Full richness. </a:t>
            </a:r>
            <a:r>
              <a:rPr sz="1600" b="0" dirty="0">
                <a:solidFill>
                  <a:srgbClr val="383A42"/>
                </a:solidFill>
                <a:latin typeface="Calibri"/>
              </a:rPr>
              <a:t>Zero regex. </a:t>
            </a:r>
            <a:r>
              <a:rPr sz="1600" b="0" dirty="0">
                <a:solidFill>
                  <a:srgbClr val="50A14F"/>
                </a:solidFill>
                <a:latin typeface="Calibri"/>
              </a:rPr>
              <a:t>RDLS v1.0. </a:t>
            </a:r>
            <a:r>
              <a:rPr sz="1600" b="0" dirty="0">
                <a:solidFill>
                  <a:srgbClr val="383A42"/>
                </a:solidFill>
                <a:latin typeface="Calibri"/>
              </a:rPr>
              <a:t>26,246 datasets. </a:t>
            </a:r>
            <a:r>
              <a:rPr sz="1600" b="0" dirty="0">
                <a:solidFill>
                  <a:srgbClr val="50A14F"/>
                </a:solidFill>
                <a:latin typeface="Calibri"/>
              </a:rPr>
              <a:t>Zero invalid records.</a:t>
            </a:r>
          </a:p>
        </p:txBody>
      </p:sp>
      <p:sp>
        <p:nvSpPr>
          <p:cNvPr id="7" name="TextBox 6"/>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14 / 26</a:t>
            </a:r>
          </a:p>
        </p:txBody>
      </p:sp>
      <p:sp>
        <p:nvSpPr>
          <p:cNvPr id="2" name="Rectangle 1"/>
          <p:cNvSpPr/>
          <p:nvPr/>
        </p:nvSpPr>
        <p:spPr>
          <a:xfrm>
            <a:off x="0" y="0"/>
            <a:ext cx="180000" cy="6858000"/>
          </a:xfrm>
          <a:prstGeom prst="rect">
            <a:avLst/>
          </a:prstGeom>
          <a:solidFill>
            <a:srgbClr val="50A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dirty="0">
                <a:solidFill>
                  <a:srgbClr val="0184BC"/>
                </a:solidFill>
                <a:latin typeface="Calibri"/>
              </a:rPr>
              <a:t>Act 3: Why Remove Regex Entirely?</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Two forces converged: v1.0 schema requirements + economics of LLM pricing</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15 / 26</a:t>
            </a:r>
          </a:p>
        </p:txBody>
      </p:sp>
      <p:sp>
        <p:nvSpPr>
          <p:cNvPr id="7" name="TextBox 6"/>
          <p:cNvSpPr txBox="1"/>
          <p:nvPr/>
        </p:nvSpPr>
        <p:spPr>
          <a:xfrm>
            <a:off x="411480" y="1024128"/>
            <a:ext cx="5577840" cy="215444"/>
          </a:xfrm>
          <a:prstGeom prst="rect">
            <a:avLst/>
          </a:prstGeom>
          <a:noFill/>
        </p:spPr>
        <p:txBody>
          <a:bodyPr wrap="square" lIns="0" tIns="0" rIns="0" bIns="0">
            <a:spAutoFit/>
          </a:bodyPr>
          <a:lstStyle/>
          <a:p>
            <a:pPr algn="l"/>
            <a:r>
              <a:rPr sz="1400" b="1" dirty="0">
                <a:solidFill>
                  <a:srgbClr val="0184BC"/>
                </a:solidFill>
                <a:latin typeface="Calibri"/>
              </a:rPr>
              <a:t>Economics changed</a:t>
            </a:r>
          </a:p>
        </p:txBody>
      </p:sp>
      <p:graphicFrame>
        <p:nvGraphicFramePr>
          <p:cNvPr id="8" name="Table 7"/>
          <p:cNvGraphicFramePr>
            <a:graphicFrameLocks noGrp="1"/>
          </p:cNvGraphicFramePr>
          <p:nvPr>
            <p:extLst>
              <p:ext uri="{D42A27DB-BD31-4B8C-83A1-F6EECF244321}">
                <p14:modId xmlns:p14="http://schemas.microsoft.com/office/powerpoint/2010/main" val="4190105291"/>
              </p:ext>
            </p:extLst>
          </p:nvPr>
        </p:nvGraphicFramePr>
        <p:xfrm>
          <a:off x="411480" y="1417320"/>
          <a:ext cx="5486400" cy="169164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22910">
                <a:tc>
                  <a:txBody>
                    <a:bodyPr/>
                    <a:lstStyle/>
                    <a:p>
                      <a:pPr algn="ctr"/>
                      <a:r>
                        <a:rPr sz="1400" b="1" dirty="0">
                          <a:solidFill>
                            <a:srgbClr val="FFFFFF"/>
                          </a:solidFill>
                          <a:latin typeface="Calibri"/>
                        </a:rPr>
                        <a:t>Approach</a:t>
                      </a:r>
                    </a:p>
                  </a:txBody>
                  <a:tcPr>
                    <a:solidFill>
                      <a:srgbClr val="383A42"/>
                    </a:solidFill>
                  </a:tcPr>
                </a:tc>
                <a:tc>
                  <a:txBody>
                    <a:bodyPr/>
                    <a:lstStyle/>
                    <a:p>
                      <a:pPr algn="ctr"/>
                      <a:r>
                        <a:rPr sz="1400" b="1" dirty="0">
                          <a:solidFill>
                            <a:srgbClr val="FFFFFF"/>
                          </a:solidFill>
                          <a:latin typeface="Calibri"/>
                        </a:rPr>
                        <a:t>LLM cost</a:t>
                      </a:r>
                    </a:p>
                  </a:txBody>
                  <a:tcPr>
                    <a:solidFill>
                      <a:srgbClr val="383A42"/>
                    </a:solidFill>
                  </a:tcPr>
                </a:tc>
                <a:tc>
                  <a:txBody>
                    <a:bodyPr/>
                    <a:lstStyle/>
                    <a:p>
                      <a:pPr algn="ctr"/>
                      <a:r>
                        <a:rPr sz="1400" b="1" dirty="0">
                          <a:solidFill>
                            <a:srgbClr val="FFFFFF"/>
                          </a:solidFill>
                          <a:latin typeface="Calibri"/>
                        </a:rPr>
                        <a:t>Time</a:t>
                      </a:r>
                    </a:p>
                  </a:txBody>
                  <a:tcPr>
                    <a:solidFill>
                      <a:srgbClr val="383A42"/>
                    </a:solidFill>
                  </a:tcPr>
                </a:tc>
                <a:extLst>
                  <a:ext uri="{0D108BD9-81ED-4DB2-BD59-A6C34878D82A}">
                    <a16:rowId xmlns:a16="http://schemas.microsoft.com/office/drawing/2014/main" val="10000"/>
                  </a:ext>
                </a:extLst>
              </a:tr>
              <a:tr h="422910">
                <a:tc>
                  <a:txBody>
                    <a:bodyPr/>
                    <a:lstStyle/>
                    <a:p>
                      <a:pPr algn="l"/>
                      <a:r>
                        <a:rPr sz="1100" b="0">
                          <a:solidFill>
                            <a:srgbClr val="383A42"/>
                          </a:solidFill>
                          <a:latin typeface="Calibri"/>
                        </a:rPr>
                        <a:t>Act 1: Regex only</a:t>
                      </a:r>
                    </a:p>
                  </a:txBody>
                  <a:tcPr>
                    <a:solidFill>
                      <a:srgbClr val="FFFFFF"/>
                    </a:solidFill>
                  </a:tcPr>
                </a:tc>
                <a:tc>
                  <a:txBody>
                    <a:bodyPr/>
                    <a:lstStyle/>
                    <a:p>
                      <a:pPr algn="l"/>
                      <a:r>
                        <a:rPr sz="1100" b="0">
                          <a:solidFill>
                            <a:srgbClr val="383A42"/>
                          </a:solidFill>
                          <a:latin typeface="Calibri"/>
                        </a:rPr>
                        <a:t>USD 0</a:t>
                      </a:r>
                    </a:p>
                  </a:txBody>
                  <a:tcPr>
                    <a:solidFill>
                      <a:srgbClr val="FFFFFF"/>
                    </a:solidFill>
                  </a:tcPr>
                </a:tc>
                <a:tc>
                  <a:txBody>
                    <a:bodyPr/>
                    <a:lstStyle/>
                    <a:p>
                      <a:pPr algn="l"/>
                      <a:r>
                        <a:rPr sz="1100" b="0">
                          <a:solidFill>
                            <a:srgbClr val="383A42"/>
                          </a:solidFill>
                          <a:latin typeface="Calibri"/>
                        </a:rPr>
                        <a:t>&lt; 60 sec</a:t>
                      </a:r>
                    </a:p>
                  </a:txBody>
                  <a:tcPr>
                    <a:solidFill>
                      <a:srgbClr val="FFFFFF"/>
                    </a:solidFill>
                  </a:tcPr>
                </a:tc>
                <a:extLst>
                  <a:ext uri="{0D108BD9-81ED-4DB2-BD59-A6C34878D82A}">
                    <a16:rowId xmlns:a16="http://schemas.microsoft.com/office/drawing/2014/main" val="10001"/>
                  </a:ext>
                </a:extLst>
              </a:tr>
              <a:tr h="422910">
                <a:tc>
                  <a:txBody>
                    <a:bodyPr/>
                    <a:lstStyle/>
                    <a:p>
                      <a:pPr algn="l"/>
                      <a:r>
                        <a:rPr sz="1100" b="0">
                          <a:solidFill>
                            <a:srgbClr val="383A42"/>
                          </a:solidFill>
                          <a:latin typeface="Calibri"/>
                        </a:rPr>
                        <a:t>Act 2: Regex + LLM</a:t>
                      </a:r>
                    </a:p>
                  </a:txBody>
                  <a:tcPr>
                    <a:solidFill>
                      <a:srgbClr val="F0F0F2"/>
                    </a:solidFill>
                  </a:tcPr>
                </a:tc>
                <a:tc>
                  <a:txBody>
                    <a:bodyPr/>
                    <a:lstStyle/>
                    <a:p>
                      <a:pPr algn="l"/>
                      <a:r>
                        <a:rPr sz="1100" b="0">
                          <a:solidFill>
                            <a:srgbClr val="383A42"/>
                          </a:solidFill>
                          <a:latin typeface="Calibri"/>
                        </a:rPr>
                        <a:t>~USD 22</a:t>
                      </a:r>
                    </a:p>
                  </a:txBody>
                  <a:tcPr>
                    <a:solidFill>
                      <a:srgbClr val="F0F0F2"/>
                    </a:solidFill>
                  </a:tcPr>
                </a:tc>
                <a:tc>
                  <a:txBody>
                    <a:bodyPr/>
                    <a:lstStyle/>
                    <a:p>
                      <a:pPr algn="l"/>
                      <a:r>
                        <a:rPr sz="1100" b="0">
                          <a:solidFill>
                            <a:srgbClr val="383A42"/>
                          </a:solidFill>
                          <a:latin typeface="Calibri"/>
                        </a:rPr>
                        <a:t>~22 min (cached)</a:t>
                      </a:r>
                    </a:p>
                  </a:txBody>
                  <a:tcPr>
                    <a:solidFill>
                      <a:srgbClr val="F0F0F2"/>
                    </a:solidFill>
                  </a:tcPr>
                </a:tc>
                <a:extLst>
                  <a:ext uri="{0D108BD9-81ED-4DB2-BD59-A6C34878D82A}">
                    <a16:rowId xmlns:a16="http://schemas.microsoft.com/office/drawing/2014/main" val="10002"/>
                  </a:ext>
                </a:extLst>
              </a:tr>
              <a:tr h="422910">
                <a:tc>
                  <a:txBody>
                    <a:bodyPr/>
                    <a:lstStyle/>
                    <a:p>
                      <a:pPr algn="l"/>
                      <a:r>
                        <a:rPr sz="1100" b="0">
                          <a:solidFill>
                            <a:srgbClr val="383A42"/>
                          </a:solidFill>
                          <a:latin typeface="Calibri"/>
                        </a:rPr>
                        <a:t>Act 3: LLM all 26,246</a:t>
                      </a:r>
                    </a:p>
                  </a:txBody>
                  <a:tcPr>
                    <a:solidFill>
                      <a:srgbClr val="FFFFFF"/>
                    </a:solidFill>
                  </a:tcPr>
                </a:tc>
                <a:tc>
                  <a:txBody>
                    <a:bodyPr/>
                    <a:lstStyle/>
                    <a:p>
                      <a:pPr algn="l"/>
                      <a:r>
                        <a:rPr sz="1100" b="0">
                          <a:solidFill>
                            <a:srgbClr val="383A42"/>
                          </a:solidFill>
                          <a:latin typeface="Calibri"/>
                        </a:rPr>
                        <a:t>~USD 123</a:t>
                      </a:r>
                    </a:p>
                  </a:txBody>
                  <a:tcPr>
                    <a:solidFill>
                      <a:srgbClr val="FFFFFF"/>
                    </a:solidFill>
                  </a:tcPr>
                </a:tc>
                <a:tc>
                  <a:txBody>
                    <a:bodyPr/>
                    <a:lstStyle/>
                    <a:p>
                      <a:pPr algn="l"/>
                      <a:r>
                        <a:rPr sz="1100" b="0" dirty="0">
                          <a:solidFill>
                            <a:srgbClr val="383A42"/>
                          </a:solidFill>
                          <a:latin typeface="Calibri"/>
                        </a:rPr>
                        <a:t>~24 hours</a:t>
                      </a:r>
                    </a:p>
                  </a:txBody>
                  <a:tcPr>
                    <a:solidFill>
                      <a:srgbClr val="FFFFFF"/>
                    </a:solidFill>
                  </a:tcPr>
                </a:tc>
                <a:extLst>
                  <a:ext uri="{0D108BD9-81ED-4DB2-BD59-A6C34878D82A}">
                    <a16:rowId xmlns:a16="http://schemas.microsoft.com/office/drawing/2014/main" val="10003"/>
                  </a:ext>
                </a:extLst>
              </a:tr>
            </a:tbl>
          </a:graphicData>
        </a:graphic>
      </p:graphicFrame>
      <p:sp>
        <p:nvSpPr>
          <p:cNvPr id="9" name="Rectangle 8"/>
          <p:cNvSpPr/>
          <p:nvPr/>
        </p:nvSpPr>
        <p:spPr>
          <a:xfrm>
            <a:off x="411480" y="3218688"/>
            <a:ext cx="5486400" cy="91440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11480" y="3218688"/>
            <a:ext cx="50800" cy="914400"/>
          </a:xfrm>
          <a:prstGeom prst="rect">
            <a:avLst/>
          </a:prstGeom>
          <a:solidFill>
            <a:srgbClr val="50A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89280" y="3294888"/>
            <a:ext cx="5232400" cy="369332"/>
          </a:xfrm>
          <a:prstGeom prst="rect">
            <a:avLst/>
          </a:prstGeom>
          <a:noFill/>
        </p:spPr>
        <p:txBody>
          <a:bodyPr wrap="square" lIns="0" tIns="0" rIns="0" bIns="0">
            <a:spAutoFit/>
          </a:bodyPr>
          <a:lstStyle/>
          <a:p>
            <a:r>
              <a:rPr sz="1200" b="0" dirty="0">
                <a:solidFill>
                  <a:srgbClr val="383A42"/>
                </a:solidFill>
                <a:latin typeface="Calibri"/>
              </a:rPr>
              <a:t>USD 123 for 26,246 datasets - comparable to less than one day of contractor time. The economic barrier that motivated the hybrid gating design no longer exists.</a:t>
            </a:r>
          </a:p>
        </p:txBody>
      </p:sp>
      <p:sp>
        <p:nvSpPr>
          <p:cNvPr id="12" name="TextBox 11"/>
          <p:cNvSpPr txBox="1"/>
          <p:nvPr/>
        </p:nvSpPr>
        <p:spPr>
          <a:xfrm>
            <a:off x="6217920" y="1024128"/>
            <a:ext cx="5486400" cy="215444"/>
          </a:xfrm>
          <a:prstGeom prst="rect">
            <a:avLst/>
          </a:prstGeom>
          <a:noFill/>
        </p:spPr>
        <p:txBody>
          <a:bodyPr wrap="square" lIns="0" tIns="0" rIns="0" bIns="0">
            <a:spAutoFit/>
          </a:bodyPr>
          <a:lstStyle/>
          <a:p>
            <a:pPr algn="l"/>
            <a:r>
              <a:rPr sz="1400" b="1" dirty="0">
                <a:solidFill>
                  <a:srgbClr val="0184BC"/>
                </a:solidFill>
                <a:latin typeface="Calibri"/>
              </a:rPr>
              <a:t>v1.0 schema demands LLM-level understanding</a:t>
            </a:r>
          </a:p>
        </p:txBody>
      </p:sp>
      <p:sp>
        <p:nvSpPr>
          <p:cNvPr id="13" name="TextBox 12"/>
          <p:cNvSpPr txBox="1"/>
          <p:nvPr/>
        </p:nvSpPr>
        <p:spPr>
          <a:xfrm>
            <a:off x="6217920" y="1444752"/>
            <a:ext cx="5486400" cy="384048"/>
          </a:xfrm>
          <a:prstGeom prst="rect">
            <a:avLst/>
          </a:prstGeom>
          <a:noFill/>
        </p:spPr>
        <p:txBody>
          <a:bodyPr wrap="square" lIns="0" tIns="0" rIns="0" bIns="0">
            <a:spAutoFit/>
          </a:bodyPr>
          <a:lstStyle/>
          <a:p>
            <a:pPr algn="l"/>
            <a:r>
              <a:rPr sz="1150" b="0">
                <a:solidFill>
                  <a:srgbClr val="0184BC"/>
                </a:solidFill>
                <a:latin typeface="Calibri"/>
              </a:rPr>
              <a:t>  publisher / creator / contact_point</a:t>
            </a:r>
          </a:p>
        </p:txBody>
      </p:sp>
      <p:sp>
        <p:nvSpPr>
          <p:cNvPr id="14" name="TextBox 13"/>
          <p:cNvSpPr txBox="1"/>
          <p:nvPr/>
        </p:nvSpPr>
        <p:spPr>
          <a:xfrm>
            <a:off x="6217920" y="1847088"/>
            <a:ext cx="5486400" cy="384048"/>
          </a:xfrm>
          <a:prstGeom prst="rect">
            <a:avLst/>
          </a:prstGeom>
          <a:noFill/>
        </p:spPr>
        <p:txBody>
          <a:bodyPr wrap="square" lIns="0" tIns="0" rIns="0" bIns="0">
            <a:spAutoFit/>
          </a:bodyPr>
          <a:lstStyle/>
          <a:p>
            <a:pPr algn="l"/>
            <a:r>
              <a:rPr sz="1150" b="0">
                <a:solidFill>
                  <a:srgbClr val="0184BC"/>
                </a:solidFill>
                <a:latin typeface="Calibri"/>
              </a:rPr>
              <a:t>  lineage.sources  (per contributing dataset)</a:t>
            </a:r>
          </a:p>
        </p:txBody>
      </p:sp>
      <p:sp>
        <p:nvSpPr>
          <p:cNvPr id="15" name="TextBox 14"/>
          <p:cNvSpPr txBox="1"/>
          <p:nvPr/>
        </p:nvSpPr>
        <p:spPr>
          <a:xfrm>
            <a:off x="6217920" y="2249424"/>
            <a:ext cx="5486400" cy="384048"/>
          </a:xfrm>
          <a:prstGeom prst="rect">
            <a:avLst/>
          </a:prstGeom>
          <a:noFill/>
        </p:spPr>
        <p:txBody>
          <a:bodyPr wrap="square" lIns="0" tIns="0" rIns="0" bIns="0">
            <a:spAutoFit/>
          </a:bodyPr>
          <a:lstStyle/>
          <a:p>
            <a:pPr algn="l"/>
            <a:r>
              <a:rPr sz="1150" b="0">
                <a:solidFill>
                  <a:srgbClr val="0997B3"/>
                </a:solidFill>
                <a:latin typeface="Calibri"/>
              </a:rPr>
              <a:t>  Multi-event event_sets with return periods</a:t>
            </a:r>
          </a:p>
        </p:txBody>
      </p:sp>
      <p:sp>
        <p:nvSpPr>
          <p:cNvPr id="16" name="TextBox 15"/>
          <p:cNvSpPr txBox="1"/>
          <p:nvPr/>
        </p:nvSpPr>
        <p:spPr>
          <a:xfrm>
            <a:off x="6217920" y="2651760"/>
            <a:ext cx="5486400" cy="384048"/>
          </a:xfrm>
          <a:prstGeom prst="rect">
            <a:avLst/>
          </a:prstGeom>
          <a:noFill/>
        </p:spPr>
        <p:txBody>
          <a:bodyPr wrap="square" lIns="0" tIns="0" rIns="0" bIns="0">
            <a:spAutoFit/>
          </a:bodyPr>
          <a:lstStyle/>
          <a:p>
            <a:pPr algn="l"/>
            <a:r>
              <a:rPr sz="1150" b="0">
                <a:solidFill>
                  <a:srgbClr val="0997B3"/>
                </a:solidFill>
                <a:latin typeface="Calibri"/>
              </a:rPr>
              <a:t>  Multiple Exposure_item per record</a:t>
            </a:r>
          </a:p>
        </p:txBody>
      </p:sp>
      <p:sp>
        <p:nvSpPr>
          <p:cNvPr id="17" name="TextBox 16"/>
          <p:cNvSpPr txBox="1"/>
          <p:nvPr/>
        </p:nvSpPr>
        <p:spPr>
          <a:xfrm>
            <a:off x="6217920" y="3054096"/>
            <a:ext cx="5486400" cy="384048"/>
          </a:xfrm>
          <a:prstGeom prst="rect">
            <a:avLst/>
          </a:prstGeom>
          <a:noFill/>
        </p:spPr>
        <p:txBody>
          <a:bodyPr wrap="square" lIns="0" tIns="0" rIns="0" bIns="0">
            <a:spAutoFit/>
          </a:bodyPr>
          <a:lstStyle/>
          <a:p>
            <a:pPr algn="l"/>
            <a:r>
              <a:rPr sz="1150" b="0">
                <a:solidFill>
                  <a:srgbClr val="0997B3"/>
                </a:solidFill>
                <a:latin typeface="Calibri"/>
              </a:rPr>
              <a:t>  Multiple Losses entries per record</a:t>
            </a:r>
          </a:p>
        </p:txBody>
      </p:sp>
      <p:sp>
        <p:nvSpPr>
          <p:cNvPr id="18" name="TextBox 17"/>
          <p:cNvSpPr txBox="1"/>
          <p:nvPr/>
        </p:nvSpPr>
        <p:spPr>
          <a:xfrm>
            <a:off x="6217920" y="3456432"/>
            <a:ext cx="5486400" cy="384048"/>
          </a:xfrm>
          <a:prstGeom prst="rect">
            <a:avLst/>
          </a:prstGeom>
          <a:noFill/>
        </p:spPr>
        <p:txBody>
          <a:bodyPr wrap="square" lIns="0" tIns="0" rIns="0" bIns="0">
            <a:spAutoFit/>
          </a:bodyPr>
          <a:lstStyle/>
          <a:p>
            <a:pPr algn="l"/>
            <a:r>
              <a:rPr sz="1150" b="0">
                <a:solidFill>
                  <a:srgbClr val="696C77"/>
                </a:solidFill>
                <a:latin typeface="Calibri"/>
              </a:rPr>
              <a:t>  impact_modelling: observed / simulated / inferred</a:t>
            </a:r>
          </a:p>
        </p:txBody>
      </p:sp>
      <p:sp>
        <p:nvSpPr>
          <p:cNvPr id="19" name="TextBox 18"/>
          <p:cNvSpPr txBox="1"/>
          <p:nvPr/>
        </p:nvSpPr>
        <p:spPr>
          <a:xfrm>
            <a:off x="6217920" y="3858768"/>
            <a:ext cx="5486400" cy="384048"/>
          </a:xfrm>
          <a:prstGeom prst="rect">
            <a:avLst/>
          </a:prstGeom>
          <a:noFill/>
        </p:spPr>
        <p:txBody>
          <a:bodyPr wrap="square" lIns="0" tIns="0" rIns="0" bIns="0">
            <a:spAutoFit/>
          </a:bodyPr>
          <a:lstStyle/>
          <a:p>
            <a:pPr algn="l"/>
            <a:r>
              <a:rPr sz="1150" b="0">
                <a:solidFill>
                  <a:srgbClr val="696C77"/>
                </a:solidFill>
                <a:latin typeface="Calibri"/>
              </a:rPr>
              <a:t>  loss_approach: empirical / analytical</a:t>
            </a:r>
          </a:p>
        </p:txBody>
      </p:sp>
      <p:sp>
        <p:nvSpPr>
          <p:cNvPr id="20" name="Rectangle 19"/>
          <p:cNvSpPr/>
          <p:nvPr/>
        </p:nvSpPr>
        <p:spPr>
          <a:xfrm>
            <a:off x="6217920" y="4343400"/>
            <a:ext cx="5486400" cy="96012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17920" y="4343400"/>
            <a:ext cx="50800" cy="960120"/>
          </a:xfrm>
          <a:prstGeom prst="rect">
            <a:avLst/>
          </a:prstGeom>
          <a:solidFill>
            <a:srgbClr val="C18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95720" y="4419600"/>
            <a:ext cx="5232400" cy="369332"/>
          </a:xfrm>
          <a:prstGeom prst="rect">
            <a:avLst/>
          </a:prstGeom>
          <a:noFill/>
        </p:spPr>
        <p:txBody>
          <a:bodyPr wrap="square" lIns="0" tIns="0" rIns="0" bIns="0">
            <a:spAutoFit/>
          </a:bodyPr>
          <a:lstStyle/>
          <a:p>
            <a:r>
              <a:rPr sz="1200" b="0" dirty="0">
                <a:solidFill>
                  <a:srgbClr val="383A42"/>
                </a:solidFill>
                <a:latin typeface="Calibri"/>
              </a:rPr>
              <a:t>None of these fields can be populated by regex. They require reading methodology descriptions and making semantic inferences.</a:t>
            </a:r>
          </a:p>
        </p:txBody>
      </p:sp>
      <p:sp>
        <p:nvSpPr>
          <p:cNvPr id="23" name="Rectangle 22"/>
          <p:cNvSpPr/>
          <p:nvPr/>
        </p:nvSpPr>
        <p:spPr>
          <a:xfrm>
            <a:off x="411480" y="5413248"/>
            <a:ext cx="11338560" cy="658368"/>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11480" y="5413248"/>
            <a:ext cx="50800" cy="658368"/>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89280" y="5608713"/>
            <a:ext cx="11084560" cy="215444"/>
          </a:xfrm>
          <a:prstGeom prst="rect">
            <a:avLst/>
          </a:prstGeom>
          <a:noFill/>
        </p:spPr>
        <p:txBody>
          <a:bodyPr wrap="square" lIns="0" tIns="0" rIns="0" bIns="0">
            <a:spAutoFit/>
          </a:bodyPr>
          <a:lstStyle/>
          <a:p>
            <a:r>
              <a:rPr sz="1400" b="1" dirty="0">
                <a:solidFill>
                  <a:srgbClr val="383A42"/>
                </a:solidFill>
                <a:latin typeface="Calibri"/>
              </a:rPr>
              <a:t>Result: a single code path, not four phases. Every dataset takes the same route. Simpler architecture. Higher quality across ALL records.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a:solidFill>
                  <a:srgbClr val="0184BC"/>
                </a:solidFill>
                <a:latin typeface="Calibri"/>
              </a:rPr>
              <a:t>Act 3: The New Architecture</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One LLM call does what four phases previously required</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16 / 26</a:t>
            </a:r>
          </a:p>
        </p:txBody>
      </p:sp>
      <p:sp>
        <p:nvSpPr>
          <p:cNvPr id="7" name="Rectangle 6"/>
          <p:cNvSpPr/>
          <p:nvPr/>
        </p:nvSpPr>
        <p:spPr>
          <a:xfrm>
            <a:off x="411480" y="1103638"/>
            <a:ext cx="11338560" cy="5486400"/>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11480" y="1103638"/>
            <a:ext cx="38100" cy="5486400"/>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8480" y="1205238"/>
            <a:ext cx="11109960" cy="5283200"/>
          </a:xfrm>
          <a:prstGeom prst="rect">
            <a:avLst/>
          </a:prstGeom>
          <a:noFill/>
        </p:spPr>
        <p:txBody>
          <a:bodyPr wrap="none" lIns="0" tIns="0" rIns="0" bIns="0">
            <a:spAutoFit/>
          </a:bodyPr>
          <a:lstStyle/>
          <a:p>
            <a:pPr>
              <a:spcBef>
                <a:spcPts val="0"/>
              </a:spcBef>
              <a:spcAft>
                <a:spcPts val="0"/>
              </a:spcAft>
            </a:pPr>
            <a:r>
              <a:rPr sz="950">
                <a:solidFill>
                  <a:srgbClr val="DCDFE4"/>
                </a:solidFill>
                <a:latin typeface="Consolas"/>
              </a:rPr>
              <a:t>HDX JSON metadata</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      v</a:t>
            </a:r>
          </a:p>
          <a:p>
            <a:pPr>
              <a:spcBef>
                <a:spcPts val="0"/>
              </a:spcBef>
              <a:spcAft>
                <a:spcPts val="0"/>
              </a:spcAft>
            </a:pPr>
            <a:r>
              <a:rPr sz="950">
                <a:solidFill>
                  <a:srgbClr val="DCDFE4"/>
                </a:solidFill>
                <a:latin typeface="Consolas"/>
              </a:rPr>
              <a:t>  build_prompt_v10()    title + description + tags + org + methodology</a:t>
            </a:r>
          </a:p>
          <a:p>
            <a:pPr>
              <a:spcBef>
                <a:spcPts val="0"/>
              </a:spcBef>
              <a:spcAft>
                <a:spcPts val="0"/>
              </a:spcAft>
            </a:pPr>
            <a:r>
              <a:rPr sz="950">
                <a:solidFill>
                  <a:srgbClr val="DCDFE4"/>
                </a:solidFill>
                <a:latin typeface="Consolas"/>
              </a:rPr>
              <a:t>                        + resource list + column headers (CKAN cache)</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      v</a:t>
            </a:r>
          </a:p>
          <a:p>
            <a:pPr>
              <a:spcBef>
                <a:spcPts val="0"/>
              </a:spcBef>
              <a:spcAft>
                <a:spcPts val="0"/>
              </a:spcAft>
            </a:pPr>
            <a:r>
              <a:rPr sz="950">
                <a:solidFill>
                  <a:srgbClr val="DCDFE4"/>
                </a:solidFill>
                <a:latin typeface="Consolas"/>
              </a:rPr>
              <a:t>  LLM: single call     simultaneously:</a:t>
            </a:r>
          </a:p>
          <a:p>
            <a:pPr>
              <a:spcBef>
                <a:spcPts val="0"/>
              </a:spcBef>
              <a:spcAft>
                <a:spcPts val="0"/>
              </a:spcAft>
            </a:pPr>
            <a:r>
              <a:rPr sz="950">
                <a:solidFill>
                  <a:srgbClr val="DCDFE4"/>
                </a:solidFill>
                <a:latin typeface="Consolas"/>
              </a:rPr>
              <a:t>      |                  1. Classify: is this RDLS? which components?</a:t>
            </a:r>
          </a:p>
          <a:p>
            <a:pPr>
              <a:spcBef>
                <a:spcPts val="0"/>
              </a:spcBef>
              <a:spcAft>
                <a:spcPts val="0"/>
              </a:spcAft>
            </a:pPr>
            <a:r>
              <a:rPr sz="950">
                <a:solidFill>
                  <a:srgbClr val="DCDFE4"/>
                </a:solidFill>
                <a:latin typeface="Consolas"/>
              </a:rPr>
              <a:t>      |                  2. Extract hazard: type, process, IMT, return periods</a:t>
            </a:r>
          </a:p>
          <a:p>
            <a:pPr>
              <a:spcBef>
                <a:spcPts val="0"/>
              </a:spcBef>
              <a:spcAft>
                <a:spcPts val="0"/>
              </a:spcAft>
            </a:pPr>
            <a:r>
              <a:rPr sz="950">
                <a:solidFill>
                  <a:srgbClr val="DCDFE4"/>
                </a:solidFill>
                <a:latin typeface="Consolas"/>
              </a:rPr>
              <a:t>      |                  3. Extract exposure: list of categories + dimensions</a:t>
            </a:r>
          </a:p>
          <a:p>
            <a:pPr>
              <a:spcBef>
                <a:spcPts val="0"/>
              </a:spcBef>
              <a:spcAft>
                <a:spcPts val="0"/>
              </a:spcAft>
            </a:pPr>
            <a:r>
              <a:rPr sz="950">
                <a:solidFill>
                  <a:srgbClr val="DCDFE4"/>
                </a:solidFill>
                <a:latin typeface="Consolas"/>
              </a:rPr>
              <a:t>      |                  4. Extract loss: list of impact entries</a:t>
            </a:r>
          </a:p>
          <a:p>
            <a:pPr>
              <a:spcBef>
                <a:spcPts val="0"/>
              </a:spcBef>
              <a:spcAft>
                <a:spcPts val="0"/>
              </a:spcAft>
            </a:pPr>
            <a:r>
              <a:rPr sz="950">
                <a:solidFill>
                  <a:srgbClr val="DCDFE4"/>
                </a:solidFill>
                <a:latin typeface="Consolas"/>
              </a:rPr>
              <a:t>      |                  5. Extract spatial: countries, scale</a:t>
            </a:r>
          </a:p>
          <a:p>
            <a:pPr>
              <a:spcBef>
                <a:spcPts val="0"/>
              </a:spcBef>
              <a:spcAft>
                <a:spcPts val="0"/>
              </a:spcAft>
            </a:pPr>
            <a:r>
              <a:rPr sz="950">
                <a:solidFill>
                  <a:srgbClr val="DCDFE4"/>
                </a:solidFill>
                <a:latin typeface="Consolas"/>
              </a:rPr>
              <a:t>      |                  6. Extract provenance: contributing sources</a:t>
            </a:r>
          </a:p>
          <a:p>
            <a:pPr>
              <a:spcBef>
                <a:spcPts val="0"/>
              </a:spcBef>
              <a:spcAft>
                <a:spcPts val="0"/>
              </a:spcAft>
            </a:pPr>
            <a:r>
              <a:rPr sz="950">
                <a:solidFill>
                  <a:srgbClr val="DCDFE4"/>
                </a:solidFill>
                <a:latin typeface="Consolas"/>
              </a:rPr>
              <a:t>      |                  7. Generate lineage description</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      +-- is_rdls: false  --&gt;  not_rdls/    (~70% of HDX)</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      +-- is_rdls: true   --&gt;  HEVL block builders + base record builder</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                              JSON Schema validation</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                     high conf.   medium conf.          invalid</a:t>
            </a:r>
          </a:p>
          <a:p>
            <a:pPr>
              <a:spcBef>
                <a:spcPts val="0"/>
              </a:spcBef>
              <a:spcAft>
                <a:spcPts val="0"/>
              </a:spcAft>
            </a:pPr>
            <a:r>
              <a:rPr sz="950">
                <a:solidFill>
                  <a:srgbClr val="DCDFE4"/>
                </a:solidFill>
                <a:latin typeface="Consolas"/>
              </a:rPr>
              <a:t>                     dist/high/   dist/medium/        dist/invalid/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dirty="0">
                <a:solidFill>
                  <a:srgbClr val="0184BC"/>
                </a:solidFill>
                <a:latin typeface="Calibri"/>
              </a:rPr>
              <a:t>Act 3: Multi-Return-Period Probabilistic Events</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Before: empty event set. After: one structured event per return period.</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17 / 26</a:t>
            </a:r>
          </a:p>
        </p:txBody>
      </p:sp>
      <p:sp>
        <p:nvSpPr>
          <p:cNvPr id="7" name="TextBox 6"/>
          <p:cNvSpPr txBox="1"/>
          <p:nvPr/>
        </p:nvSpPr>
        <p:spPr>
          <a:xfrm>
            <a:off x="411480" y="1024128"/>
            <a:ext cx="5486400" cy="215444"/>
          </a:xfrm>
          <a:prstGeom prst="rect">
            <a:avLst/>
          </a:prstGeom>
          <a:noFill/>
        </p:spPr>
        <p:txBody>
          <a:bodyPr wrap="square" lIns="0" tIns="0" rIns="0" bIns="0">
            <a:spAutoFit/>
          </a:bodyPr>
          <a:lstStyle/>
          <a:p>
            <a:pPr algn="l"/>
            <a:r>
              <a:rPr sz="1400" b="1">
                <a:solidFill>
                  <a:srgbClr val="E45649"/>
                </a:solidFill>
                <a:latin typeface="Calibri"/>
              </a:rPr>
              <a:t>Act 2 output  (regex extraction)</a:t>
            </a:r>
          </a:p>
        </p:txBody>
      </p:sp>
      <p:sp>
        <p:nvSpPr>
          <p:cNvPr id="8" name="Rectangle 7"/>
          <p:cNvSpPr/>
          <p:nvPr/>
        </p:nvSpPr>
        <p:spPr>
          <a:xfrm>
            <a:off x="411480" y="1417320"/>
            <a:ext cx="5394960" cy="3246120"/>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11480" y="1417320"/>
            <a:ext cx="38100" cy="3246120"/>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8480" y="1518920"/>
            <a:ext cx="5166360" cy="3042920"/>
          </a:xfrm>
          <a:prstGeom prst="rect">
            <a:avLst/>
          </a:prstGeom>
          <a:noFill/>
        </p:spPr>
        <p:txBody>
          <a:bodyPr wrap="none" lIns="0" tIns="0" rIns="0" bIns="0">
            <a:spAutoFit/>
          </a:bodyPr>
          <a:lstStyle/>
          <a:p>
            <a:pPr>
              <a:spcBef>
                <a:spcPts val="0"/>
              </a:spcBef>
              <a:spcAft>
                <a:spcPts val="0"/>
              </a:spcAft>
            </a:pPr>
            <a:r>
              <a:rPr sz="950">
                <a:solidFill>
                  <a:srgbClr val="DCDFE4"/>
                </a:solidFill>
                <a:latin typeface="Consolas"/>
              </a:rPr>
              <a:t>"hazard": {</a:t>
            </a:r>
          </a:p>
          <a:p>
            <a:pPr>
              <a:spcBef>
                <a:spcPts val="0"/>
              </a:spcBef>
              <a:spcAft>
                <a:spcPts val="0"/>
              </a:spcAft>
            </a:pPr>
            <a:r>
              <a:rPr sz="950">
                <a:solidFill>
                  <a:srgbClr val="DCDFE4"/>
                </a:solidFill>
                <a:latin typeface="Consolas"/>
              </a:rPr>
              <a:t>  "event_sets": [{</a:t>
            </a:r>
          </a:p>
          <a:p>
            <a:pPr>
              <a:spcBef>
                <a:spcPts val="0"/>
              </a:spcBef>
              <a:spcAft>
                <a:spcPts val="0"/>
              </a:spcAft>
            </a:pPr>
            <a:r>
              <a:rPr sz="950">
                <a:solidFill>
                  <a:srgbClr val="DCDFE4"/>
                </a:solidFill>
                <a:latin typeface="Consolas"/>
              </a:rPr>
              <a:t>    "id": "event_set_1",</a:t>
            </a:r>
          </a:p>
          <a:p>
            <a:pPr>
              <a:spcBef>
                <a:spcPts val="0"/>
              </a:spcBef>
              <a:spcAft>
                <a:spcPts val="0"/>
              </a:spcAft>
            </a:pPr>
            <a:r>
              <a:rPr sz="950">
                <a:solidFill>
                  <a:srgbClr val="DCDFE4"/>
                </a:solidFill>
                <a:latin typeface="Consolas"/>
              </a:rPr>
              <a:t>    "hazards": [{</a:t>
            </a:r>
          </a:p>
          <a:p>
            <a:pPr>
              <a:spcBef>
                <a:spcPts val="0"/>
              </a:spcBef>
              <a:spcAft>
                <a:spcPts val="0"/>
              </a:spcAft>
            </a:pPr>
            <a:r>
              <a:rPr sz="950">
                <a:solidFill>
                  <a:srgbClr val="DCDFE4"/>
                </a:solidFill>
                <a:latin typeface="Consolas"/>
              </a:rPr>
              <a:t>      "type": "flood",</a:t>
            </a:r>
          </a:p>
          <a:p>
            <a:pPr>
              <a:spcBef>
                <a:spcPts val="0"/>
              </a:spcBef>
              <a:spcAft>
                <a:spcPts val="0"/>
              </a:spcAft>
            </a:pPr>
            <a:r>
              <a:rPr sz="950">
                <a:solidFill>
                  <a:srgbClr val="DCDFE4"/>
                </a:solidFill>
                <a:latin typeface="Consolas"/>
              </a:rPr>
              <a:t>      "intensity_measure": "wd:m"</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    "analysis_type": "probabilistic",</a:t>
            </a:r>
          </a:p>
          <a:p>
            <a:pPr>
              <a:spcBef>
                <a:spcPts val="0"/>
              </a:spcBef>
              <a:spcAft>
                <a:spcPts val="0"/>
              </a:spcAft>
            </a:pPr>
            <a:r>
              <a:rPr sz="950">
                <a:solidFill>
                  <a:srgbClr val="DCDFE4"/>
                </a:solidFill>
                <a:latin typeface="Consolas"/>
              </a:rPr>
              <a:t>    "events": []</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a:t>
            </a:r>
          </a:p>
          <a:p>
            <a:pPr>
              <a:spcBef>
                <a:spcPts val="0"/>
              </a:spcBef>
              <a:spcAft>
                <a:spcPts val="0"/>
              </a:spcAft>
            </a:pPr>
            <a:endParaRPr sz="950">
              <a:solidFill>
                <a:srgbClr val="DCDFE4"/>
              </a:solidFill>
              <a:latin typeface="Consolas"/>
            </a:endParaRPr>
          </a:p>
          <a:p>
            <a:pPr>
              <a:spcBef>
                <a:spcPts val="0"/>
              </a:spcBef>
              <a:spcAft>
                <a:spcPts val="0"/>
              </a:spcAft>
            </a:pPr>
            <a:r>
              <a:rPr sz="950">
                <a:solidFill>
                  <a:srgbClr val="DCDFE4"/>
                </a:solidFill>
                <a:latin typeface="Consolas"/>
              </a:rPr>
              <a:t># One empty event set.</a:t>
            </a:r>
          </a:p>
          <a:p>
            <a:pPr>
              <a:spcBef>
                <a:spcPts val="0"/>
              </a:spcBef>
              <a:spcAft>
                <a:spcPts val="0"/>
              </a:spcAft>
            </a:pPr>
            <a:r>
              <a:rPr sz="950">
                <a:solidFill>
                  <a:srgbClr val="DCDFE4"/>
                </a:solidFill>
                <a:latin typeface="Consolas"/>
              </a:rPr>
              <a:t># Return periods: not captured.</a:t>
            </a:r>
          </a:p>
        </p:txBody>
      </p:sp>
      <p:sp>
        <p:nvSpPr>
          <p:cNvPr id="11" name="TextBox 10"/>
          <p:cNvSpPr txBox="1"/>
          <p:nvPr/>
        </p:nvSpPr>
        <p:spPr>
          <a:xfrm>
            <a:off x="6217920" y="1024128"/>
            <a:ext cx="5486400" cy="215444"/>
          </a:xfrm>
          <a:prstGeom prst="rect">
            <a:avLst/>
          </a:prstGeom>
          <a:noFill/>
        </p:spPr>
        <p:txBody>
          <a:bodyPr wrap="square" lIns="0" tIns="0" rIns="0" bIns="0">
            <a:spAutoFit/>
          </a:bodyPr>
          <a:lstStyle/>
          <a:p>
            <a:pPr algn="l"/>
            <a:r>
              <a:rPr sz="1400" b="1">
                <a:solidFill>
                  <a:srgbClr val="50A14F"/>
                </a:solidFill>
                <a:latin typeface="Calibri"/>
              </a:rPr>
              <a:t>Act 3 output  (LLM extraction)</a:t>
            </a:r>
          </a:p>
        </p:txBody>
      </p:sp>
      <p:sp>
        <p:nvSpPr>
          <p:cNvPr id="12" name="Rectangle 11"/>
          <p:cNvSpPr/>
          <p:nvPr/>
        </p:nvSpPr>
        <p:spPr>
          <a:xfrm>
            <a:off x="6217920" y="1417320"/>
            <a:ext cx="5486400" cy="4041648"/>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0" y="1417320"/>
            <a:ext cx="38100" cy="4041648"/>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44920" y="1518920"/>
            <a:ext cx="5257800" cy="3838448"/>
          </a:xfrm>
          <a:prstGeom prst="rect">
            <a:avLst/>
          </a:prstGeom>
          <a:noFill/>
        </p:spPr>
        <p:txBody>
          <a:bodyPr wrap="none" lIns="0" tIns="0" rIns="0" bIns="0">
            <a:spAutoFit/>
          </a:bodyPr>
          <a:lstStyle/>
          <a:p>
            <a:pPr>
              <a:spcBef>
                <a:spcPts val="0"/>
              </a:spcBef>
              <a:spcAft>
                <a:spcPts val="0"/>
              </a:spcAft>
            </a:pPr>
            <a:r>
              <a:rPr sz="950">
                <a:solidFill>
                  <a:srgbClr val="DCDFE4"/>
                </a:solidFill>
                <a:latin typeface="Consolas"/>
              </a:rPr>
              <a:t>"hazard": {</a:t>
            </a:r>
          </a:p>
          <a:p>
            <a:pPr>
              <a:spcBef>
                <a:spcPts val="0"/>
              </a:spcBef>
              <a:spcAft>
                <a:spcPts val="0"/>
              </a:spcAft>
            </a:pPr>
            <a:r>
              <a:rPr sz="950">
                <a:solidFill>
                  <a:srgbClr val="DCDFE4"/>
                </a:solidFill>
                <a:latin typeface="Consolas"/>
              </a:rPr>
              <a:t>  "event_sets": [{</a:t>
            </a:r>
          </a:p>
          <a:p>
            <a:pPr>
              <a:spcBef>
                <a:spcPts val="0"/>
              </a:spcBef>
              <a:spcAft>
                <a:spcPts val="0"/>
              </a:spcAft>
            </a:pPr>
            <a:r>
              <a:rPr sz="950">
                <a:solidFill>
                  <a:srgbClr val="DCDFE4"/>
                </a:solidFill>
                <a:latin typeface="Consolas"/>
              </a:rPr>
              <a:t>    "hazards": [{"type": "flood",</a:t>
            </a:r>
          </a:p>
          <a:p>
            <a:pPr>
              <a:spcBef>
                <a:spcPts val="0"/>
              </a:spcBef>
              <a:spcAft>
                <a:spcPts val="0"/>
              </a:spcAft>
            </a:pPr>
            <a:r>
              <a:rPr sz="950">
                <a:solidFill>
                  <a:srgbClr val="DCDFE4"/>
                </a:solidFill>
                <a:latin typeface="Consolas"/>
              </a:rPr>
              <a:t>      "process": "fluvial_flood",</a:t>
            </a:r>
          </a:p>
          <a:p>
            <a:pPr>
              <a:spcBef>
                <a:spcPts val="0"/>
              </a:spcBef>
              <a:spcAft>
                <a:spcPts val="0"/>
              </a:spcAft>
            </a:pPr>
            <a:r>
              <a:rPr sz="950">
                <a:solidFill>
                  <a:srgbClr val="DCDFE4"/>
                </a:solidFill>
                <a:latin typeface="Consolas"/>
              </a:rPr>
              <a:t>      "intensity_measure": "wd:m"}],</a:t>
            </a:r>
          </a:p>
          <a:p>
            <a:pPr>
              <a:spcBef>
                <a:spcPts val="0"/>
              </a:spcBef>
              <a:spcAft>
                <a:spcPts val="0"/>
              </a:spcAft>
            </a:pPr>
            <a:r>
              <a:rPr sz="950">
                <a:solidFill>
                  <a:srgbClr val="DCDFE4"/>
                </a:solidFill>
                <a:latin typeface="Consolas"/>
              </a:rPr>
              <a:t>    "analysis_type": "probabilistic",</a:t>
            </a:r>
          </a:p>
          <a:p>
            <a:pPr>
              <a:spcBef>
                <a:spcPts val="0"/>
              </a:spcBef>
              <a:spcAft>
                <a:spcPts val="0"/>
              </a:spcAft>
            </a:pPr>
            <a:r>
              <a:rPr sz="950">
                <a:solidFill>
                  <a:srgbClr val="DCDFE4"/>
                </a:solidFill>
                <a:latin typeface="Consolas"/>
              </a:rPr>
              <a:t>    "calculation_method": "simulated",</a:t>
            </a:r>
          </a:p>
          <a:p>
            <a:pPr>
              <a:spcBef>
                <a:spcPts val="0"/>
              </a:spcBef>
              <a:spcAft>
                <a:spcPts val="0"/>
              </a:spcAft>
            </a:pPr>
            <a:r>
              <a:rPr sz="950">
                <a:solidFill>
                  <a:srgbClr val="DCDFE4"/>
                </a:solidFill>
                <a:latin typeface="Consolas"/>
              </a:rPr>
              <a:t>    "events": [</a:t>
            </a:r>
          </a:p>
          <a:p>
            <a:pPr>
              <a:spcBef>
                <a:spcPts val="0"/>
              </a:spcBef>
              <a:spcAft>
                <a:spcPts val="0"/>
              </a:spcAft>
            </a:pPr>
            <a:r>
              <a:rPr sz="950">
                <a:solidFill>
                  <a:srgbClr val="DCDFE4"/>
                </a:solidFill>
                <a:latin typeface="Consolas"/>
              </a:rPr>
              <a:t>      {"id": "event_10yr", "occurrence":</a:t>
            </a:r>
          </a:p>
          <a:p>
            <a:pPr>
              <a:spcBef>
                <a:spcPts val="0"/>
              </a:spcBef>
              <a:spcAft>
                <a:spcPts val="0"/>
              </a:spcAft>
            </a:pPr>
            <a:r>
              <a:rPr sz="950">
                <a:solidFill>
                  <a:srgbClr val="DCDFE4"/>
                </a:solidFill>
                <a:latin typeface="Consolas"/>
              </a:rPr>
              <a:t>        {"probabilistic":</a:t>
            </a:r>
          </a:p>
          <a:p>
            <a:pPr>
              <a:spcBef>
                <a:spcPts val="0"/>
              </a:spcBef>
              <a:spcAft>
                <a:spcPts val="0"/>
              </a:spcAft>
            </a:pPr>
            <a:r>
              <a:rPr sz="950">
                <a:solidFill>
                  <a:srgbClr val="DCDFE4"/>
                </a:solidFill>
                <a:latin typeface="Consolas"/>
              </a:rPr>
              <a:t>          {"return_period": 10, "event_rate": 0.1}}},</a:t>
            </a:r>
          </a:p>
          <a:p>
            <a:pPr>
              <a:spcBef>
                <a:spcPts val="0"/>
              </a:spcBef>
              <a:spcAft>
                <a:spcPts val="0"/>
              </a:spcAft>
            </a:pPr>
            <a:r>
              <a:rPr sz="950">
                <a:solidFill>
                  <a:srgbClr val="DCDFE4"/>
                </a:solidFill>
                <a:latin typeface="Consolas"/>
              </a:rPr>
              <a:t>      {"id": "event_25yr",  ...},</a:t>
            </a:r>
          </a:p>
          <a:p>
            <a:pPr>
              <a:spcBef>
                <a:spcPts val="0"/>
              </a:spcBef>
              <a:spcAft>
                <a:spcPts val="0"/>
              </a:spcAft>
            </a:pPr>
            <a:r>
              <a:rPr sz="950">
                <a:solidFill>
                  <a:srgbClr val="DCDFE4"/>
                </a:solidFill>
                <a:latin typeface="Consolas"/>
              </a:rPr>
              <a:t>      {"id": "event_50yr",  ...},</a:t>
            </a:r>
          </a:p>
          <a:p>
            <a:pPr>
              <a:spcBef>
                <a:spcPts val="0"/>
              </a:spcBef>
              <a:spcAft>
                <a:spcPts val="0"/>
              </a:spcAft>
            </a:pPr>
            <a:r>
              <a:rPr sz="950">
                <a:solidFill>
                  <a:srgbClr val="DCDFE4"/>
                </a:solidFill>
                <a:latin typeface="Consolas"/>
              </a:rPr>
              <a:t>      {"id": "event_100yr", ...},</a:t>
            </a:r>
          </a:p>
          <a:p>
            <a:pPr>
              <a:spcBef>
                <a:spcPts val="0"/>
              </a:spcBef>
              <a:spcAft>
                <a:spcPts val="0"/>
              </a:spcAft>
            </a:pPr>
            <a:r>
              <a:rPr sz="950">
                <a:solidFill>
                  <a:srgbClr val="DCDFE4"/>
                </a:solidFill>
                <a:latin typeface="Consolas"/>
              </a:rPr>
              <a:t>      {"id": "event_200yr", ...},</a:t>
            </a:r>
          </a:p>
          <a:p>
            <a:pPr>
              <a:spcBef>
                <a:spcPts val="0"/>
              </a:spcBef>
              <a:spcAft>
                <a:spcPts val="0"/>
              </a:spcAft>
            </a:pPr>
            <a:r>
              <a:rPr sz="950">
                <a:solidFill>
                  <a:srgbClr val="DCDFE4"/>
                </a:solidFill>
                <a:latin typeface="Consolas"/>
              </a:rPr>
              <a:t>      {"id": "event_500yr", ...}</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a:t>
            </a:r>
          </a:p>
          <a:p>
            <a:pPr>
              <a:spcBef>
                <a:spcPts val="0"/>
              </a:spcBef>
              <a:spcAft>
                <a:spcPts val="0"/>
              </a:spcAft>
            </a:pPr>
            <a:r>
              <a:rPr sz="950">
                <a:solidFill>
                  <a:srgbClr val="DCDFE4"/>
                </a:solidFill>
                <a:latin typeface="Consolas"/>
              </a:rPr>
              <a:t># Six events with probabilities.</a:t>
            </a:r>
          </a:p>
        </p:txBody>
      </p:sp>
      <p:sp>
        <p:nvSpPr>
          <p:cNvPr id="15" name="Rectangle 14"/>
          <p:cNvSpPr/>
          <p:nvPr/>
        </p:nvSpPr>
        <p:spPr>
          <a:xfrm>
            <a:off x="411480" y="4828032"/>
            <a:ext cx="5394960" cy="804672"/>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11480" y="4828032"/>
            <a:ext cx="50800" cy="804672"/>
          </a:xfrm>
          <a:prstGeom prst="rect">
            <a:avLst/>
          </a:prstGeom>
          <a:solidFill>
            <a:srgbClr val="C18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89280" y="4904232"/>
            <a:ext cx="5140960" cy="369332"/>
          </a:xfrm>
          <a:prstGeom prst="rect">
            <a:avLst/>
          </a:prstGeom>
          <a:noFill/>
        </p:spPr>
        <p:txBody>
          <a:bodyPr wrap="square" lIns="0" tIns="0" rIns="0" bIns="0">
            <a:spAutoFit/>
          </a:bodyPr>
          <a:lstStyle/>
          <a:p>
            <a:r>
              <a:rPr sz="1200" b="0" dirty="0">
                <a:solidFill>
                  <a:srgbClr val="383A42"/>
                </a:solidFill>
                <a:latin typeface="Calibri"/>
              </a:rPr>
              <a:t>Return periods are extracted ONLY when explicitly stated in the metadata. The LLM is instructed never to invent values - the primary failure mode of regex.</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a:solidFill>
                  <a:srgbClr val="0184BC"/>
                </a:solidFill>
                <a:latin typeface="Calibri"/>
              </a:rPr>
              <a:t>Act 3: Multiple Exposure Categories + Multiple Loss Entries</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Each asset category and each impact type becomes a fully specified block</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18 / 26</a:t>
            </a:r>
          </a:p>
        </p:txBody>
      </p:sp>
      <p:sp>
        <p:nvSpPr>
          <p:cNvPr id="7" name="TextBox 6"/>
          <p:cNvSpPr txBox="1"/>
          <p:nvPr/>
        </p:nvSpPr>
        <p:spPr>
          <a:xfrm>
            <a:off x="411480" y="1024128"/>
            <a:ext cx="5486400" cy="215444"/>
          </a:xfrm>
          <a:prstGeom prst="rect">
            <a:avLst/>
          </a:prstGeom>
          <a:noFill/>
        </p:spPr>
        <p:txBody>
          <a:bodyPr wrap="square" lIns="0" tIns="0" rIns="0" bIns="0">
            <a:spAutoFit/>
          </a:bodyPr>
          <a:lstStyle/>
          <a:p>
            <a:pPr algn="l"/>
            <a:r>
              <a:rPr sz="1400" b="1">
                <a:solidFill>
                  <a:srgbClr val="0184BC"/>
                </a:solidFill>
                <a:latin typeface="Calibri"/>
              </a:rPr>
              <a:t>Multi-category exposure</a:t>
            </a:r>
          </a:p>
        </p:txBody>
      </p:sp>
      <p:sp>
        <p:nvSpPr>
          <p:cNvPr id="8" name="Rectangle 7"/>
          <p:cNvSpPr/>
          <p:nvPr/>
        </p:nvSpPr>
        <p:spPr>
          <a:xfrm>
            <a:off x="411480" y="1417320"/>
            <a:ext cx="5394960" cy="4663440"/>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11480" y="1417320"/>
            <a:ext cx="38100" cy="4663440"/>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8480" y="1518920"/>
            <a:ext cx="5166360" cy="4460240"/>
          </a:xfrm>
          <a:prstGeom prst="rect">
            <a:avLst/>
          </a:prstGeom>
          <a:noFill/>
        </p:spPr>
        <p:txBody>
          <a:bodyPr wrap="none" lIns="0" tIns="0" rIns="0" bIns="0">
            <a:spAutoFit/>
          </a:bodyPr>
          <a:lstStyle/>
          <a:p>
            <a:pPr>
              <a:spcBef>
                <a:spcPts val="0"/>
              </a:spcBef>
              <a:spcAft>
                <a:spcPts val="0"/>
              </a:spcAft>
            </a:pPr>
            <a:r>
              <a:rPr sz="900">
                <a:solidFill>
                  <a:srgbClr val="DCDFE4"/>
                </a:solidFill>
                <a:latin typeface="Consolas"/>
              </a:rPr>
              <a:t>"exposure": [</a:t>
            </a:r>
          </a:p>
          <a:p>
            <a:pPr>
              <a:spcBef>
                <a:spcPts val="0"/>
              </a:spcBef>
              <a:spcAft>
                <a:spcPts val="0"/>
              </a:spcAft>
            </a:pPr>
            <a:r>
              <a:rPr sz="900">
                <a:solidFill>
                  <a:srgbClr val="DCDFE4"/>
                </a:solidFill>
                <a:latin typeface="Consolas"/>
              </a:rPr>
              <a:t>  {</a:t>
            </a:r>
          </a:p>
          <a:p>
            <a:pPr>
              <a:spcBef>
                <a:spcPts val="0"/>
              </a:spcBef>
              <a:spcAft>
                <a:spcPts val="0"/>
              </a:spcAft>
            </a:pPr>
            <a:r>
              <a:rPr sz="900">
                <a:solidFill>
                  <a:srgbClr val="DCDFE4"/>
                </a:solidFill>
                <a:latin typeface="Consolas"/>
              </a:rPr>
              <a:t>    "id": "exposure_1",</a:t>
            </a:r>
          </a:p>
          <a:p>
            <a:pPr>
              <a:spcBef>
                <a:spcPts val="0"/>
              </a:spcBef>
              <a:spcAft>
                <a:spcPts val="0"/>
              </a:spcAft>
            </a:pPr>
            <a:r>
              <a:rPr sz="900">
                <a:solidFill>
                  <a:srgbClr val="DCDFE4"/>
                </a:solidFill>
                <a:latin typeface="Consolas"/>
              </a:rPr>
              <a:t>    "category": "buildings",</a:t>
            </a:r>
          </a:p>
          <a:p>
            <a:pPr>
              <a:spcBef>
                <a:spcPts val="0"/>
              </a:spcBef>
              <a:spcAft>
                <a:spcPts val="0"/>
              </a:spcAft>
            </a:pPr>
            <a:r>
              <a:rPr sz="900">
                <a:solidFill>
                  <a:srgbClr val="DCDFE4"/>
                </a:solidFill>
                <a:latin typeface="Consolas"/>
              </a:rPr>
              <a:t>    "asset_type": {"id": "buildings",</a:t>
            </a:r>
          </a:p>
          <a:p>
            <a:pPr>
              <a:spcBef>
                <a:spcPts val="0"/>
              </a:spcBef>
              <a:spcAft>
                <a:spcPts val="0"/>
              </a:spcAft>
            </a:pPr>
            <a:r>
              <a:rPr sz="900">
                <a:solidFill>
                  <a:srgbClr val="DCDFE4"/>
                </a:solidFill>
                <a:latin typeface="Consolas"/>
              </a:rPr>
              <a:t>      "description": "Building stock by</a:t>
            </a:r>
          </a:p>
          <a:p>
            <a:pPr>
              <a:spcBef>
                <a:spcPts val="0"/>
              </a:spcBef>
              <a:spcAft>
                <a:spcPts val="0"/>
              </a:spcAft>
            </a:pPr>
            <a:r>
              <a:rPr sz="900">
                <a:solidFill>
                  <a:srgbClr val="DCDFE4"/>
                </a:solidFill>
                <a:latin typeface="Consolas"/>
              </a:rPr>
              <a:t>                      construction type"},</a:t>
            </a:r>
          </a:p>
          <a:p>
            <a:pPr>
              <a:spcBef>
                <a:spcPts val="0"/>
              </a:spcBef>
              <a:spcAft>
                <a:spcPts val="0"/>
              </a:spcAft>
            </a:pPr>
            <a:r>
              <a:rPr sz="900">
                <a:solidFill>
                  <a:srgbClr val="DCDFE4"/>
                </a:solidFill>
                <a:latin typeface="Consolas"/>
              </a:rPr>
              <a:t>    "metrics": [{"dimension": "structure",</a:t>
            </a:r>
          </a:p>
          <a:p>
            <a:pPr>
              <a:spcBef>
                <a:spcPts val="0"/>
              </a:spcBef>
              <a:spcAft>
                <a:spcPts val="0"/>
              </a:spcAft>
            </a:pPr>
            <a:r>
              <a:rPr sz="900">
                <a:solidFill>
                  <a:srgbClr val="DCDFE4"/>
                </a:solidFill>
                <a:latin typeface="Consolas"/>
              </a:rPr>
              <a:t>      "measurement":</a:t>
            </a:r>
          </a:p>
          <a:p>
            <a:pPr>
              <a:spcBef>
                <a:spcPts val="0"/>
              </a:spcBef>
              <a:spcAft>
                <a:spcPts val="0"/>
              </a:spcAft>
            </a:pPr>
            <a:r>
              <a:rPr sz="900">
                <a:solidFill>
                  <a:srgbClr val="DCDFE4"/>
                </a:solidFill>
                <a:latin typeface="Consolas"/>
              </a:rPr>
              <a:t>        {"quantity_kind": "count"}}]</a:t>
            </a:r>
          </a:p>
          <a:p>
            <a:pPr>
              <a:spcBef>
                <a:spcPts val="0"/>
              </a:spcBef>
              <a:spcAft>
                <a:spcPts val="0"/>
              </a:spcAft>
            </a:pPr>
            <a:r>
              <a:rPr sz="900">
                <a:solidFill>
                  <a:srgbClr val="DCDFE4"/>
                </a:solidFill>
                <a:latin typeface="Consolas"/>
              </a:rPr>
              <a:t>  },</a:t>
            </a:r>
          </a:p>
          <a:p>
            <a:pPr>
              <a:spcBef>
                <a:spcPts val="0"/>
              </a:spcBef>
              <a:spcAft>
                <a:spcPts val="0"/>
              </a:spcAft>
            </a:pPr>
            <a:r>
              <a:rPr sz="900">
                <a:solidFill>
                  <a:srgbClr val="DCDFE4"/>
                </a:solidFill>
                <a:latin typeface="Consolas"/>
              </a:rPr>
              <a:t>  {</a:t>
            </a:r>
          </a:p>
          <a:p>
            <a:pPr>
              <a:spcBef>
                <a:spcPts val="0"/>
              </a:spcBef>
              <a:spcAft>
                <a:spcPts val="0"/>
              </a:spcAft>
            </a:pPr>
            <a:r>
              <a:rPr sz="900">
                <a:solidFill>
                  <a:srgbClr val="DCDFE4"/>
                </a:solidFill>
                <a:latin typeface="Consolas"/>
              </a:rPr>
              <a:t>    "id": "exposure_2",</a:t>
            </a:r>
          </a:p>
          <a:p>
            <a:pPr>
              <a:spcBef>
                <a:spcPts val="0"/>
              </a:spcBef>
              <a:spcAft>
                <a:spcPts val="0"/>
              </a:spcAft>
            </a:pPr>
            <a:r>
              <a:rPr sz="900">
                <a:solidFill>
                  <a:srgbClr val="DCDFE4"/>
                </a:solidFill>
                <a:latin typeface="Consolas"/>
              </a:rPr>
              <a:t>    "category": "population",</a:t>
            </a:r>
          </a:p>
          <a:p>
            <a:pPr>
              <a:spcBef>
                <a:spcPts val="0"/>
              </a:spcBef>
              <a:spcAft>
                <a:spcPts val="0"/>
              </a:spcAft>
            </a:pPr>
            <a:r>
              <a:rPr sz="900">
                <a:solidFill>
                  <a:srgbClr val="DCDFE4"/>
                </a:solidFill>
                <a:latin typeface="Consolas"/>
              </a:rPr>
              <a:t>    "asset_type": {"id": "population",</a:t>
            </a:r>
          </a:p>
          <a:p>
            <a:pPr>
              <a:spcBef>
                <a:spcPts val="0"/>
              </a:spcBef>
              <a:spcAft>
                <a:spcPts val="0"/>
              </a:spcAft>
            </a:pPr>
            <a:r>
              <a:rPr sz="900">
                <a:solidFill>
                  <a:srgbClr val="DCDFE4"/>
                </a:solidFill>
                <a:latin typeface="Consolas"/>
              </a:rPr>
              <a:t>      "description": "Gridded population"},</a:t>
            </a:r>
          </a:p>
          <a:p>
            <a:pPr>
              <a:spcBef>
                <a:spcPts val="0"/>
              </a:spcBef>
              <a:spcAft>
                <a:spcPts val="0"/>
              </a:spcAft>
            </a:pPr>
            <a:r>
              <a:rPr sz="900">
                <a:solidFill>
                  <a:srgbClr val="DCDFE4"/>
                </a:solidFill>
                <a:latin typeface="Consolas"/>
              </a:rPr>
              <a:t>    "metrics": [{"dimension": "population",</a:t>
            </a:r>
          </a:p>
          <a:p>
            <a:pPr>
              <a:spcBef>
                <a:spcPts val="0"/>
              </a:spcBef>
              <a:spcAft>
                <a:spcPts val="0"/>
              </a:spcAft>
            </a:pPr>
            <a:r>
              <a:rPr sz="900">
                <a:solidFill>
                  <a:srgbClr val="DCDFE4"/>
                </a:solidFill>
                <a:latin typeface="Consolas"/>
              </a:rPr>
              <a:t>      "measurement":</a:t>
            </a:r>
          </a:p>
          <a:p>
            <a:pPr>
              <a:spcBef>
                <a:spcPts val="0"/>
              </a:spcBef>
              <a:spcAft>
                <a:spcPts val="0"/>
              </a:spcAft>
            </a:pPr>
            <a:r>
              <a:rPr sz="900">
                <a:solidFill>
                  <a:srgbClr val="DCDFE4"/>
                </a:solidFill>
                <a:latin typeface="Consolas"/>
              </a:rPr>
              <a:t>        {"quantity_kind": "count"}}]</a:t>
            </a:r>
          </a:p>
          <a:p>
            <a:pPr>
              <a:spcBef>
                <a:spcPts val="0"/>
              </a:spcBef>
              <a:spcAft>
                <a:spcPts val="0"/>
              </a:spcAft>
            </a:pPr>
            <a:r>
              <a:rPr sz="900">
                <a:solidFill>
                  <a:srgbClr val="DCDFE4"/>
                </a:solidFill>
                <a:latin typeface="Consolas"/>
              </a:rPr>
              <a:t>  }</a:t>
            </a:r>
          </a:p>
          <a:p>
            <a:pPr>
              <a:spcBef>
                <a:spcPts val="0"/>
              </a:spcBef>
              <a:spcAft>
                <a:spcPts val="0"/>
              </a:spcAft>
            </a:pPr>
            <a:r>
              <a:rPr sz="900">
                <a:solidFill>
                  <a:srgbClr val="DCDFE4"/>
                </a:solidFill>
                <a:latin typeface="Consolas"/>
              </a:rPr>
              <a:t>]</a:t>
            </a:r>
          </a:p>
        </p:txBody>
      </p:sp>
      <p:sp>
        <p:nvSpPr>
          <p:cNvPr id="11" name="TextBox 10"/>
          <p:cNvSpPr txBox="1"/>
          <p:nvPr/>
        </p:nvSpPr>
        <p:spPr>
          <a:xfrm>
            <a:off x="6217920" y="1024128"/>
            <a:ext cx="5486400" cy="215444"/>
          </a:xfrm>
          <a:prstGeom prst="rect">
            <a:avLst/>
          </a:prstGeom>
          <a:noFill/>
        </p:spPr>
        <p:txBody>
          <a:bodyPr wrap="square" lIns="0" tIns="0" rIns="0" bIns="0">
            <a:spAutoFit/>
          </a:bodyPr>
          <a:lstStyle/>
          <a:p>
            <a:pPr algn="l"/>
            <a:r>
              <a:rPr sz="1400" b="1">
                <a:solidFill>
                  <a:srgbClr val="0184BC"/>
                </a:solidFill>
                <a:latin typeface="Calibri"/>
              </a:rPr>
              <a:t>Multi-entry loss</a:t>
            </a:r>
          </a:p>
        </p:txBody>
      </p:sp>
      <p:sp>
        <p:nvSpPr>
          <p:cNvPr id="12" name="Rectangle 11"/>
          <p:cNvSpPr/>
          <p:nvPr/>
        </p:nvSpPr>
        <p:spPr>
          <a:xfrm>
            <a:off x="6217920" y="1417320"/>
            <a:ext cx="5486400" cy="4663440"/>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0" y="1417320"/>
            <a:ext cx="38100" cy="4663440"/>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44920" y="1518920"/>
            <a:ext cx="5257800" cy="4460240"/>
          </a:xfrm>
          <a:prstGeom prst="rect">
            <a:avLst/>
          </a:prstGeom>
          <a:noFill/>
        </p:spPr>
        <p:txBody>
          <a:bodyPr wrap="none" lIns="0" tIns="0" rIns="0" bIns="0">
            <a:spAutoFit/>
          </a:bodyPr>
          <a:lstStyle/>
          <a:p>
            <a:pPr>
              <a:spcBef>
                <a:spcPts val="0"/>
              </a:spcBef>
              <a:spcAft>
                <a:spcPts val="0"/>
              </a:spcAft>
            </a:pPr>
            <a:r>
              <a:rPr sz="900">
                <a:solidFill>
                  <a:srgbClr val="DCDFE4"/>
                </a:solidFill>
                <a:latin typeface="Consolas"/>
              </a:rPr>
              <a:t>"loss": {"losses": [</a:t>
            </a:r>
          </a:p>
          <a:p>
            <a:pPr>
              <a:spcBef>
                <a:spcPts val="0"/>
              </a:spcBef>
              <a:spcAft>
                <a:spcPts val="0"/>
              </a:spcAft>
            </a:pPr>
            <a:r>
              <a:rPr sz="900">
                <a:solidFill>
                  <a:srgbClr val="DCDFE4"/>
                </a:solidFill>
                <a:latin typeface="Consolas"/>
              </a:rPr>
              <a:t>  {</a:t>
            </a:r>
          </a:p>
          <a:p>
            <a:pPr>
              <a:spcBef>
                <a:spcPts val="0"/>
              </a:spcBef>
              <a:spcAft>
                <a:spcPts val="0"/>
              </a:spcAft>
            </a:pPr>
            <a:r>
              <a:rPr sz="900">
                <a:solidFill>
                  <a:srgbClr val="DCDFE4"/>
                </a:solidFill>
                <a:latin typeface="Consolas"/>
              </a:rPr>
              <a:t>    "id": "loss_1",</a:t>
            </a:r>
          </a:p>
          <a:p>
            <a:pPr>
              <a:spcBef>
                <a:spcPts val="0"/>
              </a:spcBef>
              <a:spcAft>
                <a:spcPts val="0"/>
              </a:spcAft>
            </a:pPr>
            <a:r>
              <a:rPr sz="900">
                <a:solidFill>
                  <a:srgbClr val="DCDFE4"/>
                </a:solidFill>
                <a:latin typeface="Consolas"/>
              </a:rPr>
              <a:t>    "asset_category": "buildings",</a:t>
            </a:r>
          </a:p>
          <a:p>
            <a:pPr>
              <a:spcBef>
                <a:spcPts val="0"/>
              </a:spcBef>
              <a:spcAft>
                <a:spcPts val="0"/>
              </a:spcAft>
            </a:pPr>
            <a:r>
              <a:rPr sz="900">
                <a:solidFill>
                  <a:srgbClr val="DCDFE4"/>
                </a:solidFill>
                <a:latin typeface="Consolas"/>
              </a:rPr>
              <a:t>    "impact_and_losses": {</a:t>
            </a:r>
          </a:p>
          <a:p>
            <a:pPr>
              <a:spcBef>
                <a:spcPts val="0"/>
              </a:spcBef>
              <a:spcAft>
                <a:spcPts val="0"/>
              </a:spcAft>
            </a:pPr>
            <a:r>
              <a:rPr sz="900">
                <a:solidFill>
                  <a:srgbClr val="DCDFE4"/>
                </a:solidFill>
                <a:latin typeface="Consolas"/>
              </a:rPr>
              <a:t>      "impact_type":      "direct",</a:t>
            </a:r>
          </a:p>
          <a:p>
            <a:pPr>
              <a:spcBef>
                <a:spcPts val="0"/>
              </a:spcBef>
              <a:spcAft>
                <a:spcPts val="0"/>
              </a:spcAft>
            </a:pPr>
            <a:r>
              <a:rPr sz="900">
                <a:solidFill>
                  <a:srgbClr val="DCDFE4"/>
                </a:solidFill>
                <a:latin typeface="Consolas"/>
              </a:rPr>
              <a:t>      "impact_modelling": "simulated",</a:t>
            </a:r>
          </a:p>
          <a:p>
            <a:pPr>
              <a:spcBef>
                <a:spcPts val="0"/>
              </a:spcBef>
              <a:spcAft>
                <a:spcPts val="0"/>
              </a:spcAft>
            </a:pPr>
            <a:r>
              <a:rPr sz="900">
                <a:solidFill>
                  <a:srgbClr val="DCDFE4"/>
                </a:solidFill>
                <a:latin typeface="Consolas"/>
              </a:rPr>
              <a:t>      "impact_metric":    "buildings_damaged_count",</a:t>
            </a:r>
          </a:p>
          <a:p>
            <a:pPr>
              <a:spcBef>
                <a:spcPts val="0"/>
              </a:spcBef>
              <a:spcAft>
                <a:spcPts val="0"/>
              </a:spcAft>
            </a:pPr>
            <a:r>
              <a:rPr sz="900">
                <a:solidFill>
                  <a:srgbClr val="DCDFE4"/>
                </a:solidFill>
                <a:latin typeface="Consolas"/>
              </a:rPr>
              <a:t>      "loss_approach":    "analytical"</a:t>
            </a:r>
          </a:p>
          <a:p>
            <a:pPr>
              <a:spcBef>
                <a:spcPts val="0"/>
              </a:spcBef>
              <a:spcAft>
                <a:spcPts val="0"/>
              </a:spcAft>
            </a:pPr>
            <a:r>
              <a:rPr sz="900">
                <a:solidFill>
                  <a:srgbClr val="DCDFE4"/>
                </a:solidFill>
                <a:latin typeface="Consolas"/>
              </a:rPr>
              <a:t>    }</a:t>
            </a:r>
          </a:p>
          <a:p>
            <a:pPr>
              <a:spcBef>
                <a:spcPts val="0"/>
              </a:spcBef>
              <a:spcAft>
                <a:spcPts val="0"/>
              </a:spcAft>
            </a:pPr>
            <a:r>
              <a:rPr sz="900">
                <a:solidFill>
                  <a:srgbClr val="DCDFE4"/>
                </a:solidFill>
                <a:latin typeface="Consolas"/>
              </a:rPr>
              <a:t>  },</a:t>
            </a:r>
          </a:p>
          <a:p>
            <a:pPr>
              <a:spcBef>
                <a:spcPts val="0"/>
              </a:spcBef>
              <a:spcAft>
                <a:spcPts val="0"/>
              </a:spcAft>
            </a:pPr>
            <a:r>
              <a:rPr sz="900">
                <a:solidFill>
                  <a:srgbClr val="DCDFE4"/>
                </a:solidFill>
                <a:latin typeface="Consolas"/>
              </a:rPr>
              <a:t>  {</a:t>
            </a:r>
          </a:p>
          <a:p>
            <a:pPr>
              <a:spcBef>
                <a:spcPts val="0"/>
              </a:spcBef>
              <a:spcAft>
                <a:spcPts val="0"/>
              </a:spcAft>
            </a:pPr>
            <a:r>
              <a:rPr sz="900">
                <a:solidFill>
                  <a:srgbClr val="DCDFE4"/>
                </a:solidFill>
                <a:latin typeface="Consolas"/>
              </a:rPr>
              <a:t>    "id": "loss_2",</a:t>
            </a:r>
          </a:p>
          <a:p>
            <a:pPr>
              <a:spcBef>
                <a:spcPts val="0"/>
              </a:spcBef>
              <a:spcAft>
                <a:spcPts val="0"/>
              </a:spcAft>
            </a:pPr>
            <a:r>
              <a:rPr sz="900">
                <a:solidFill>
                  <a:srgbClr val="DCDFE4"/>
                </a:solidFill>
                <a:latin typeface="Consolas"/>
              </a:rPr>
              <a:t>    "asset_category": "population",</a:t>
            </a:r>
          </a:p>
          <a:p>
            <a:pPr>
              <a:spcBef>
                <a:spcPts val="0"/>
              </a:spcBef>
              <a:spcAft>
                <a:spcPts val="0"/>
              </a:spcAft>
            </a:pPr>
            <a:r>
              <a:rPr sz="900">
                <a:solidFill>
                  <a:srgbClr val="DCDFE4"/>
                </a:solidFill>
                <a:latin typeface="Consolas"/>
              </a:rPr>
              <a:t>    "impact_and_losses": {</a:t>
            </a:r>
          </a:p>
          <a:p>
            <a:pPr>
              <a:spcBef>
                <a:spcPts val="0"/>
              </a:spcBef>
              <a:spcAft>
                <a:spcPts val="0"/>
              </a:spcAft>
            </a:pPr>
            <a:r>
              <a:rPr sz="900">
                <a:solidFill>
                  <a:srgbClr val="DCDFE4"/>
                </a:solidFill>
                <a:latin typeface="Consolas"/>
              </a:rPr>
              <a:t>      "impact_type":      "indirect",</a:t>
            </a:r>
          </a:p>
          <a:p>
            <a:pPr>
              <a:spcBef>
                <a:spcPts val="0"/>
              </a:spcBef>
              <a:spcAft>
                <a:spcPts val="0"/>
              </a:spcAft>
            </a:pPr>
            <a:r>
              <a:rPr sz="900">
                <a:solidFill>
                  <a:srgbClr val="DCDFE4"/>
                </a:solidFill>
                <a:latin typeface="Consolas"/>
              </a:rPr>
              <a:t>      "impact_modelling": "simulated",</a:t>
            </a:r>
          </a:p>
          <a:p>
            <a:pPr>
              <a:spcBef>
                <a:spcPts val="0"/>
              </a:spcBef>
              <a:spcAft>
                <a:spcPts val="0"/>
              </a:spcAft>
            </a:pPr>
            <a:r>
              <a:rPr sz="900">
                <a:solidFill>
                  <a:srgbClr val="DCDFE4"/>
                </a:solidFill>
                <a:latin typeface="Consolas"/>
              </a:rPr>
              <a:t>      "impact_metric":    "displaced_count",</a:t>
            </a:r>
          </a:p>
          <a:p>
            <a:pPr>
              <a:spcBef>
                <a:spcPts val="0"/>
              </a:spcBef>
              <a:spcAft>
                <a:spcPts val="0"/>
              </a:spcAft>
            </a:pPr>
            <a:r>
              <a:rPr sz="900">
                <a:solidFill>
                  <a:srgbClr val="DCDFE4"/>
                </a:solidFill>
                <a:latin typeface="Consolas"/>
              </a:rPr>
              <a:t>      "loss_approach":    "analytical"</a:t>
            </a:r>
          </a:p>
          <a:p>
            <a:pPr>
              <a:spcBef>
                <a:spcPts val="0"/>
              </a:spcBef>
              <a:spcAft>
                <a:spcPts val="0"/>
              </a:spcAft>
            </a:pPr>
            <a:r>
              <a:rPr sz="900">
                <a:solidFill>
                  <a:srgbClr val="DCDFE4"/>
                </a:solidFill>
                <a:latin typeface="Consolas"/>
              </a:rPr>
              <a:t>    }</a:t>
            </a:r>
          </a:p>
          <a:p>
            <a:pPr>
              <a:spcBef>
                <a:spcPts val="0"/>
              </a:spcBef>
              <a:spcAft>
                <a:spcPts val="0"/>
              </a:spcAft>
            </a:pPr>
            <a:r>
              <a:rPr sz="900">
                <a:solidFill>
                  <a:srgbClr val="DCDFE4"/>
                </a:solidFill>
                <a:latin typeface="Consolas"/>
              </a:rPr>
              <a:t>  }</a:t>
            </a:r>
          </a:p>
          <a:p>
            <a:pPr>
              <a:spcBef>
                <a:spcPts val="0"/>
              </a:spcBef>
              <a:spcAft>
                <a:spcPts val="0"/>
              </a:spcAft>
            </a:pPr>
            <a:r>
              <a:rPr sz="900">
                <a:solidFill>
                  <a:srgbClr val="DCDFE4"/>
                </a:solidFill>
                <a:latin typeface="Consolas"/>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a:solidFill>
                  <a:srgbClr val="0184BC"/>
                </a:solidFill>
                <a:latin typeface="Calibri"/>
              </a:rPr>
              <a:t>Act 3: Seven Schema Bugs Found and Fixed</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Iterative testing against the RDLS v1.0 JSON Schema before production</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19 / 26</a:t>
            </a:r>
          </a:p>
        </p:txBody>
      </p:sp>
      <p:graphicFrame>
        <p:nvGraphicFramePr>
          <p:cNvPr id="7" name="Table 6"/>
          <p:cNvGraphicFramePr>
            <a:graphicFrameLocks noGrp="1"/>
          </p:cNvGraphicFramePr>
          <p:nvPr>
            <p:extLst>
              <p:ext uri="{D42A27DB-BD31-4B8C-83A1-F6EECF244321}">
                <p14:modId xmlns:p14="http://schemas.microsoft.com/office/powerpoint/2010/main" val="3160386809"/>
              </p:ext>
            </p:extLst>
          </p:nvPr>
        </p:nvGraphicFramePr>
        <p:xfrm>
          <a:off x="411480" y="1103638"/>
          <a:ext cx="11338560" cy="4709160"/>
        </p:xfrm>
        <a:graphic>
          <a:graphicData uri="http://schemas.openxmlformats.org/drawingml/2006/table">
            <a:tbl>
              <a:tblPr firstRow="1" bandRow="1">
                <a:tableStyleId>{5C22544A-7EE6-4342-B048-85BDC9FD1C3A}</a:tableStyleId>
              </a:tblPr>
              <a:tblGrid>
                <a:gridCol w="1091317">
                  <a:extLst>
                    <a:ext uri="{9D8B030D-6E8A-4147-A177-3AD203B41FA5}">
                      <a16:colId xmlns:a16="http://schemas.microsoft.com/office/drawing/2014/main" val="20000"/>
                    </a:ext>
                  </a:extLst>
                </a:gridCol>
                <a:gridCol w="3371353">
                  <a:extLst>
                    <a:ext uri="{9D8B030D-6E8A-4147-A177-3AD203B41FA5}">
                      <a16:colId xmlns:a16="http://schemas.microsoft.com/office/drawing/2014/main" val="20001"/>
                    </a:ext>
                  </a:extLst>
                </a:gridCol>
                <a:gridCol w="3427012">
                  <a:extLst>
                    <a:ext uri="{9D8B030D-6E8A-4147-A177-3AD203B41FA5}">
                      <a16:colId xmlns:a16="http://schemas.microsoft.com/office/drawing/2014/main" val="20002"/>
                    </a:ext>
                  </a:extLst>
                </a:gridCol>
                <a:gridCol w="3448878">
                  <a:extLst>
                    <a:ext uri="{9D8B030D-6E8A-4147-A177-3AD203B41FA5}">
                      <a16:colId xmlns:a16="http://schemas.microsoft.com/office/drawing/2014/main" val="20003"/>
                    </a:ext>
                  </a:extLst>
                </a:gridCol>
              </a:tblGrid>
              <a:tr h="588645">
                <a:tc>
                  <a:txBody>
                    <a:bodyPr/>
                    <a:lstStyle/>
                    <a:p>
                      <a:pPr algn="ctr"/>
                      <a:r>
                        <a:rPr sz="1400" b="1" dirty="0">
                          <a:solidFill>
                            <a:srgbClr val="FFFFFF"/>
                          </a:solidFill>
                          <a:latin typeface="Calibri"/>
                        </a:rPr>
                        <a:t>#</a:t>
                      </a:r>
                    </a:p>
                  </a:txBody>
                  <a:tcPr>
                    <a:solidFill>
                      <a:srgbClr val="383A42"/>
                    </a:solidFill>
                  </a:tcPr>
                </a:tc>
                <a:tc>
                  <a:txBody>
                    <a:bodyPr/>
                    <a:lstStyle/>
                    <a:p>
                      <a:pPr algn="ctr"/>
                      <a:r>
                        <a:rPr sz="1400" b="1" dirty="0">
                          <a:solidFill>
                            <a:srgbClr val="FFFFFF"/>
                          </a:solidFill>
                          <a:latin typeface="Calibri"/>
                        </a:rPr>
                        <a:t>Error observed</a:t>
                      </a:r>
                    </a:p>
                  </a:txBody>
                  <a:tcPr>
                    <a:solidFill>
                      <a:srgbClr val="383A42"/>
                    </a:solidFill>
                  </a:tcPr>
                </a:tc>
                <a:tc>
                  <a:txBody>
                    <a:bodyPr/>
                    <a:lstStyle/>
                    <a:p>
                      <a:pPr algn="ctr"/>
                      <a:r>
                        <a:rPr sz="1400" b="1" dirty="0">
                          <a:solidFill>
                            <a:srgbClr val="FFFFFF"/>
                          </a:solidFill>
                          <a:latin typeface="Calibri"/>
                        </a:rPr>
                        <a:t>Root cause</a:t>
                      </a:r>
                    </a:p>
                  </a:txBody>
                  <a:tcPr>
                    <a:solidFill>
                      <a:srgbClr val="383A42"/>
                    </a:solidFill>
                  </a:tcPr>
                </a:tc>
                <a:tc>
                  <a:txBody>
                    <a:bodyPr/>
                    <a:lstStyle/>
                    <a:p>
                      <a:pPr algn="ctr"/>
                      <a:r>
                        <a:rPr sz="1400" b="1" dirty="0">
                          <a:solidFill>
                            <a:srgbClr val="FFFFFF"/>
                          </a:solidFill>
                          <a:latin typeface="Calibri"/>
                        </a:rPr>
                        <a:t>Fix applied</a:t>
                      </a:r>
                    </a:p>
                  </a:txBody>
                  <a:tcPr>
                    <a:solidFill>
                      <a:srgbClr val="383A42"/>
                    </a:solidFill>
                  </a:tcPr>
                </a:tc>
                <a:extLst>
                  <a:ext uri="{0D108BD9-81ED-4DB2-BD59-A6C34878D82A}">
                    <a16:rowId xmlns:a16="http://schemas.microsoft.com/office/drawing/2014/main" val="10000"/>
                  </a:ext>
                </a:extLst>
              </a:tr>
              <a:tr h="588645">
                <a:tc>
                  <a:txBody>
                    <a:bodyPr/>
                    <a:lstStyle/>
                    <a:p>
                      <a:pPr algn="ctr"/>
                      <a:r>
                        <a:rPr sz="950" b="0" dirty="0">
                          <a:solidFill>
                            <a:srgbClr val="383A42"/>
                          </a:solidFill>
                          <a:latin typeface="Calibri"/>
                        </a:rPr>
                        <a:t>1</a:t>
                      </a:r>
                    </a:p>
                  </a:txBody>
                  <a:tcPr>
                    <a:solidFill>
                      <a:srgbClr val="FFFFFF"/>
                    </a:solidFill>
                  </a:tcPr>
                </a:tc>
                <a:tc>
                  <a:txBody>
                    <a:bodyPr/>
                    <a:lstStyle/>
                    <a:p>
                      <a:pPr algn="l"/>
                      <a:r>
                        <a:rPr sz="950" b="0" dirty="0" err="1">
                          <a:solidFill>
                            <a:srgbClr val="383A42"/>
                          </a:solidFill>
                          <a:latin typeface="Calibri"/>
                        </a:rPr>
                        <a:t>exposure.dimension</a:t>
                      </a:r>
                      <a:r>
                        <a:rPr sz="950" b="0" dirty="0">
                          <a:solidFill>
                            <a:srgbClr val="383A42"/>
                          </a:solidFill>
                          <a:latin typeface="Calibri"/>
                        </a:rPr>
                        <a:t>: 'count' is not one of [...]</a:t>
                      </a:r>
                    </a:p>
                  </a:txBody>
                  <a:tcPr>
                    <a:solidFill>
                      <a:srgbClr val="FFFFFF"/>
                    </a:solidFill>
                  </a:tcPr>
                </a:tc>
                <a:tc>
                  <a:txBody>
                    <a:bodyPr/>
                    <a:lstStyle/>
                    <a:p>
                      <a:pPr algn="l"/>
                      <a:r>
                        <a:rPr sz="950" b="0">
                          <a:solidFill>
                            <a:srgbClr val="383A42"/>
                          </a:solidFill>
                          <a:latin typeface="Calibri"/>
                        </a:rPr>
                        <a:t>LLM returned non-enum values</a:t>
                      </a:r>
                    </a:p>
                  </a:txBody>
                  <a:tcPr>
                    <a:solidFill>
                      <a:srgbClr val="FFFFFF"/>
                    </a:solidFill>
                  </a:tcPr>
                </a:tc>
                <a:tc>
                  <a:txBody>
                    <a:bodyPr/>
                    <a:lstStyle/>
                    <a:p>
                      <a:pPr algn="l"/>
                      <a:r>
                        <a:rPr sz="950" b="0">
                          <a:solidFill>
                            <a:srgbClr val="383A42"/>
                          </a:solidFill>
                          <a:latin typeface="Calibri"/>
                        </a:rPr>
                        <a:t>Validate against closed set; fallback to category default</a:t>
                      </a:r>
                    </a:p>
                  </a:txBody>
                  <a:tcPr>
                    <a:solidFill>
                      <a:srgbClr val="FFFFFF"/>
                    </a:solidFill>
                  </a:tcPr>
                </a:tc>
                <a:extLst>
                  <a:ext uri="{0D108BD9-81ED-4DB2-BD59-A6C34878D82A}">
                    <a16:rowId xmlns:a16="http://schemas.microsoft.com/office/drawing/2014/main" val="10001"/>
                  </a:ext>
                </a:extLst>
              </a:tr>
              <a:tr h="588645">
                <a:tc>
                  <a:txBody>
                    <a:bodyPr/>
                    <a:lstStyle/>
                    <a:p>
                      <a:pPr algn="ctr"/>
                      <a:r>
                        <a:rPr sz="950" b="0">
                          <a:solidFill>
                            <a:srgbClr val="383A42"/>
                          </a:solidFill>
                          <a:latin typeface="Calibri"/>
                        </a:rPr>
                        <a:t>2</a:t>
                      </a:r>
                    </a:p>
                  </a:txBody>
                  <a:tcPr>
                    <a:solidFill>
                      <a:srgbClr val="F0F0F2"/>
                    </a:solidFill>
                  </a:tcPr>
                </a:tc>
                <a:tc>
                  <a:txBody>
                    <a:bodyPr/>
                    <a:lstStyle/>
                    <a:p>
                      <a:pPr algn="l"/>
                      <a:r>
                        <a:rPr sz="950" b="0">
                          <a:solidFill>
                            <a:srgbClr val="383A42"/>
                          </a:solidFill>
                          <a:latin typeface="Calibri"/>
                        </a:rPr>
                        <a:t>spatial: {scale:'global', countries:[...]} invalid</a:t>
                      </a:r>
                    </a:p>
                  </a:txBody>
                  <a:tcPr>
                    <a:solidFill>
                      <a:srgbClr val="F0F0F2"/>
                    </a:solidFill>
                  </a:tcPr>
                </a:tc>
                <a:tc>
                  <a:txBody>
                    <a:bodyPr/>
                    <a:lstStyle/>
                    <a:p>
                      <a:pPr algn="l"/>
                      <a:r>
                        <a:rPr sz="950" b="0">
                          <a:solidFill>
                            <a:srgbClr val="383A42"/>
                          </a:solidFill>
                          <a:latin typeface="Calibri"/>
                        </a:rPr>
                        <a:t>Lookup fallback + LLM country list combined</a:t>
                      </a:r>
                    </a:p>
                  </a:txBody>
                  <a:tcPr>
                    <a:solidFill>
                      <a:srgbClr val="F0F0F2"/>
                    </a:solidFill>
                  </a:tcPr>
                </a:tc>
                <a:tc>
                  <a:txBody>
                    <a:bodyPr/>
                    <a:lstStyle/>
                    <a:p>
                      <a:pPr algn="l"/>
                      <a:r>
                        <a:rPr sz="950" b="0">
                          <a:solidFill>
                            <a:srgbClr val="383A42"/>
                          </a:solidFill>
                          <a:latin typeface="Calibri"/>
                        </a:rPr>
                        <a:t>Strip countries when scale='global'</a:t>
                      </a:r>
                    </a:p>
                  </a:txBody>
                  <a:tcPr>
                    <a:solidFill>
                      <a:srgbClr val="F0F0F2"/>
                    </a:solidFill>
                  </a:tcPr>
                </a:tc>
                <a:extLst>
                  <a:ext uri="{0D108BD9-81ED-4DB2-BD59-A6C34878D82A}">
                    <a16:rowId xmlns:a16="http://schemas.microsoft.com/office/drawing/2014/main" val="10002"/>
                  </a:ext>
                </a:extLst>
              </a:tr>
              <a:tr h="588645">
                <a:tc>
                  <a:txBody>
                    <a:bodyPr/>
                    <a:lstStyle/>
                    <a:p>
                      <a:pPr algn="ctr"/>
                      <a:r>
                        <a:rPr sz="950" b="0">
                          <a:solidFill>
                            <a:srgbClr val="383A42"/>
                          </a:solidFill>
                          <a:latin typeface="Calibri"/>
                        </a:rPr>
                        <a:t>3</a:t>
                      </a:r>
                    </a:p>
                  </a:txBody>
                  <a:tcPr>
                    <a:solidFill>
                      <a:srgbClr val="FFFFFF"/>
                    </a:solidFill>
                  </a:tcPr>
                </a:tc>
                <a:tc>
                  <a:txBody>
                    <a:bodyPr/>
                    <a:lstStyle/>
                    <a:p>
                      <a:pPr algn="l"/>
                      <a:r>
                        <a:rPr sz="950" b="0">
                          <a:solidFill>
                            <a:srgbClr val="383A42"/>
                          </a:solidFill>
                          <a:latin typeface="Calibri"/>
                        </a:rPr>
                        <a:t>loss.hazard.type: 'multiple' is not one of [...]</a:t>
                      </a:r>
                    </a:p>
                  </a:txBody>
                  <a:tcPr>
                    <a:solidFill>
                      <a:srgbClr val="FFFFFF"/>
                    </a:solidFill>
                  </a:tcPr>
                </a:tc>
                <a:tc>
                  <a:txBody>
                    <a:bodyPr/>
                    <a:lstStyle/>
                    <a:p>
                      <a:pPr algn="l"/>
                      <a:r>
                        <a:rPr sz="950" b="0">
                          <a:solidFill>
                            <a:srgbClr val="383A42"/>
                          </a:solidFill>
                          <a:latin typeface="Calibri"/>
                        </a:rPr>
                        <a:t>LLM used 'multiple' for multi-hazard datasets</a:t>
                      </a:r>
                    </a:p>
                  </a:txBody>
                  <a:tcPr>
                    <a:solidFill>
                      <a:srgbClr val="FFFFFF"/>
                    </a:solidFill>
                  </a:tcPr>
                </a:tc>
                <a:tc>
                  <a:txBody>
                    <a:bodyPr/>
                    <a:lstStyle/>
                    <a:p>
                      <a:pPr algn="l"/>
                      <a:r>
                        <a:rPr sz="950" b="0">
                          <a:solidFill>
                            <a:srgbClr val="383A42"/>
                          </a:solidFill>
                          <a:latin typeface="Calibri"/>
                        </a:rPr>
                        <a:t>Reject in parser; fall back to primary type</a:t>
                      </a:r>
                    </a:p>
                  </a:txBody>
                  <a:tcPr>
                    <a:solidFill>
                      <a:srgbClr val="FFFFFF"/>
                    </a:solidFill>
                  </a:tcPr>
                </a:tc>
                <a:extLst>
                  <a:ext uri="{0D108BD9-81ED-4DB2-BD59-A6C34878D82A}">
                    <a16:rowId xmlns:a16="http://schemas.microsoft.com/office/drawing/2014/main" val="10003"/>
                  </a:ext>
                </a:extLst>
              </a:tr>
              <a:tr h="588645">
                <a:tc>
                  <a:txBody>
                    <a:bodyPr/>
                    <a:lstStyle/>
                    <a:p>
                      <a:pPr algn="ctr"/>
                      <a:r>
                        <a:rPr sz="950" b="0">
                          <a:solidFill>
                            <a:srgbClr val="383A42"/>
                          </a:solidFill>
                          <a:latin typeface="Calibri"/>
                        </a:rPr>
                        <a:t>4</a:t>
                      </a:r>
                    </a:p>
                  </a:txBody>
                  <a:tcPr>
                    <a:solidFill>
                      <a:srgbClr val="F0F0F2"/>
                    </a:solidFill>
                  </a:tcPr>
                </a:tc>
                <a:tc>
                  <a:txBody>
                    <a:bodyPr/>
                    <a:lstStyle/>
                    <a:p>
                      <a:pPr algn="l"/>
                      <a:r>
                        <a:rPr sz="950" b="0">
                          <a:solidFill>
                            <a:srgbClr val="383A42"/>
                          </a:solidFill>
                          <a:latin typeface="Calibri"/>
                        </a:rPr>
                        <a:t>resources.0: not valid under any of the given schemas</a:t>
                      </a:r>
                    </a:p>
                  </a:txBody>
                  <a:tcPr>
                    <a:solidFill>
                      <a:srgbClr val="F0F0F2"/>
                    </a:solidFill>
                  </a:tcPr>
                </a:tc>
                <a:tc>
                  <a:txBody>
                    <a:bodyPr/>
                    <a:lstStyle/>
                    <a:p>
                      <a:pPr algn="l"/>
                      <a:r>
                        <a:rPr sz="950" b="0">
                          <a:solidFill>
                            <a:srgbClr val="383A42"/>
                          </a:solidFill>
                          <a:latin typeface="Calibri"/>
                        </a:rPr>
                        <a:t>Empty URL failed Resource.anyOf</a:t>
                      </a:r>
                    </a:p>
                  </a:txBody>
                  <a:tcPr>
                    <a:solidFill>
                      <a:srgbClr val="F0F0F2"/>
                    </a:solidFill>
                  </a:tcPr>
                </a:tc>
                <a:tc>
                  <a:txBody>
                    <a:bodyPr/>
                    <a:lstStyle/>
                    <a:p>
                      <a:pPr algn="l"/>
                      <a:r>
                        <a:rPr sz="950" b="0">
                          <a:solidFill>
                            <a:srgbClr val="383A42"/>
                          </a:solidFill>
                          <a:latin typeface="Calibri"/>
                        </a:rPr>
                        <a:t>Skip resources with no settable URL</a:t>
                      </a:r>
                    </a:p>
                  </a:txBody>
                  <a:tcPr>
                    <a:solidFill>
                      <a:srgbClr val="F0F0F2"/>
                    </a:solidFill>
                  </a:tcPr>
                </a:tc>
                <a:extLst>
                  <a:ext uri="{0D108BD9-81ED-4DB2-BD59-A6C34878D82A}">
                    <a16:rowId xmlns:a16="http://schemas.microsoft.com/office/drawing/2014/main" val="10004"/>
                  </a:ext>
                </a:extLst>
              </a:tr>
              <a:tr h="588645">
                <a:tc>
                  <a:txBody>
                    <a:bodyPr/>
                    <a:lstStyle/>
                    <a:p>
                      <a:pPr algn="ctr"/>
                      <a:r>
                        <a:rPr sz="950" b="0">
                          <a:solidFill>
                            <a:srgbClr val="383A42"/>
                          </a:solidFill>
                          <a:latin typeface="Calibri"/>
                        </a:rPr>
                        <a:t>5</a:t>
                      </a:r>
                    </a:p>
                  </a:txBody>
                  <a:tcPr>
                    <a:solidFill>
                      <a:srgbClr val="FFFFFF"/>
                    </a:solidFill>
                  </a:tcPr>
                </a:tc>
                <a:tc>
                  <a:txBody>
                    <a:bodyPr/>
                    <a:lstStyle/>
                    <a:p>
                      <a:pPr algn="l"/>
                      <a:r>
                        <a:rPr sz="950" b="0">
                          <a:solidFill>
                            <a:srgbClr val="383A42"/>
                          </a:solidFill>
                          <a:latin typeface="Calibri"/>
                        </a:rPr>
                        <a:t>spatial.countries: ['XKX'] fails codelist</a:t>
                      </a:r>
                    </a:p>
                  </a:txBody>
                  <a:tcPr>
                    <a:solidFill>
                      <a:srgbClr val="FFFFFF"/>
                    </a:solidFill>
                  </a:tcPr>
                </a:tc>
                <a:tc>
                  <a:txBody>
                    <a:bodyPr/>
                    <a:lstStyle/>
                    <a:p>
                      <a:pPr algn="l"/>
                      <a:r>
                        <a:rPr sz="950" b="0">
                          <a:solidFill>
                            <a:srgbClr val="383A42"/>
                          </a:solidFill>
                          <a:latin typeface="Calibri"/>
                        </a:rPr>
                        <a:t>Kosovo code outside 249-entry closed list</a:t>
                      </a:r>
                    </a:p>
                  </a:txBody>
                  <a:tcPr>
                    <a:solidFill>
                      <a:srgbClr val="FFFFFF"/>
                    </a:solidFill>
                  </a:tcPr>
                </a:tc>
                <a:tc>
                  <a:txBody>
                    <a:bodyPr/>
                    <a:lstStyle/>
                    <a:p>
                      <a:pPr algn="l"/>
                      <a:r>
                        <a:rPr sz="950" b="0">
                          <a:solidFill>
                            <a:srgbClr val="383A42"/>
                          </a:solidFill>
                          <a:latin typeface="Calibri"/>
                        </a:rPr>
                        <a:t>Filter all country lists at module import</a:t>
                      </a:r>
                    </a:p>
                  </a:txBody>
                  <a:tcPr>
                    <a:solidFill>
                      <a:srgbClr val="FFFFFF"/>
                    </a:solidFill>
                  </a:tcPr>
                </a:tc>
                <a:extLst>
                  <a:ext uri="{0D108BD9-81ED-4DB2-BD59-A6C34878D82A}">
                    <a16:rowId xmlns:a16="http://schemas.microsoft.com/office/drawing/2014/main" val="10005"/>
                  </a:ext>
                </a:extLst>
              </a:tr>
              <a:tr h="588645">
                <a:tc>
                  <a:txBody>
                    <a:bodyPr/>
                    <a:lstStyle/>
                    <a:p>
                      <a:pPr algn="ctr"/>
                      <a:r>
                        <a:rPr sz="950" b="0">
                          <a:solidFill>
                            <a:srgbClr val="383A42"/>
                          </a:solidFill>
                          <a:latin typeface="Calibri"/>
                        </a:rPr>
                        <a:t>6</a:t>
                      </a:r>
                    </a:p>
                  </a:txBody>
                  <a:tcPr>
                    <a:solidFill>
                      <a:srgbClr val="F0F0F2"/>
                    </a:solidFill>
                  </a:tcPr>
                </a:tc>
                <a:tc>
                  <a:txBody>
                    <a:bodyPr/>
                    <a:lstStyle/>
                    <a:p>
                      <a:pPr algn="l"/>
                      <a:r>
                        <a:rPr sz="950" b="0">
                          <a:solidFill>
                            <a:srgbClr val="383A42"/>
                          </a:solidFill>
                          <a:latin typeface="Calibri"/>
                        </a:rPr>
                        <a:t>impact_modelling: 'inferred' for probabilistic output</a:t>
                      </a:r>
                    </a:p>
                  </a:txBody>
                  <a:tcPr>
                    <a:solidFill>
                      <a:srgbClr val="F0F0F2"/>
                    </a:solidFill>
                  </a:tcPr>
                </a:tc>
                <a:tc>
                  <a:txBody>
                    <a:bodyPr/>
                    <a:lstStyle/>
                    <a:p>
                      <a:pPr algn="l"/>
                      <a:r>
                        <a:rPr sz="950" b="0">
                          <a:solidFill>
                            <a:srgbClr val="383A42"/>
                          </a:solidFill>
                          <a:latin typeface="Calibri"/>
                        </a:rPr>
                        <a:t>Always defaulted to 'inferred'</a:t>
                      </a:r>
                    </a:p>
                  </a:txBody>
                  <a:tcPr>
                    <a:solidFill>
                      <a:srgbClr val="F0F0F2"/>
                    </a:solidFill>
                  </a:tcPr>
                </a:tc>
                <a:tc>
                  <a:txBody>
                    <a:bodyPr/>
                    <a:lstStyle/>
                    <a:p>
                      <a:pPr algn="l"/>
                      <a:r>
                        <a:rPr sz="950" b="0">
                          <a:solidFill>
                            <a:srgbClr val="383A42"/>
                          </a:solidFill>
                          <a:latin typeface="Calibri"/>
                        </a:rPr>
                        <a:t>simulated/observed/inferred per analysis type</a:t>
                      </a:r>
                    </a:p>
                  </a:txBody>
                  <a:tcPr>
                    <a:solidFill>
                      <a:srgbClr val="F0F0F2"/>
                    </a:solidFill>
                  </a:tcPr>
                </a:tc>
                <a:extLst>
                  <a:ext uri="{0D108BD9-81ED-4DB2-BD59-A6C34878D82A}">
                    <a16:rowId xmlns:a16="http://schemas.microsoft.com/office/drawing/2014/main" val="10006"/>
                  </a:ext>
                </a:extLst>
              </a:tr>
              <a:tr h="588645">
                <a:tc>
                  <a:txBody>
                    <a:bodyPr/>
                    <a:lstStyle/>
                    <a:p>
                      <a:pPr algn="ctr"/>
                      <a:r>
                        <a:rPr sz="950" b="0" dirty="0">
                          <a:solidFill>
                            <a:srgbClr val="383A42"/>
                          </a:solidFill>
                          <a:latin typeface="Calibri"/>
                        </a:rPr>
                        <a:t>7</a:t>
                      </a:r>
                    </a:p>
                  </a:txBody>
                  <a:tcPr>
                    <a:solidFill>
                      <a:srgbClr val="FFFFFF"/>
                    </a:solidFill>
                  </a:tcPr>
                </a:tc>
                <a:tc>
                  <a:txBody>
                    <a:bodyPr/>
                    <a:lstStyle/>
                    <a:p>
                      <a:pPr algn="l"/>
                      <a:r>
                        <a:rPr sz="950" b="0">
                          <a:solidFill>
                            <a:srgbClr val="383A42"/>
                          </a:solidFill>
                          <a:latin typeface="Calibri"/>
                        </a:rPr>
                        <a:t>loss_approach: 'empirical' for model-based losses</a:t>
                      </a:r>
                    </a:p>
                  </a:txBody>
                  <a:tcPr>
                    <a:solidFill>
                      <a:srgbClr val="FFFFFF"/>
                    </a:solidFill>
                  </a:tcPr>
                </a:tc>
                <a:tc>
                  <a:txBody>
                    <a:bodyPr/>
                    <a:lstStyle/>
                    <a:p>
                      <a:pPr algn="l"/>
                      <a:r>
                        <a:rPr sz="950" b="0">
                          <a:solidFill>
                            <a:srgbClr val="383A42"/>
                          </a:solidFill>
                          <a:latin typeface="Calibri"/>
                        </a:rPr>
                        <a:t>Always hardcoded 'empirical'</a:t>
                      </a:r>
                    </a:p>
                  </a:txBody>
                  <a:tcPr>
                    <a:solidFill>
                      <a:srgbClr val="FFFFFF"/>
                    </a:solidFill>
                  </a:tcPr>
                </a:tc>
                <a:tc>
                  <a:txBody>
                    <a:bodyPr/>
                    <a:lstStyle/>
                    <a:p>
                      <a:pPr algn="l"/>
                      <a:r>
                        <a:rPr sz="950" b="0" dirty="0">
                          <a:solidFill>
                            <a:srgbClr val="383A42"/>
                          </a:solidFill>
                          <a:latin typeface="Calibri"/>
                        </a:rPr>
                        <a:t>analytical for model-based, empirical for field data</a:t>
                      </a:r>
                    </a:p>
                  </a:txBody>
                  <a:tcPr>
                    <a:solidFill>
                      <a:srgbClr val="FFFFFF"/>
                    </a:solidFill>
                  </a:tcPr>
                </a:tc>
                <a:extLst>
                  <a:ext uri="{0D108BD9-81ED-4DB2-BD59-A6C34878D82A}">
                    <a16:rowId xmlns:a16="http://schemas.microsoft.com/office/drawing/2014/main" val="10007"/>
                  </a:ext>
                </a:extLst>
              </a:tr>
            </a:tbl>
          </a:graphicData>
        </a:graphic>
      </p:graphicFrame>
      <p:sp>
        <p:nvSpPr>
          <p:cNvPr id="8" name="Rectangle 7"/>
          <p:cNvSpPr/>
          <p:nvPr/>
        </p:nvSpPr>
        <p:spPr>
          <a:xfrm>
            <a:off x="411480" y="5913382"/>
            <a:ext cx="11338560" cy="68580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11480" y="5913382"/>
            <a:ext cx="50800" cy="685800"/>
          </a:xfrm>
          <a:prstGeom prst="rect">
            <a:avLst/>
          </a:prstGeom>
          <a:solidFill>
            <a:srgbClr val="C18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89280" y="5989582"/>
            <a:ext cx="11084560" cy="369332"/>
          </a:xfrm>
          <a:prstGeom prst="rect">
            <a:avLst/>
          </a:prstGeom>
          <a:noFill/>
        </p:spPr>
        <p:txBody>
          <a:bodyPr wrap="square" lIns="0" tIns="0" rIns="0" bIns="0">
            <a:spAutoFit/>
          </a:bodyPr>
          <a:lstStyle/>
          <a:p>
            <a:r>
              <a:rPr sz="1200" b="0" dirty="0">
                <a:solidFill>
                  <a:srgbClr val="383A42"/>
                </a:solidFill>
                <a:latin typeface="Calibri"/>
              </a:rPr>
              <a:t>None of these errors were obvious from reading the schema specification. Every one was only visible by running the validator against real data. Budget for this iterative cycle before any production run.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dirty="0">
                <a:solidFill>
                  <a:srgbClr val="0184BC"/>
                </a:solidFill>
                <a:latin typeface="Calibri"/>
              </a:rPr>
              <a:t>Act 3: Test Results - Zero Invalid Records</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100-dataset test with Claude Haiku 4.5 after all seven fixes</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20 / 26</a:t>
            </a:r>
          </a:p>
        </p:txBody>
      </p:sp>
      <p:sp>
        <p:nvSpPr>
          <p:cNvPr id="7" name="Rectangle 6"/>
          <p:cNvSpPr/>
          <p:nvPr/>
        </p:nvSpPr>
        <p:spPr>
          <a:xfrm>
            <a:off x="411480" y="1103638"/>
            <a:ext cx="3657600" cy="169164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11480" y="1103638"/>
            <a:ext cx="3657600" cy="50800"/>
          </a:xfrm>
          <a:prstGeom prst="rect">
            <a:avLst/>
          </a:prstGeom>
          <a:solidFill>
            <a:srgbClr val="50A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1383522"/>
            <a:ext cx="3657600" cy="914400"/>
          </a:xfrm>
          <a:prstGeom prst="rect">
            <a:avLst/>
          </a:prstGeom>
          <a:noFill/>
        </p:spPr>
        <p:txBody>
          <a:bodyPr wrap="square" lIns="0" tIns="0" rIns="0" bIns="0">
            <a:spAutoFit/>
          </a:bodyPr>
          <a:lstStyle/>
          <a:p>
            <a:pPr algn="ctr"/>
            <a:r>
              <a:rPr sz="5200" b="1" dirty="0">
                <a:solidFill>
                  <a:srgbClr val="50A14F"/>
                </a:solidFill>
                <a:latin typeface="Calibri"/>
              </a:rPr>
              <a:t>30 / 30</a:t>
            </a:r>
          </a:p>
        </p:txBody>
      </p:sp>
      <p:sp>
        <p:nvSpPr>
          <p:cNvPr id="10" name="TextBox 9"/>
          <p:cNvSpPr txBox="1"/>
          <p:nvPr/>
        </p:nvSpPr>
        <p:spPr>
          <a:xfrm>
            <a:off x="411480" y="2316210"/>
            <a:ext cx="3657600" cy="200055"/>
          </a:xfrm>
          <a:prstGeom prst="rect">
            <a:avLst/>
          </a:prstGeom>
          <a:noFill/>
        </p:spPr>
        <p:txBody>
          <a:bodyPr wrap="square" lIns="0" tIns="0" rIns="0" bIns="0">
            <a:spAutoFit/>
          </a:bodyPr>
          <a:lstStyle/>
          <a:p>
            <a:pPr algn="ctr"/>
            <a:r>
              <a:rPr sz="1300" b="0" dirty="0">
                <a:solidFill>
                  <a:srgbClr val="696C77"/>
                </a:solidFill>
                <a:latin typeface="Calibri"/>
              </a:rPr>
              <a:t>Schema-valid</a:t>
            </a:r>
          </a:p>
        </p:txBody>
      </p:sp>
      <p:sp>
        <p:nvSpPr>
          <p:cNvPr id="11" name="Rectangle 10"/>
          <p:cNvSpPr/>
          <p:nvPr/>
        </p:nvSpPr>
        <p:spPr>
          <a:xfrm>
            <a:off x="4343400" y="1103638"/>
            <a:ext cx="3657600" cy="169164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43400" y="1103638"/>
            <a:ext cx="3657600" cy="508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43400" y="1383522"/>
            <a:ext cx="3657600" cy="914400"/>
          </a:xfrm>
          <a:prstGeom prst="rect">
            <a:avLst/>
          </a:prstGeom>
          <a:noFill/>
        </p:spPr>
        <p:txBody>
          <a:bodyPr wrap="square" lIns="0" tIns="0" rIns="0" bIns="0">
            <a:spAutoFit/>
          </a:bodyPr>
          <a:lstStyle/>
          <a:p>
            <a:pPr algn="ctr"/>
            <a:r>
              <a:rPr sz="5200" b="1">
                <a:solidFill>
                  <a:srgbClr val="696C77"/>
                </a:solidFill>
                <a:latin typeface="Calibri"/>
              </a:rPr>
              <a:t>0</a:t>
            </a:r>
          </a:p>
        </p:txBody>
      </p:sp>
      <p:sp>
        <p:nvSpPr>
          <p:cNvPr id="14" name="TextBox 13"/>
          <p:cNvSpPr txBox="1"/>
          <p:nvPr/>
        </p:nvSpPr>
        <p:spPr>
          <a:xfrm>
            <a:off x="4343400" y="2316210"/>
            <a:ext cx="3657600" cy="200055"/>
          </a:xfrm>
          <a:prstGeom prst="rect">
            <a:avLst/>
          </a:prstGeom>
          <a:noFill/>
        </p:spPr>
        <p:txBody>
          <a:bodyPr wrap="square" lIns="0" tIns="0" rIns="0" bIns="0">
            <a:spAutoFit/>
          </a:bodyPr>
          <a:lstStyle/>
          <a:p>
            <a:pPr algn="ctr"/>
            <a:r>
              <a:rPr sz="1300" b="0" dirty="0">
                <a:solidFill>
                  <a:srgbClr val="696C77"/>
                </a:solidFill>
                <a:latin typeface="Calibri"/>
              </a:rPr>
              <a:t>Invalid</a:t>
            </a:r>
          </a:p>
        </p:txBody>
      </p:sp>
      <p:sp>
        <p:nvSpPr>
          <p:cNvPr id="15" name="Rectangle 14"/>
          <p:cNvSpPr/>
          <p:nvPr/>
        </p:nvSpPr>
        <p:spPr>
          <a:xfrm>
            <a:off x="8275319" y="1103638"/>
            <a:ext cx="3657600" cy="169164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275319" y="1103638"/>
            <a:ext cx="3657600" cy="508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75319" y="1383522"/>
            <a:ext cx="3657600" cy="914400"/>
          </a:xfrm>
          <a:prstGeom prst="rect">
            <a:avLst/>
          </a:prstGeom>
          <a:noFill/>
        </p:spPr>
        <p:txBody>
          <a:bodyPr wrap="square" lIns="0" tIns="0" rIns="0" bIns="0">
            <a:spAutoFit/>
          </a:bodyPr>
          <a:lstStyle/>
          <a:p>
            <a:pPr algn="ctr"/>
            <a:r>
              <a:rPr sz="5200" b="1">
                <a:solidFill>
                  <a:srgbClr val="696C77"/>
                </a:solidFill>
                <a:latin typeface="Calibri"/>
              </a:rPr>
              <a:t>0</a:t>
            </a:r>
          </a:p>
        </p:txBody>
      </p:sp>
      <p:sp>
        <p:nvSpPr>
          <p:cNvPr id="18" name="TextBox 17"/>
          <p:cNvSpPr txBox="1"/>
          <p:nvPr/>
        </p:nvSpPr>
        <p:spPr>
          <a:xfrm>
            <a:off x="8275319" y="2316210"/>
            <a:ext cx="3657600" cy="200055"/>
          </a:xfrm>
          <a:prstGeom prst="rect">
            <a:avLst/>
          </a:prstGeom>
          <a:noFill/>
        </p:spPr>
        <p:txBody>
          <a:bodyPr wrap="square" lIns="0" tIns="0" rIns="0" bIns="0">
            <a:spAutoFit/>
          </a:bodyPr>
          <a:lstStyle/>
          <a:p>
            <a:pPr algn="ctr"/>
            <a:r>
              <a:rPr sz="1300" b="0" dirty="0">
                <a:solidFill>
                  <a:srgbClr val="696C77"/>
                </a:solidFill>
                <a:latin typeface="Calibri"/>
              </a:rPr>
              <a:t>Failures</a:t>
            </a:r>
          </a:p>
        </p:txBody>
      </p:sp>
      <p:graphicFrame>
        <p:nvGraphicFramePr>
          <p:cNvPr id="19" name="Table 18"/>
          <p:cNvGraphicFramePr>
            <a:graphicFrameLocks noGrp="1"/>
          </p:cNvGraphicFramePr>
          <p:nvPr>
            <p:extLst>
              <p:ext uri="{D42A27DB-BD31-4B8C-83A1-F6EECF244321}">
                <p14:modId xmlns:p14="http://schemas.microsoft.com/office/powerpoint/2010/main" val="4290114005"/>
              </p:ext>
            </p:extLst>
          </p:nvPr>
        </p:nvGraphicFramePr>
        <p:xfrm>
          <a:off x="411480" y="2959870"/>
          <a:ext cx="11338560" cy="2743200"/>
        </p:xfrm>
        <a:graphic>
          <a:graphicData uri="http://schemas.openxmlformats.org/drawingml/2006/table">
            <a:tbl>
              <a:tblPr firstRow="1" bandRow="1">
                <a:tableStyleId>{5C22544A-7EE6-4342-B048-85BDC9FD1C3A}</a:tableStyleId>
              </a:tblPr>
              <a:tblGrid>
                <a:gridCol w="3779520">
                  <a:extLst>
                    <a:ext uri="{9D8B030D-6E8A-4147-A177-3AD203B41FA5}">
                      <a16:colId xmlns:a16="http://schemas.microsoft.com/office/drawing/2014/main" val="20000"/>
                    </a:ext>
                  </a:extLst>
                </a:gridCol>
                <a:gridCol w="3779520">
                  <a:extLst>
                    <a:ext uri="{9D8B030D-6E8A-4147-A177-3AD203B41FA5}">
                      <a16:colId xmlns:a16="http://schemas.microsoft.com/office/drawing/2014/main" val="20001"/>
                    </a:ext>
                  </a:extLst>
                </a:gridCol>
                <a:gridCol w="3779520">
                  <a:extLst>
                    <a:ext uri="{9D8B030D-6E8A-4147-A177-3AD203B41FA5}">
                      <a16:colId xmlns:a16="http://schemas.microsoft.com/office/drawing/2014/main" val="20002"/>
                    </a:ext>
                  </a:extLst>
                </a:gridCol>
              </a:tblGrid>
              <a:tr h="391885">
                <a:tc>
                  <a:txBody>
                    <a:bodyPr/>
                    <a:lstStyle/>
                    <a:p>
                      <a:pPr algn="ctr"/>
                      <a:r>
                        <a:rPr sz="1150" b="1">
                          <a:solidFill>
                            <a:srgbClr val="FFFFFF"/>
                          </a:solidFill>
                          <a:latin typeface="Calibri"/>
                        </a:rPr>
                        <a:t>Metric</a:t>
                      </a:r>
                    </a:p>
                  </a:txBody>
                  <a:tcPr>
                    <a:solidFill>
                      <a:srgbClr val="383A42"/>
                    </a:solidFill>
                  </a:tcPr>
                </a:tc>
                <a:tc>
                  <a:txBody>
                    <a:bodyPr/>
                    <a:lstStyle/>
                    <a:p>
                      <a:pPr algn="ctr"/>
                      <a:r>
                        <a:rPr sz="1150" b="1">
                          <a:solidFill>
                            <a:srgbClr val="FFFFFF"/>
                          </a:solidFill>
                          <a:latin typeface="Calibri"/>
                        </a:rPr>
                        <a:t>Value</a:t>
                      </a:r>
                    </a:p>
                  </a:txBody>
                  <a:tcPr>
                    <a:solidFill>
                      <a:srgbClr val="383A42"/>
                    </a:solidFill>
                  </a:tcPr>
                </a:tc>
                <a:tc>
                  <a:txBody>
                    <a:bodyPr/>
                    <a:lstStyle/>
                    <a:p>
                      <a:pPr algn="ctr"/>
                      <a:r>
                        <a:rPr sz="1150" b="1">
                          <a:solidFill>
                            <a:srgbClr val="FFFFFF"/>
                          </a:solidFill>
                          <a:latin typeface="Calibri"/>
                        </a:rPr>
                        <a:t>Improvement over Act 2</a:t>
                      </a:r>
                    </a:p>
                  </a:txBody>
                  <a:tcPr>
                    <a:solidFill>
                      <a:srgbClr val="383A42"/>
                    </a:solidFill>
                  </a:tcPr>
                </a:tc>
                <a:extLst>
                  <a:ext uri="{0D108BD9-81ED-4DB2-BD59-A6C34878D82A}">
                    <a16:rowId xmlns:a16="http://schemas.microsoft.com/office/drawing/2014/main" val="10000"/>
                  </a:ext>
                </a:extLst>
              </a:tr>
              <a:tr h="391885">
                <a:tc>
                  <a:txBody>
                    <a:bodyPr/>
                    <a:lstStyle/>
                    <a:p>
                      <a:pPr algn="l"/>
                      <a:r>
                        <a:rPr sz="1100" b="0">
                          <a:solidFill>
                            <a:srgbClr val="383A42"/>
                          </a:solidFill>
                          <a:latin typeface="Calibri"/>
                        </a:rPr>
                        <a:t>Multi-return-period event sets</a:t>
                      </a:r>
                    </a:p>
                  </a:txBody>
                  <a:tcPr>
                    <a:solidFill>
                      <a:srgbClr val="FFFFFF"/>
                    </a:solidFill>
                  </a:tcPr>
                </a:tc>
                <a:tc>
                  <a:txBody>
                    <a:bodyPr/>
                    <a:lstStyle/>
                    <a:p>
                      <a:pPr algn="l"/>
                      <a:r>
                        <a:rPr sz="1100" b="0">
                          <a:solidFill>
                            <a:srgbClr val="383A42"/>
                          </a:solidFill>
                          <a:latin typeface="Calibri"/>
                        </a:rPr>
                        <a:t>12 of 30 records (40%)</a:t>
                      </a:r>
                    </a:p>
                  </a:txBody>
                  <a:tcPr>
                    <a:solidFill>
                      <a:srgbClr val="FFFFFF"/>
                    </a:solidFill>
                  </a:tcPr>
                </a:tc>
                <a:tc>
                  <a:txBody>
                    <a:bodyPr/>
                    <a:lstStyle/>
                    <a:p>
                      <a:pPr algn="l"/>
                      <a:r>
                        <a:rPr sz="1100" b="0">
                          <a:solidFill>
                            <a:srgbClr val="383A42"/>
                          </a:solidFill>
                          <a:latin typeface="Calibri"/>
                        </a:rPr>
                        <a:t>Was: 0%</a:t>
                      </a:r>
                    </a:p>
                  </a:txBody>
                  <a:tcPr>
                    <a:solidFill>
                      <a:srgbClr val="FFFFFF"/>
                    </a:solidFill>
                  </a:tcPr>
                </a:tc>
                <a:extLst>
                  <a:ext uri="{0D108BD9-81ED-4DB2-BD59-A6C34878D82A}">
                    <a16:rowId xmlns:a16="http://schemas.microsoft.com/office/drawing/2014/main" val="10001"/>
                  </a:ext>
                </a:extLst>
              </a:tr>
              <a:tr h="391885">
                <a:tc>
                  <a:txBody>
                    <a:bodyPr/>
                    <a:lstStyle/>
                    <a:p>
                      <a:pPr algn="l"/>
                      <a:r>
                        <a:rPr sz="1100" b="0">
                          <a:solidFill>
                            <a:srgbClr val="383A42"/>
                          </a:solidFill>
                          <a:latin typeface="Calibri"/>
                        </a:rPr>
                        <a:t>Multiple exposure categories</a:t>
                      </a:r>
                    </a:p>
                  </a:txBody>
                  <a:tcPr>
                    <a:solidFill>
                      <a:srgbClr val="F0F0F2"/>
                    </a:solidFill>
                  </a:tcPr>
                </a:tc>
                <a:tc>
                  <a:txBody>
                    <a:bodyPr/>
                    <a:lstStyle/>
                    <a:p>
                      <a:pPr algn="l"/>
                      <a:r>
                        <a:rPr sz="1100" b="0">
                          <a:solidFill>
                            <a:srgbClr val="383A42"/>
                          </a:solidFill>
                          <a:latin typeface="Calibri"/>
                        </a:rPr>
                        <a:t>18 of 30 records (60%)</a:t>
                      </a:r>
                    </a:p>
                  </a:txBody>
                  <a:tcPr>
                    <a:solidFill>
                      <a:srgbClr val="F0F0F2"/>
                    </a:solidFill>
                  </a:tcPr>
                </a:tc>
                <a:tc>
                  <a:txBody>
                    <a:bodyPr/>
                    <a:lstStyle/>
                    <a:p>
                      <a:pPr algn="l"/>
                      <a:r>
                        <a:rPr sz="1100" b="0">
                          <a:solidFill>
                            <a:srgbClr val="383A42"/>
                          </a:solidFill>
                          <a:latin typeface="Calibri"/>
                        </a:rPr>
                        <a:t>Was: 0%</a:t>
                      </a:r>
                    </a:p>
                  </a:txBody>
                  <a:tcPr>
                    <a:solidFill>
                      <a:srgbClr val="F0F0F2"/>
                    </a:solidFill>
                  </a:tcPr>
                </a:tc>
                <a:extLst>
                  <a:ext uri="{0D108BD9-81ED-4DB2-BD59-A6C34878D82A}">
                    <a16:rowId xmlns:a16="http://schemas.microsoft.com/office/drawing/2014/main" val="10002"/>
                  </a:ext>
                </a:extLst>
              </a:tr>
              <a:tr h="391885">
                <a:tc>
                  <a:txBody>
                    <a:bodyPr/>
                    <a:lstStyle/>
                    <a:p>
                      <a:pPr algn="l"/>
                      <a:r>
                        <a:rPr sz="1100" b="0">
                          <a:solidFill>
                            <a:srgbClr val="383A42"/>
                          </a:solidFill>
                          <a:latin typeface="Calibri"/>
                        </a:rPr>
                        <a:t>Multiple loss entries</a:t>
                      </a:r>
                    </a:p>
                  </a:txBody>
                  <a:tcPr>
                    <a:solidFill>
                      <a:srgbClr val="FFFFFF"/>
                    </a:solidFill>
                  </a:tcPr>
                </a:tc>
                <a:tc>
                  <a:txBody>
                    <a:bodyPr/>
                    <a:lstStyle/>
                    <a:p>
                      <a:pPr algn="l"/>
                      <a:r>
                        <a:rPr sz="1100" b="0">
                          <a:solidFill>
                            <a:srgbClr val="383A42"/>
                          </a:solidFill>
                          <a:latin typeface="Calibri"/>
                        </a:rPr>
                        <a:t>24 of 30 records (80%)</a:t>
                      </a:r>
                    </a:p>
                  </a:txBody>
                  <a:tcPr>
                    <a:solidFill>
                      <a:srgbClr val="FFFFFF"/>
                    </a:solidFill>
                  </a:tcPr>
                </a:tc>
                <a:tc>
                  <a:txBody>
                    <a:bodyPr/>
                    <a:lstStyle/>
                    <a:p>
                      <a:pPr algn="l"/>
                      <a:r>
                        <a:rPr sz="1100" b="0">
                          <a:solidFill>
                            <a:srgbClr val="383A42"/>
                          </a:solidFill>
                          <a:latin typeface="Calibri"/>
                        </a:rPr>
                        <a:t>Was: 0%</a:t>
                      </a:r>
                    </a:p>
                  </a:txBody>
                  <a:tcPr>
                    <a:solidFill>
                      <a:srgbClr val="FFFFFF"/>
                    </a:solidFill>
                  </a:tcPr>
                </a:tc>
                <a:extLst>
                  <a:ext uri="{0D108BD9-81ED-4DB2-BD59-A6C34878D82A}">
                    <a16:rowId xmlns:a16="http://schemas.microsoft.com/office/drawing/2014/main" val="10003"/>
                  </a:ext>
                </a:extLst>
              </a:tr>
              <a:tr h="391885">
                <a:tc>
                  <a:txBody>
                    <a:bodyPr/>
                    <a:lstStyle/>
                    <a:p>
                      <a:pPr algn="l"/>
                      <a:r>
                        <a:rPr sz="1100" b="0">
                          <a:solidFill>
                            <a:srgbClr val="383A42"/>
                          </a:solidFill>
                          <a:latin typeface="Calibri"/>
                        </a:rPr>
                        <a:t>Provenance fields populated</a:t>
                      </a:r>
                    </a:p>
                  </a:txBody>
                  <a:tcPr>
                    <a:solidFill>
                      <a:srgbClr val="F0F0F2"/>
                    </a:solidFill>
                  </a:tcPr>
                </a:tc>
                <a:tc>
                  <a:txBody>
                    <a:bodyPr/>
                    <a:lstStyle/>
                    <a:p>
                      <a:pPr algn="l"/>
                      <a:r>
                        <a:rPr sz="1100" b="0">
                          <a:solidFill>
                            <a:srgbClr val="383A42"/>
                          </a:solidFill>
                          <a:latin typeface="Calibri"/>
                        </a:rPr>
                        <a:t>30 of 30 records</a:t>
                      </a:r>
                    </a:p>
                  </a:txBody>
                  <a:tcPr>
                    <a:solidFill>
                      <a:srgbClr val="F0F0F2"/>
                    </a:solidFill>
                  </a:tcPr>
                </a:tc>
                <a:tc>
                  <a:txBody>
                    <a:bodyPr/>
                    <a:lstStyle/>
                    <a:p>
                      <a:pPr algn="l"/>
                      <a:r>
                        <a:rPr sz="1100" b="0">
                          <a:solidFill>
                            <a:srgbClr val="383A42"/>
                          </a:solidFill>
                          <a:latin typeface="Calibri"/>
                        </a:rPr>
                        <a:t>Was: not supported (v0.3)</a:t>
                      </a:r>
                    </a:p>
                  </a:txBody>
                  <a:tcPr>
                    <a:solidFill>
                      <a:srgbClr val="F0F0F2"/>
                    </a:solidFill>
                  </a:tcPr>
                </a:tc>
                <a:extLst>
                  <a:ext uri="{0D108BD9-81ED-4DB2-BD59-A6C34878D82A}">
                    <a16:rowId xmlns:a16="http://schemas.microsoft.com/office/drawing/2014/main" val="10004"/>
                  </a:ext>
                </a:extLst>
              </a:tr>
              <a:tr h="391885">
                <a:tc>
                  <a:txBody>
                    <a:bodyPr/>
                    <a:lstStyle/>
                    <a:p>
                      <a:pPr algn="l"/>
                      <a:r>
                        <a:rPr sz="1100" b="0">
                          <a:solidFill>
                            <a:srgbClr val="383A42"/>
                          </a:solidFill>
                          <a:latin typeface="Calibri"/>
                        </a:rPr>
                        <a:t>LLM cost (100 datasets)</a:t>
                      </a:r>
                    </a:p>
                  </a:txBody>
                  <a:tcPr>
                    <a:solidFill>
                      <a:srgbClr val="FFFFFF"/>
                    </a:solidFill>
                  </a:tcPr>
                </a:tc>
                <a:tc>
                  <a:txBody>
                    <a:bodyPr/>
                    <a:lstStyle/>
                    <a:p>
                      <a:pPr algn="l"/>
                      <a:r>
                        <a:rPr sz="1100" b="0">
                          <a:solidFill>
                            <a:srgbClr val="383A42"/>
                          </a:solidFill>
                          <a:latin typeface="Calibri"/>
                        </a:rPr>
                        <a:t>USD 0.47</a:t>
                      </a:r>
                    </a:p>
                  </a:txBody>
                  <a:tcPr>
                    <a:solidFill>
                      <a:srgbClr val="FFFFFF"/>
                    </a:solidFill>
                  </a:tcPr>
                </a:tc>
                <a:tc>
                  <a:txBody>
                    <a:bodyPr/>
                    <a:lstStyle/>
                    <a:p>
                      <a:pPr algn="l"/>
                      <a:r>
                        <a:rPr sz="1100" b="0">
                          <a:solidFill>
                            <a:srgbClr val="383A42"/>
                          </a:solidFill>
                          <a:latin typeface="Calibri"/>
                        </a:rPr>
                        <a:t>Scaled: ~$123 for 26,246</a:t>
                      </a:r>
                    </a:p>
                  </a:txBody>
                  <a:tcPr>
                    <a:solidFill>
                      <a:srgbClr val="FFFFFF"/>
                    </a:solidFill>
                  </a:tcPr>
                </a:tc>
                <a:extLst>
                  <a:ext uri="{0D108BD9-81ED-4DB2-BD59-A6C34878D82A}">
                    <a16:rowId xmlns:a16="http://schemas.microsoft.com/office/drawing/2014/main" val="10005"/>
                  </a:ext>
                </a:extLst>
              </a:tr>
              <a:tr h="391890">
                <a:tc>
                  <a:txBody>
                    <a:bodyPr/>
                    <a:lstStyle/>
                    <a:p>
                      <a:pPr algn="l"/>
                      <a:r>
                        <a:rPr sz="1100" b="0">
                          <a:solidFill>
                            <a:srgbClr val="383A42"/>
                          </a:solidFill>
                          <a:latin typeface="Calibri"/>
                        </a:rPr>
                        <a:t>Processing time (100 datasets)</a:t>
                      </a:r>
                    </a:p>
                  </a:txBody>
                  <a:tcPr>
                    <a:solidFill>
                      <a:srgbClr val="F0F0F2"/>
                    </a:solidFill>
                  </a:tcPr>
                </a:tc>
                <a:tc>
                  <a:txBody>
                    <a:bodyPr/>
                    <a:lstStyle/>
                    <a:p>
                      <a:pPr algn="l"/>
                      <a:r>
                        <a:rPr sz="1100" b="0">
                          <a:solidFill>
                            <a:srgbClr val="383A42"/>
                          </a:solidFill>
                          <a:latin typeface="Calibri"/>
                        </a:rPr>
                        <a:t>6 min 36 sec</a:t>
                      </a:r>
                    </a:p>
                  </a:txBody>
                  <a:tcPr>
                    <a:solidFill>
                      <a:srgbClr val="F0F0F2"/>
                    </a:solidFill>
                  </a:tcPr>
                </a:tc>
                <a:tc>
                  <a:txBody>
                    <a:bodyPr/>
                    <a:lstStyle/>
                    <a:p>
                      <a:pPr algn="l"/>
                      <a:r>
                        <a:rPr sz="1100" b="0">
                          <a:solidFill>
                            <a:srgbClr val="383A42"/>
                          </a:solidFill>
                          <a:latin typeface="Calibri"/>
                        </a:rPr>
                        <a:t>Scaled: ~24 hours for 26,246</a:t>
                      </a:r>
                    </a:p>
                  </a:txBody>
                  <a:tcPr>
                    <a:solidFill>
                      <a:srgbClr val="F0F0F2"/>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a:solidFill>
                  <a:srgbClr val="0184BC"/>
                </a:solidFill>
                <a:latin typeface="Calibri"/>
              </a:rPr>
              <a:t>Act 3: Model Trade-Off - Haiku vs Sonnet</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For 26,246 datasets, model choice has a 3x cost and 3.5x time impact</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21 / 26</a:t>
            </a:r>
          </a:p>
        </p:txBody>
      </p:sp>
      <p:graphicFrame>
        <p:nvGraphicFramePr>
          <p:cNvPr id="7" name="Table 6"/>
          <p:cNvGraphicFramePr>
            <a:graphicFrameLocks noGrp="1"/>
          </p:cNvGraphicFramePr>
          <p:nvPr>
            <p:extLst>
              <p:ext uri="{D42A27DB-BD31-4B8C-83A1-F6EECF244321}">
                <p14:modId xmlns:p14="http://schemas.microsoft.com/office/powerpoint/2010/main" val="2546662133"/>
              </p:ext>
            </p:extLst>
          </p:nvPr>
        </p:nvGraphicFramePr>
        <p:xfrm>
          <a:off x="411480" y="1103638"/>
          <a:ext cx="11338560" cy="3566160"/>
        </p:xfrm>
        <a:graphic>
          <a:graphicData uri="http://schemas.openxmlformats.org/drawingml/2006/table">
            <a:tbl>
              <a:tblPr firstRow="1" bandRow="1">
                <a:tableStyleId>{5C22544A-7EE6-4342-B048-85BDC9FD1C3A}</a:tableStyleId>
              </a:tblPr>
              <a:tblGrid>
                <a:gridCol w="3779520">
                  <a:extLst>
                    <a:ext uri="{9D8B030D-6E8A-4147-A177-3AD203B41FA5}">
                      <a16:colId xmlns:a16="http://schemas.microsoft.com/office/drawing/2014/main" val="20000"/>
                    </a:ext>
                  </a:extLst>
                </a:gridCol>
                <a:gridCol w="3779520">
                  <a:extLst>
                    <a:ext uri="{9D8B030D-6E8A-4147-A177-3AD203B41FA5}">
                      <a16:colId xmlns:a16="http://schemas.microsoft.com/office/drawing/2014/main" val="20001"/>
                    </a:ext>
                  </a:extLst>
                </a:gridCol>
                <a:gridCol w="3779520">
                  <a:extLst>
                    <a:ext uri="{9D8B030D-6E8A-4147-A177-3AD203B41FA5}">
                      <a16:colId xmlns:a16="http://schemas.microsoft.com/office/drawing/2014/main" val="20002"/>
                    </a:ext>
                  </a:extLst>
                </a:gridCol>
              </a:tblGrid>
              <a:tr h="396240">
                <a:tc>
                  <a:txBody>
                    <a:bodyPr/>
                    <a:lstStyle/>
                    <a:p>
                      <a:pPr algn="ctr"/>
                      <a:r>
                        <a:rPr sz="1400" b="1" dirty="0">
                          <a:solidFill>
                            <a:srgbClr val="FFFFFF"/>
                          </a:solidFill>
                          <a:latin typeface="Calibri"/>
                        </a:rPr>
                        <a:t>Attribute</a:t>
                      </a:r>
                    </a:p>
                  </a:txBody>
                  <a:tcPr>
                    <a:solidFill>
                      <a:srgbClr val="383A42"/>
                    </a:solidFill>
                  </a:tcPr>
                </a:tc>
                <a:tc>
                  <a:txBody>
                    <a:bodyPr/>
                    <a:lstStyle/>
                    <a:p>
                      <a:pPr algn="ctr"/>
                      <a:r>
                        <a:rPr sz="1400" b="1" dirty="0">
                          <a:solidFill>
                            <a:srgbClr val="FFFFFF"/>
                          </a:solidFill>
                          <a:latin typeface="Calibri"/>
                        </a:rPr>
                        <a:t>Claude Haiku 4.5</a:t>
                      </a:r>
                    </a:p>
                  </a:txBody>
                  <a:tcPr>
                    <a:solidFill>
                      <a:srgbClr val="383A42"/>
                    </a:solidFill>
                  </a:tcPr>
                </a:tc>
                <a:tc>
                  <a:txBody>
                    <a:bodyPr/>
                    <a:lstStyle/>
                    <a:p>
                      <a:pPr algn="ctr"/>
                      <a:r>
                        <a:rPr sz="1400" b="1" dirty="0">
                          <a:solidFill>
                            <a:srgbClr val="FFFFFF"/>
                          </a:solidFill>
                          <a:latin typeface="Calibri"/>
                        </a:rPr>
                        <a:t>Claude Sonnet 4.6</a:t>
                      </a:r>
                    </a:p>
                  </a:txBody>
                  <a:tcPr>
                    <a:solidFill>
                      <a:srgbClr val="383A42"/>
                    </a:solidFill>
                  </a:tcPr>
                </a:tc>
                <a:extLst>
                  <a:ext uri="{0D108BD9-81ED-4DB2-BD59-A6C34878D82A}">
                    <a16:rowId xmlns:a16="http://schemas.microsoft.com/office/drawing/2014/main" val="10000"/>
                  </a:ext>
                </a:extLst>
              </a:tr>
              <a:tr h="396240">
                <a:tc>
                  <a:txBody>
                    <a:bodyPr/>
                    <a:lstStyle/>
                    <a:p>
                      <a:pPr algn="l"/>
                      <a:r>
                        <a:rPr sz="1150" b="0">
                          <a:solidFill>
                            <a:srgbClr val="383A42"/>
                          </a:solidFill>
                          <a:latin typeface="Calibri"/>
                        </a:rPr>
                        <a:t>Input cost</a:t>
                      </a:r>
                    </a:p>
                  </a:txBody>
                  <a:tcPr>
                    <a:solidFill>
                      <a:srgbClr val="FFFFFF"/>
                    </a:solidFill>
                  </a:tcPr>
                </a:tc>
                <a:tc>
                  <a:txBody>
                    <a:bodyPr/>
                    <a:lstStyle/>
                    <a:p>
                      <a:pPr algn="l"/>
                      <a:r>
                        <a:rPr sz="1150" b="0">
                          <a:solidFill>
                            <a:srgbClr val="383A42"/>
                          </a:solidFill>
                          <a:latin typeface="Calibri"/>
                        </a:rPr>
                        <a:t>$1.00 / MTok</a:t>
                      </a:r>
                    </a:p>
                  </a:txBody>
                  <a:tcPr>
                    <a:solidFill>
                      <a:srgbClr val="FFFFFF"/>
                    </a:solidFill>
                  </a:tcPr>
                </a:tc>
                <a:tc>
                  <a:txBody>
                    <a:bodyPr/>
                    <a:lstStyle/>
                    <a:p>
                      <a:pPr algn="l"/>
                      <a:r>
                        <a:rPr sz="1150" b="0">
                          <a:solidFill>
                            <a:srgbClr val="383A42"/>
                          </a:solidFill>
                          <a:latin typeface="Calibri"/>
                        </a:rPr>
                        <a:t>$3.00 / MTok</a:t>
                      </a:r>
                    </a:p>
                  </a:txBody>
                  <a:tcPr>
                    <a:solidFill>
                      <a:srgbClr val="FFFFFF"/>
                    </a:solidFill>
                  </a:tcPr>
                </a:tc>
                <a:extLst>
                  <a:ext uri="{0D108BD9-81ED-4DB2-BD59-A6C34878D82A}">
                    <a16:rowId xmlns:a16="http://schemas.microsoft.com/office/drawing/2014/main" val="10001"/>
                  </a:ext>
                </a:extLst>
              </a:tr>
              <a:tr h="396240">
                <a:tc>
                  <a:txBody>
                    <a:bodyPr/>
                    <a:lstStyle/>
                    <a:p>
                      <a:pPr algn="l"/>
                      <a:r>
                        <a:rPr sz="1150" b="0">
                          <a:solidFill>
                            <a:srgbClr val="383A42"/>
                          </a:solidFill>
                          <a:latin typeface="Calibri"/>
                        </a:rPr>
                        <a:t>Output cost</a:t>
                      </a:r>
                    </a:p>
                  </a:txBody>
                  <a:tcPr>
                    <a:solidFill>
                      <a:srgbClr val="F0F0F2"/>
                    </a:solidFill>
                  </a:tcPr>
                </a:tc>
                <a:tc>
                  <a:txBody>
                    <a:bodyPr/>
                    <a:lstStyle/>
                    <a:p>
                      <a:pPr algn="l"/>
                      <a:r>
                        <a:rPr sz="1150" b="0">
                          <a:solidFill>
                            <a:srgbClr val="383A42"/>
                          </a:solidFill>
                          <a:latin typeface="Calibri"/>
                        </a:rPr>
                        <a:t>$5.00 / MTok</a:t>
                      </a:r>
                    </a:p>
                  </a:txBody>
                  <a:tcPr>
                    <a:solidFill>
                      <a:srgbClr val="F0F0F2"/>
                    </a:solidFill>
                  </a:tcPr>
                </a:tc>
                <a:tc>
                  <a:txBody>
                    <a:bodyPr/>
                    <a:lstStyle/>
                    <a:p>
                      <a:pPr algn="l"/>
                      <a:r>
                        <a:rPr sz="1150" b="0">
                          <a:solidFill>
                            <a:srgbClr val="383A42"/>
                          </a:solidFill>
                          <a:latin typeface="Calibri"/>
                        </a:rPr>
                        <a:t>$15.00 / MTok</a:t>
                      </a:r>
                    </a:p>
                  </a:txBody>
                  <a:tcPr>
                    <a:solidFill>
                      <a:srgbClr val="F0F0F2"/>
                    </a:solidFill>
                  </a:tcPr>
                </a:tc>
                <a:extLst>
                  <a:ext uri="{0D108BD9-81ED-4DB2-BD59-A6C34878D82A}">
                    <a16:rowId xmlns:a16="http://schemas.microsoft.com/office/drawing/2014/main" val="10002"/>
                  </a:ext>
                </a:extLst>
              </a:tr>
              <a:tr h="396240">
                <a:tc>
                  <a:txBody>
                    <a:bodyPr/>
                    <a:lstStyle/>
                    <a:p>
                      <a:pPr algn="l"/>
                      <a:r>
                        <a:rPr sz="1150" b="0">
                          <a:solidFill>
                            <a:srgbClr val="383A42"/>
                          </a:solidFill>
                          <a:latin typeface="Calibri"/>
                        </a:rPr>
                        <a:t>Avg. call latency</a:t>
                      </a:r>
                    </a:p>
                  </a:txBody>
                  <a:tcPr>
                    <a:solidFill>
                      <a:srgbClr val="FFFFFF"/>
                    </a:solidFill>
                  </a:tcPr>
                </a:tc>
                <a:tc>
                  <a:txBody>
                    <a:bodyPr/>
                    <a:lstStyle/>
                    <a:p>
                      <a:pPr algn="l"/>
                      <a:r>
                        <a:rPr sz="1150" b="0">
                          <a:solidFill>
                            <a:srgbClr val="383A42"/>
                          </a:solidFill>
                          <a:latin typeface="Calibri"/>
                        </a:rPr>
                        <a:t>~4 seconds</a:t>
                      </a:r>
                    </a:p>
                  </a:txBody>
                  <a:tcPr>
                    <a:solidFill>
                      <a:srgbClr val="FFFFFF"/>
                    </a:solidFill>
                  </a:tcPr>
                </a:tc>
                <a:tc>
                  <a:txBody>
                    <a:bodyPr/>
                    <a:lstStyle/>
                    <a:p>
                      <a:pPr algn="l"/>
                      <a:r>
                        <a:rPr sz="1150" b="0">
                          <a:solidFill>
                            <a:srgbClr val="383A42"/>
                          </a:solidFill>
                          <a:latin typeface="Calibri"/>
                        </a:rPr>
                        <a:t>~11 seconds</a:t>
                      </a:r>
                    </a:p>
                  </a:txBody>
                  <a:tcPr>
                    <a:solidFill>
                      <a:srgbClr val="FFFFFF"/>
                    </a:solidFill>
                  </a:tcPr>
                </a:tc>
                <a:extLst>
                  <a:ext uri="{0D108BD9-81ED-4DB2-BD59-A6C34878D82A}">
                    <a16:rowId xmlns:a16="http://schemas.microsoft.com/office/drawing/2014/main" val="10003"/>
                  </a:ext>
                </a:extLst>
              </a:tr>
              <a:tr h="396240">
                <a:tc>
                  <a:txBody>
                    <a:bodyPr/>
                    <a:lstStyle/>
                    <a:p>
                      <a:pPr algn="l"/>
                      <a:r>
                        <a:rPr sz="1150" b="0">
                          <a:solidFill>
                            <a:srgbClr val="383A42"/>
                          </a:solidFill>
                          <a:latin typeface="Calibri"/>
                        </a:rPr>
                        <a:t>Est. full run cost</a:t>
                      </a:r>
                    </a:p>
                  </a:txBody>
                  <a:tcPr>
                    <a:solidFill>
                      <a:srgbClr val="F0F0F2"/>
                    </a:solidFill>
                  </a:tcPr>
                </a:tc>
                <a:tc>
                  <a:txBody>
                    <a:bodyPr/>
                    <a:lstStyle/>
                    <a:p>
                      <a:pPr algn="l"/>
                      <a:r>
                        <a:rPr sz="1150" b="0">
                          <a:solidFill>
                            <a:srgbClr val="383A42"/>
                          </a:solidFill>
                          <a:latin typeface="Calibri"/>
                        </a:rPr>
                        <a:t>~USD 123</a:t>
                      </a:r>
                    </a:p>
                  </a:txBody>
                  <a:tcPr>
                    <a:solidFill>
                      <a:srgbClr val="F0F0F2"/>
                    </a:solidFill>
                  </a:tcPr>
                </a:tc>
                <a:tc>
                  <a:txBody>
                    <a:bodyPr/>
                    <a:lstStyle/>
                    <a:p>
                      <a:pPr algn="l"/>
                      <a:r>
                        <a:rPr sz="1150" b="0">
                          <a:solidFill>
                            <a:srgbClr val="383A42"/>
                          </a:solidFill>
                          <a:latin typeface="Calibri"/>
                        </a:rPr>
                        <a:t>~USD 370</a:t>
                      </a:r>
                    </a:p>
                  </a:txBody>
                  <a:tcPr>
                    <a:solidFill>
                      <a:srgbClr val="F0F0F2"/>
                    </a:solidFill>
                  </a:tcPr>
                </a:tc>
                <a:extLst>
                  <a:ext uri="{0D108BD9-81ED-4DB2-BD59-A6C34878D82A}">
                    <a16:rowId xmlns:a16="http://schemas.microsoft.com/office/drawing/2014/main" val="10004"/>
                  </a:ext>
                </a:extLst>
              </a:tr>
              <a:tr h="396240">
                <a:tc>
                  <a:txBody>
                    <a:bodyPr/>
                    <a:lstStyle/>
                    <a:p>
                      <a:pPr algn="l"/>
                      <a:r>
                        <a:rPr sz="1150" b="0">
                          <a:solidFill>
                            <a:srgbClr val="383A42"/>
                          </a:solidFill>
                          <a:latin typeface="Calibri"/>
                        </a:rPr>
                        <a:t>Est. full run time</a:t>
                      </a:r>
                    </a:p>
                  </a:txBody>
                  <a:tcPr>
                    <a:solidFill>
                      <a:srgbClr val="FFFFFF"/>
                    </a:solidFill>
                  </a:tcPr>
                </a:tc>
                <a:tc>
                  <a:txBody>
                    <a:bodyPr/>
                    <a:lstStyle/>
                    <a:p>
                      <a:pPr algn="l"/>
                      <a:r>
                        <a:rPr sz="1150" b="0">
                          <a:solidFill>
                            <a:srgbClr val="383A42"/>
                          </a:solidFill>
                          <a:latin typeface="Calibri"/>
                        </a:rPr>
                        <a:t>~24 hours</a:t>
                      </a:r>
                    </a:p>
                  </a:txBody>
                  <a:tcPr>
                    <a:solidFill>
                      <a:srgbClr val="FFFFFF"/>
                    </a:solidFill>
                  </a:tcPr>
                </a:tc>
                <a:tc>
                  <a:txBody>
                    <a:bodyPr/>
                    <a:lstStyle/>
                    <a:p>
                      <a:pPr algn="l"/>
                      <a:r>
                        <a:rPr sz="1150" b="0">
                          <a:solidFill>
                            <a:srgbClr val="383A42"/>
                          </a:solidFill>
                          <a:latin typeface="Calibri"/>
                        </a:rPr>
                        <a:t>~80 hours (3.4 days)</a:t>
                      </a:r>
                    </a:p>
                  </a:txBody>
                  <a:tcPr>
                    <a:solidFill>
                      <a:srgbClr val="FFFFFF"/>
                    </a:solidFill>
                  </a:tcPr>
                </a:tc>
                <a:extLst>
                  <a:ext uri="{0D108BD9-81ED-4DB2-BD59-A6C34878D82A}">
                    <a16:rowId xmlns:a16="http://schemas.microsoft.com/office/drawing/2014/main" val="10005"/>
                  </a:ext>
                </a:extLst>
              </a:tr>
              <a:tr h="396240">
                <a:tc>
                  <a:txBody>
                    <a:bodyPr/>
                    <a:lstStyle/>
                    <a:p>
                      <a:pPr algn="l"/>
                      <a:r>
                        <a:rPr sz="1150" b="0">
                          <a:solidFill>
                            <a:srgbClr val="383A42"/>
                          </a:solidFill>
                          <a:latin typeface="Calibri"/>
                        </a:rPr>
                        <a:t>Classification accuracy</a:t>
                      </a:r>
                    </a:p>
                  </a:txBody>
                  <a:tcPr>
                    <a:solidFill>
                      <a:srgbClr val="F0F0F2"/>
                    </a:solidFill>
                  </a:tcPr>
                </a:tc>
                <a:tc>
                  <a:txBody>
                    <a:bodyPr/>
                    <a:lstStyle/>
                    <a:p>
                      <a:pPr algn="l"/>
                      <a:r>
                        <a:rPr sz="1150" b="0">
                          <a:solidFill>
                            <a:srgbClr val="383A42"/>
                          </a:solidFill>
                          <a:latin typeface="Calibri"/>
                        </a:rPr>
                        <a:t>Very high</a:t>
                      </a:r>
                    </a:p>
                  </a:txBody>
                  <a:tcPr>
                    <a:solidFill>
                      <a:srgbClr val="F0F0F2"/>
                    </a:solidFill>
                  </a:tcPr>
                </a:tc>
                <a:tc>
                  <a:txBody>
                    <a:bodyPr/>
                    <a:lstStyle/>
                    <a:p>
                      <a:pPr algn="l"/>
                      <a:r>
                        <a:rPr sz="1150" b="0">
                          <a:solidFill>
                            <a:srgbClr val="383A42"/>
                          </a:solidFill>
                          <a:latin typeface="Calibri"/>
                        </a:rPr>
                        <a:t>Marginally higher</a:t>
                      </a:r>
                    </a:p>
                  </a:txBody>
                  <a:tcPr>
                    <a:solidFill>
                      <a:srgbClr val="F0F0F2"/>
                    </a:solidFill>
                  </a:tcPr>
                </a:tc>
                <a:extLst>
                  <a:ext uri="{0D108BD9-81ED-4DB2-BD59-A6C34878D82A}">
                    <a16:rowId xmlns:a16="http://schemas.microsoft.com/office/drawing/2014/main" val="10006"/>
                  </a:ext>
                </a:extLst>
              </a:tr>
              <a:tr h="396240">
                <a:tc>
                  <a:txBody>
                    <a:bodyPr/>
                    <a:lstStyle/>
                    <a:p>
                      <a:pPr algn="l"/>
                      <a:r>
                        <a:rPr sz="1150" b="0">
                          <a:solidFill>
                            <a:srgbClr val="383A42"/>
                          </a:solidFill>
                          <a:latin typeface="Calibri"/>
                        </a:rPr>
                        <a:t>Extraction richness</a:t>
                      </a:r>
                    </a:p>
                  </a:txBody>
                  <a:tcPr>
                    <a:solidFill>
                      <a:srgbClr val="FFFFFF"/>
                    </a:solidFill>
                  </a:tcPr>
                </a:tc>
                <a:tc>
                  <a:txBody>
                    <a:bodyPr/>
                    <a:lstStyle/>
                    <a:p>
                      <a:pPr algn="l"/>
                      <a:r>
                        <a:rPr sz="1150" b="0">
                          <a:solidFill>
                            <a:srgbClr val="383A42"/>
                          </a:solidFill>
                          <a:latin typeface="Calibri"/>
                        </a:rPr>
                        <a:t>Rich</a:t>
                      </a:r>
                    </a:p>
                  </a:txBody>
                  <a:tcPr>
                    <a:solidFill>
                      <a:srgbClr val="FFFFFF"/>
                    </a:solidFill>
                  </a:tcPr>
                </a:tc>
                <a:tc>
                  <a:txBody>
                    <a:bodyPr/>
                    <a:lstStyle/>
                    <a:p>
                      <a:pPr algn="l"/>
                      <a:r>
                        <a:rPr sz="1150" b="0">
                          <a:solidFill>
                            <a:srgbClr val="383A42"/>
                          </a:solidFill>
                          <a:latin typeface="Calibri"/>
                        </a:rPr>
                        <a:t>Marginally richer</a:t>
                      </a:r>
                    </a:p>
                  </a:txBody>
                  <a:tcPr>
                    <a:solidFill>
                      <a:srgbClr val="FFFFFF"/>
                    </a:solidFill>
                  </a:tcPr>
                </a:tc>
                <a:extLst>
                  <a:ext uri="{0D108BD9-81ED-4DB2-BD59-A6C34878D82A}">
                    <a16:rowId xmlns:a16="http://schemas.microsoft.com/office/drawing/2014/main" val="10007"/>
                  </a:ext>
                </a:extLst>
              </a:tr>
              <a:tr h="396240">
                <a:tc>
                  <a:txBody>
                    <a:bodyPr/>
                    <a:lstStyle/>
                    <a:p>
                      <a:pPr algn="l"/>
                      <a:r>
                        <a:rPr sz="1150" b="0">
                          <a:solidFill>
                            <a:srgbClr val="383A42"/>
                          </a:solidFill>
                          <a:latin typeface="Calibri"/>
                        </a:rPr>
                        <a:t>Practical for bulk run?</a:t>
                      </a:r>
                    </a:p>
                  </a:txBody>
                  <a:tcPr>
                    <a:solidFill>
                      <a:srgbClr val="F0F0F2"/>
                    </a:solidFill>
                  </a:tcPr>
                </a:tc>
                <a:tc>
                  <a:txBody>
                    <a:bodyPr/>
                    <a:lstStyle/>
                    <a:p>
                      <a:pPr algn="l"/>
                      <a:r>
                        <a:rPr sz="1150" b="0">
                          <a:solidFill>
                            <a:srgbClr val="383A42"/>
                          </a:solidFill>
                          <a:latin typeface="Calibri"/>
                        </a:rPr>
                        <a:t>Yes</a:t>
                      </a:r>
                    </a:p>
                  </a:txBody>
                  <a:tcPr>
                    <a:solidFill>
                      <a:srgbClr val="F0F0F2"/>
                    </a:solidFill>
                  </a:tcPr>
                </a:tc>
                <a:tc>
                  <a:txBody>
                    <a:bodyPr/>
                    <a:lstStyle/>
                    <a:p>
                      <a:pPr algn="l"/>
                      <a:r>
                        <a:rPr sz="1150" b="0" dirty="0">
                          <a:solidFill>
                            <a:srgbClr val="383A42"/>
                          </a:solidFill>
                          <a:latin typeface="Calibri"/>
                        </a:rPr>
                        <a:t>No</a:t>
                      </a:r>
                    </a:p>
                  </a:txBody>
                  <a:tcPr>
                    <a:solidFill>
                      <a:srgbClr val="F0F0F2"/>
                    </a:solidFill>
                  </a:tcPr>
                </a:tc>
                <a:extLst>
                  <a:ext uri="{0D108BD9-81ED-4DB2-BD59-A6C34878D82A}">
                    <a16:rowId xmlns:a16="http://schemas.microsoft.com/office/drawing/2014/main" val="10008"/>
                  </a:ext>
                </a:extLst>
              </a:tr>
            </a:tbl>
          </a:graphicData>
        </a:graphic>
      </p:graphicFrame>
      <p:sp>
        <p:nvSpPr>
          <p:cNvPr id="8" name="Rectangle 7"/>
          <p:cNvSpPr/>
          <p:nvPr/>
        </p:nvSpPr>
        <p:spPr>
          <a:xfrm>
            <a:off x="411480" y="4816102"/>
            <a:ext cx="11338560" cy="658368"/>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11480" y="4816102"/>
            <a:ext cx="50800" cy="658368"/>
          </a:xfrm>
          <a:prstGeom prst="rect">
            <a:avLst/>
          </a:prstGeom>
          <a:solidFill>
            <a:srgbClr val="C18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89280" y="4892302"/>
            <a:ext cx="11084560" cy="505968"/>
          </a:xfrm>
          <a:prstGeom prst="rect">
            <a:avLst/>
          </a:prstGeom>
          <a:noFill/>
        </p:spPr>
        <p:txBody>
          <a:bodyPr wrap="square" lIns="0" tIns="0" rIns="0" bIns="0">
            <a:spAutoFit/>
          </a:bodyPr>
          <a:lstStyle/>
          <a:p>
            <a:r>
              <a:rPr sz="1200" b="1">
                <a:solidFill>
                  <a:srgbClr val="383A42"/>
                </a:solidFill>
                <a:latin typeface="Calibri"/>
              </a:rPr>
              <a:t>Finding: at Haiku pricing, the marginal quality gain from Sonnet does not justify 3x the cost and 3.5x the time for a full corpus run. Haiku is the correct choice.</a:t>
            </a:r>
          </a:p>
        </p:txBody>
      </p:sp>
      <p:sp>
        <p:nvSpPr>
          <p:cNvPr id="11" name="TextBox 10"/>
          <p:cNvSpPr txBox="1"/>
          <p:nvPr/>
        </p:nvSpPr>
        <p:spPr>
          <a:xfrm>
            <a:off x="411480" y="5584198"/>
            <a:ext cx="11338560" cy="384048"/>
          </a:xfrm>
          <a:prstGeom prst="rect">
            <a:avLst/>
          </a:prstGeom>
          <a:noFill/>
        </p:spPr>
        <p:txBody>
          <a:bodyPr wrap="square" lIns="0" tIns="0" rIns="0" bIns="0">
            <a:spAutoFit/>
          </a:bodyPr>
          <a:lstStyle/>
          <a:p>
            <a:pPr algn="l"/>
            <a:r>
              <a:rPr sz="1350" b="1">
                <a:solidFill>
                  <a:srgbClr val="0997B3"/>
                </a:solidFill>
                <a:latin typeface="Calibri"/>
              </a:rPr>
              <a:t>Solution: use Haiku for bulk + Sonnet only for borderline cases.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dirty="0">
                <a:solidFill>
                  <a:srgbClr val="0184BC"/>
                </a:solidFill>
                <a:latin typeface="Calibri"/>
              </a:rPr>
              <a:t>Act 3: Recommended Production Strategy</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Two runs - Haiku for everything, Sonnet for borderline cases only</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22 / 26</a:t>
            </a:r>
          </a:p>
        </p:txBody>
      </p:sp>
      <p:sp>
        <p:nvSpPr>
          <p:cNvPr id="7" name="Rectangle 6"/>
          <p:cNvSpPr/>
          <p:nvPr/>
        </p:nvSpPr>
        <p:spPr>
          <a:xfrm>
            <a:off x="411480" y="1103638"/>
            <a:ext cx="11338560" cy="5486400"/>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11480" y="1103638"/>
            <a:ext cx="38100" cy="5486400"/>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8480" y="1205238"/>
            <a:ext cx="11109960" cy="5283200"/>
          </a:xfrm>
          <a:prstGeom prst="rect">
            <a:avLst/>
          </a:prstGeom>
          <a:noFill/>
        </p:spPr>
        <p:txBody>
          <a:bodyPr wrap="none" lIns="0" tIns="0" rIns="0" bIns="0">
            <a:spAutoFit/>
          </a:bodyPr>
          <a:lstStyle/>
          <a:p>
            <a:pPr>
              <a:spcBef>
                <a:spcPts val="0"/>
              </a:spcBef>
              <a:spcAft>
                <a:spcPts val="0"/>
              </a:spcAft>
            </a:pPr>
            <a:r>
              <a:rPr sz="1000">
                <a:solidFill>
                  <a:srgbClr val="DCDFE4"/>
                </a:solidFill>
                <a:latin typeface="Consolas"/>
              </a:rPr>
              <a:t>Run 1: Haiku for all 26,246 datasets</a:t>
            </a:r>
          </a:p>
          <a:p>
            <a:pPr>
              <a:spcBef>
                <a:spcPts val="0"/>
              </a:spcBef>
              <a:spcAft>
                <a:spcPts val="0"/>
              </a:spcAft>
            </a:pPr>
            <a:r>
              <a:rPr sz="1000">
                <a:solidFill>
                  <a:srgbClr val="DCDFE4"/>
                </a:solidFill>
                <a:latin typeface="Consolas"/>
              </a:rPr>
              <a:t>──────────────────────────────────────────────────────────────────</a:t>
            </a:r>
          </a:p>
          <a:p>
            <a:pPr>
              <a:spcBef>
                <a:spcPts val="0"/>
              </a:spcBef>
              <a:spcAft>
                <a:spcPts val="0"/>
              </a:spcAft>
            </a:pPr>
            <a:r>
              <a:rPr sz="1000">
                <a:solidFill>
                  <a:srgbClr val="DCDFE4"/>
                </a:solidFill>
                <a:latin typeface="Consolas"/>
              </a:rPr>
              <a:t>  Model:  claude-haiku-4-5-20251001</a:t>
            </a:r>
          </a:p>
          <a:p>
            <a:pPr>
              <a:spcBef>
                <a:spcPts val="0"/>
              </a:spcBef>
              <a:spcAft>
                <a:spcPts val="0"/>
              </a:spcAft>
            </a:pPr>
            <a:r>
              <a:rPr sz="1000">
                <a:solidFill>
                  <a:srgbClr val="DCDFE4"/>
                </a:solidFill>
                <a:latin typeface="Consolas"/>
              </a:rPr>
              <a:t>  Cost:   ~USD 123   |   Time: ~24 hours</a:t>
            </a:r>
          </a:p>
          <a:p>
            <a:pPr>
              <a:spcBef>
                <a:spcPts val="0"/>
              </a:spcBef>
              <a:spcAft>
                <a:spcPts val="0"/>
              </a:spcAft>
            </a:pPr>
            <a:r>
              <a:rPr sz="1000">
                <a:solidFill>
                  <a:srgbClr val="DCDFE4"/>
                </a:solidFill>
                <a:latin typeface="Consolas"/>
              </a:rPr>
              <a:t>  Output:</a:t>
            </a:r>
          </a:p>
          <a:p>
            <a:pPr>
              <a:spcBef>
                <a:spcPts val="0"/>
              </a:spcBef>
              <a:spcAft>
                <a:spcPts val="0"/>
              </a:spcAft>
            </a:pPr>
            <a:r>
              <a:rPr sz="1000">
                <a:solidFill>
                  <a:srgbClr val="DCDFE4"/>
                </a:solidFill>
                <a:latin typeface="Consolas"/>
              </a:rPr>
              <a:t>    dist/high/     confidence &gt;= 0.70  --&gt;  ready for publication</a:t>
            </a:r>
          </a:p>
          <a:p>
            <a:pPr>
              <a:spcBef>
                <a:spcPts val="0"/>
              </a:spcBef>
              <a:spcAft>
                <a:spcPts val="0"/>
              </a:spcAft>
            </a:pPr>
            <a:r>
              <a:rPr sz="1000">
                <a:solidFill>
                  <a:srgbClr val="DCDFE4"/>
                </a:solidFill>
                <a:latin typeface="Consolas"/>
              </a:rPr>
              <a:t>    dist/medium/   confidence 0.40-0.70 --&gt; borderline cases</a:t>
            </a:r>
          </a:p>
          <a:p>
            <a:pPr>
              <a:spcBef>
                <a:spcPts val="0"/>
              </a:spcBef>
              <a:spcAft>
                <a:spcPts val="0"/>
              </a:spcAft>
            </a:pPr>
            <a:r>
              <a:rPr sz="1000">
                <a:solidFill>
                  <a:srgbClr val="DCDFE4"/>
                </a:solidFill>
                <a:latin typeface="Consolas"/>
              </a:rPr>
              <a:t>    not_rdls/      is_rdls: false       --&gt;  ~70% of HDX</a:t>
            </a:r>
          </a:p>
          <a:p>
            <a:pPr>
              <a:spcBef>
                <a:spcPts val="0"/>
              </a:spcBef>
              <a:spcAft>
                <a:spcPts val="0"/>
              </a:spcAft>
            </a:pPr>
            <a:endParaRPr sz="1000">
              <a:solidFill>
                <a:srgbClr val="DCDFE4"/>
              </a:solidFill>
              <a:latin typeface="Consolas"/>
            </a:endParaRPr>
          </a:p>
          <a:p>
            <a:pPr>
              <a:spcBef>
                <a:spcPts val="0"/>
              </a:spcBef>
              <a:spcAft>
                <a:spcPts val="0"/>
              </a:spcAft>
            </a:pPr>
            <a:r>
              <a:rPr sz="1000">
                <a:solidFill>
                  <a:srgbClr val="DCDFE4"/>
                </a:solidFill>
                <a:latin typeface="Consolas"/>
              </a:rPr>
              <a:t>Run 2: Sonnet for medium-confidence tier only</a:t>
            </a:r>
          </a:p>
          <a:p>
            <a:pPr>
              <a:spcBef>
                <a:spcPts val="0"/>
              </a:spcBef>
              <a:spcAft>
                <a:spcPts val="0"/>
              </a:spcAft>
            </a:pPr>
            <a:r>
              <a:rPr sz="1000">
                <a:solidFill>
                  <a:srgbClr val="DCDFE4"/>
                </a:solidFill>
                <a:latin typeface="Consolas"/>
              </a:rPr>
              <a:t>──────────────────────────────────────────────────────────────────</a:t>
            </a:r>
          </a:p>
          <a:p>
            <a:pPr>
              <a:spcBef>
                <a:spcPts val="0"/>
              </a:spcBef>
              <a:spcAft>
                <a:spcPts val="0"/>
              </a:spcAft>
            </a:pPr>
            <a:r>
              <a:rPr sz="1000">
                <a:solidFill>
                  <a:srgbClr val="DCDFE4"/>
                </a:solidFill>
                <a:latin typeface="Consolas"/>
              </a:rPr>
              <a:t>  Input:   dist/medium/  (~1,500-2,500 records, ~5-10% of RDLS total)</a:t>
            </a:r>
          </a:p>
          <a:p>
            <a:pPr>
              <a:spcBef>
                <a:spcPts val="0"/>
              </a:spcBef>
              <a:spcAft>
                <a:spcPts val="0"/>
              </a:spcAft>
            </a:pPr>
            <a:r>
              <a:rPr sz="1000">
                <a:solidFill>
                  <a:srgbClr val="DCDFE4"/>
                </a:solidFill>
                <a:latin typeface="Consolas"/>
              </a:rPr>
              <a:t>  Model:   claude-sonnet-4-6</a:t>
            </a:r>
          </a:p>
          <a:p>
            <a:pPr>
              <a:spcBef>
                <a:spcPts val="0"/>
              </a:spcBef>
              <a:spcAft>
                <a:spcPts val="0"/>
              </a:spcAft>
            </a:pPr>
            <a:r>
              <a:rPr sz="1000">
                <a:solidFill>
                  <a:srgbClr val="DCDFE4"/>
                </a:solidFill>
                <a:latin typeface="Consolas"/>
              </a:rPr>
              <a:t>  Cost:    ~USD 35-60   |   Time: ~8 hours</a:t>
            </a:r>
          </a:p>
          <a:p>
            <a:pPr>
              <a:spcBef>
                <a:spcPts val="0"/>
              </a:spcBef>
              <a:spcAft>
                <a:spcPts val="0"/>
              </a:spcAft>
            </a:pPr>
            <a:r>
              <a:rPr sz="1000">
                <a:solidFill>
                  <a:srgbClr val="DCDFE4"/>
                </a:solidFill>
                <a:latin typeface="Consolas"/>
              </a:rPr>
              <a:t>  Process: remove medium-tier IDs from progress.jsonl</a:t>
            </a:r>
          </a:p>
          <a:p>
            <a:pPr>
              <a:spcBef>
                <a:spcPts val="0"/>
              </a:spcBef>
              <a:spcAft>
                <a:spcPts val="0"/>
              </a:spcAft>
            </a:pPr>
            <a:r>
              <a:rPr sz="1000">
                <a:solidFill>
                  <a:srgbClr val="DCDFE4"/>
                </a:solidFill>
                <a:latin typeface="Consolas"/>
              </a:rPr>
              <a:t>           switch config to Sonnet, re-run pipeline</a:t>
            </a:r>
          </a:p>
          <a:p>
            <a:pPr>
              <a:spcBef>
                <a:spcPts val="0"/>
              </a:spcBef>
              <a:spcAft>
                <a:spcPts val="0"/>
              </a:spcAft>
            </a:pPr>
            <a:r>
              <a:rPr sz="1000">
                <a:solidFill>
                  <a:srgbClr val="DCDFE4"/>
                </a:solidFill>
                <a:latin typeface="Consolas"/>
              </a:rPr>
              <a:t>           Haiku high-tier records remain untouched</a:t>
            </a:r>
          </a:p>
          <a:p>
            <a:pPr>
              <a:spcBef>
                <a:spcPts val="0"/>
              </a:spcBef>
              <a:spcAft>
                <a:spcPts val="0"/>
              </a:spcAft>
            </a:pPr>
            <a:endParaRPr sz="1000">
              <a:solidFill>
                <a:srgbClr val="DCDFE4"/>
              </a:solidFill>
              <a:latin typeface="Consolas"/>
            </a:endParaRPr>
          </a:p>
          <a:p>
            <a:pPr>
              <a:spcBef>
                <a:spcPts val="0"/>
              </a:spcBef>
              <a:spcAft>
                <a:spcPts val="0"/>
              </a:spcAft>
            </a:pPr>
            <a:r>
              <a:rPr sz="1000">
                <a:solidFill>
                  <a:srgbClr val="DCDFE4"/>
                </a:solidFill>
                <a:latin typeface="Consolas"/>
              </a:rPr>
              <a:t>──────────────────────────────────────────────────────────────────</a:t>
            </a:r>
          </a:p>
          <a:p>
            <a:pPr>
              <a:spcBef>
                <a:spcPts val="0"/>
              </a:spcBef>
              <a:spcAft>
                <a:spcPts val="0"/>
              </a:spcAft>
            </a:pPr>
            <a:r>
              <a:rPr sz="1000">
                <a:solidFill>
                  <a:srgbClr val="DCDFE4"/>
                </a:solidFill>
                <a:latin typeface="Consolas"/>
              </a:rPr>
              <a:t>Total:   ~USD 160-180   |   ~32 hours across 2 runs</a:t>
            </a:r>
          </a:p>
          <a:p>
            <a:pPr>
              <a:spcBef>
                <a:spcPts val="0"/>
              </a:spcBef>
              <a:spcAft>
                <a:spcPts val="0"/>
              </a:spcAft>
            </a:pPr>
            <a:r>
              <a:rPr sz="1000">
                <a:solidFill>
                  <a:srgbClr val="DCDFE4"/>
                </a:solidFill>
                <a:latin typeface="Consolas"/>
              </a:rPr>
              <a:t>Result:  near-Sonnet quality on borderline cases at 45% of full-Sonnet cost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dirty="0">
                <a:solidFill>
                  <a:srgbClr val="0184BC"/>
                </a:solidFill>
                <a:latin typeface="Calibri"/>
              </a:rPr>
              <a:t>The Journey in Numbers</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Three generations - three approaches - one goal</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23 / 26</a:t>
            </a:r>
          </a:p>
        </p:txBody>
      </p:sp>
      <p:graphicFrame>
        <p:nvGraphicFramePr>
          <p:cNvPr id="7" name="Table 6"/>
          <p:cNvGraphicFramePr>
            <a:graphicFrameLocks noGrp="1"/>
          </p:cNvGraphicFramePr>
          <p:nvPr>
            <p:extLst>
              <p:ext uri="{D42A27DB-BD31-4B8C-83A1-F6EECF244321}">
                <p14:modId xmlns:p14="http://schemas.microsoft.com/office/powerpoint/2010/main" val="1496476508"/>
              </p:ext>
            </p:extLst>
          </p:nvPr>
        </p:nvGraphicFramePr>
        <p:xfrm>
          <a:off x="411480" y="1103638"/>
          <a:ext cx="11338560" cy="5376672"/>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tblGrid>
              <a:tr h="384048">
                <a:tc>
                  <a:txBody>
                    <a:bodyPr/>
                    <a:lstStyle/>
                    <a:p>
                      <a:pPr algn="ctr"/>
                      <a:r>
                        <a:rPr sz="1400" b="1" dirty="0">
                          <a:solidFill>
                            <a:srgbClr val="FFFFFF"/>
                          </a:solidFill>
                          <a:latin typeface="Calibri"/>
                        </a:rPr>
                        <a:t>Metric</a:t>
                      </a:r>
                    </a:p>
                  </a:txBody>
                  <a:tcPr>
                    <a:solidFill>
                      <a:srgbClr val="383A42"/>
                    </a:solidFill>
                  </a:tcPr>
                </a:tc>
                <a:tc>
                  <a:txBody>
                    <a:bodyPr/>
                    <a:lstStyle/>
                    <a:p>
                      <a:pPr algn="ctr"/>
                      <a:r>
                        <a:rPr sz="1400" b="1" dirty="0">
                          <a:solidFill>
                            <a:srgbClr val="FFFFFF"/>
                          </a:solidFill>
                          <a:latin typeface="Calibri"/>
                        </a:rPr>
                        <a:t>Act 1: Regex</a:t>
                      </a:r>
                    </a:p>
                  </a:txBody>
                  <a:tcPr>
                    <a:solidFill>
                      <a:srgbClr val="383A42"/>
                    </a:solidFill>
                  </a:tcPr>
                </a:tc>
                <a:tc>
                  <a:txBody>
                    <a:bodyPr/>
                    <a:lstStyle/>
                    <a:p>
                      <a:pPr algn="ctr"/>
                      <a:r>
                        <a:rPr sz="1400" b="1">
                          <a:solidFill>
                            <a:srgbClr val="FFFFFF"/>
                          </a:solidFill>
                          <a:latin typeface="Calibri"/>
                        </a:rPr>
                        <a:t>Act 2: Hybrid</a:t>
                      </a:r>
                    </a:p>
                  </a:txBody>
                  <a:tcPr>
                    <a:solidFill>
                      <a:srgbClr val="383A42"/>
                    </a:solidFill>
                  </a:tcPr>
                </a:tc>
                <a:tc>
                  <a:txBody>
                    <a:bodyPr/>
                    <a:lstStyle/>
                    <a:p>
                      <a:pPr algn="ctr"/>
                      <a:r>
                        <a:rPr sz="1400" b="1" dirty="0">
                          <a:solidFill>
                            <a:srgbClr val="FFFFFF"/>
                          </a:solidFill>
                          <a:latin typeface="Calibri"/>
                        </a:rPr>
                        <a:t>Act 3: LLM-First</a:t>
                      </a:r>
                    </a:p>
                  </a:txBody>
                  <a:tcPr>
                    <a:solidFill>
                      <a:srgbClr val="383A42"/>
                    </a:solidFill>
                  </a:tcPr>
                </a:tc>
                <a:extLst>
                  <a:ext uri="{0D108BD9-81ED-4DB2-BD59-A6C34878D82A}">
                    <a16:rowId xmlns:a16="http://schemas.microsoft.com/office/drawing/2014/main" val="10000"/>
                  </a:ext>
                </a:extLst>
              </a:tr>
              <a:tr h="384048">
                <a:tc>
                  <a:txBody>
                    <a:bodyPr/>
                    <a:lstStyle/>
                    <a:p>
                      <a:pPr algn="l"/>
                      <a:r>
                        <a:rPr sz="1050" b="0">
                          <a:solidFill>
                            <a:srgbClr val="383A42"/>
                          </a:solidFill>
                          <a:latin typeface="Calibri"/>
                        </a:rPr>
                        <a:t>Pipeline phases</a:t>
                      </a:r>
                    </a:p>
                  </a:txBody>
                  <a:tcPr>
                    <a:solidFill>
                      <a:srgbClr val="FFFFFF"/>
                    </a:solidFill>
                  </a:tcPr>
                </a:tc>
                <a:tc>
                  <a:txBody>
                    <a:bodyPr/>
                    <a:lstStyle/>
                    <a:p>
                      <a:pPr algn="l"/>
                      <a:r>
                        <a:rPr sz="1050" b="0" dirty="0">
                          <a:solidFill>
                            <a:srgbClr val="383A42"/>
                          </a:solidFill>
                          <a:latin typeface="Calibri"/>
                        </a:rPr>
                        <a:t>1</a:t>
                      </a:r>
                    </a:p>
                  </a:txBody>
                  <a:tcPr>
                    <a:solidFill>
                      <a:srgbClr val="FFFFFF"/>
                    </a:solidFill>
                  </a:tcPr>
                </a:tc>
                <a:tc>
                  <a:txBody>
                    <a:bodyPr/>
                    <a:lstStyle/>
                    <a:p>
                      <a:pPr algn="l"/>
                      <a:r>
                        <a:rPr sz="1050" b="0" dirty="0">
                          <a:solidFill>
                            <a:srgbClr val="383A42"/>
                          </a:solidFill>
                          <a:latin typeface="Calibri"/>
                        </a:rPr>
                        <a:t>4</a:t>
                      </a:r>
                    </a:p>
                  </a:txBody>
                  <a:tcPr>
                    <a:solidFill>
                      <a:srgbClr val="FFFFFF"/>
                    </a:solidFill>
                  </a:tcPr>
                </a:tc>
                <a:tc>
                  <a:txBody>
                    <a:bodyPr/>
                    <a:lstStyle/>
                    <a:p>
                      <a:pPr algn="l"/>
                      <a:r>
                        <a:rPr sz="1050" b="0">
                          <a:solidFill>
                            <a:srgbClr val="383A42"/>
                          </a:solidFill>
                          <a:latin typeface="Calibri"/>
                        </a:rPr>
                        <a:t>1</a:t>
                      </a:r>
                    </a:p>
                  </a:txBody>
                  <a:tcPr>
                    <a:solidFill>
                      <a:srgbClr val="FFFFFF"/>
                    </a:solidFill>
                  </a:tcPr>
                </a:tc>
                <a:extLst>
                  <a:ext uri="{0D108BD9-81ED-4DB2-BD59-A6C34878D82A}">
                    <a16:rowId xmlns:a16="http://schemas.microsoft.com/office/drawing/2014/main" val="10001"/>
                  </a:ext>
                </a:extLst>
              </a:tr>
              <a:tr h="384048">
                <a:tc>
                  <a:txBody>
                    <a:bodyPr/>
                    <a:lstStyle/>
                    <a:p>
                      <a:pPr algn="l"/>
                      <a:r>
                        <a:rPr sz="1050" b="0">
                          <a:solidFill>
                            <a:srgbClr val="383A42"/>
                          </a:solidFill>
                          <a:latin typeface="Calibri"/>
                        </a:rPr>
                        <a:t>Datasets processed</a:t>
                      </a:r>
                    </a:p>
                  </a:txBody>
                  <a:tcPr>
                    <a:solidFill>
                      <a:srgbClr val="F0F0F2"/>
                    </a:solidFill>
                  </a:tcPr>
                </a:tc>
                <a:tc>
                  <a:txBody>
                    <a:bodyPr/>
                    <a:lstStyle/>
                    <a:p>
                      <a:pPr algn="l"/>
                      <a:r>
                        <a:rPr sz="1050" b="0">
                          <a:solidFill>
                            <a:srgbClr val="383A42"/>
                          </a:solidFill>
                          <a:latin typeface="Calibri"/>
                        </a:rPr>
                        <a:t>12,594</a:t>
                      </a:r>
                    </a:p>
                  </a:txBody>
                  <a:tcPr>
                    <a:solidFill>
                      <a:srgbClr val="F0F0F2"/>
                    </a:solidFill>
                  </a:tcPr>
                </a:tc>
                <a:tc>
                  <a:txBody>
                    <a:bodyPr/>
                    <a:lstStyle/>
                    <a:p>
                      <a:pPr algn="l"/>
                      <a:r>
                        <a:rPr sz="1050" b="0">
                          <a:solidFill>
                            <a:srgbClr val="383A42"/>
                          </a:solidFill>
                          <a:latin typeface="Calibri"/>
                        </a:rPr>
                        <a:t>12,594</a:t>
                      </a:r>
                    </a:p>
                  </a:txBody>
                  <a:tcPr>
                    <a:solidFill>
                      <a:srgbClr val="F0F0F2"/>
                    </a:solidFill>
                  </a:tcPr>
                </a:tc>
                <a:tc>
                  <a:txBody>
                    <a:bodyPr/>
                    <a:lstStyle/>
                    <a:p>
                      <a:pPr algn="l"/>
                      <a:r>
                        <a:rPr sz="1050" b="0">
                          <a:solidFill>
                            <a:srgbClr val="383A42"/>
                          </a:solidFill>
                          <a:latin typeface="Calibri"/>
                        </a:rPr>
                        <a:t>26,246  (full HDX)</a:t>
                      </a:r>
                    </a:p>
                  </a:txBody>
                  <a:tcPr>
                    <a:solidFill>
                      <a:srgbClr val="F0F0F2"/>
                    </a:solidFill>
                  </a:tcPr>
                </a:tc>
                <a:extLst>
                  <a:ext uri="{0D108BD9-81ED-4DB2-BD59-A6C34878D82A}">
                    <a16:rowId xmlns:a16="http://schemas.microsoft.com/office/drawing/2014/main" val="10002"/>
                  </a:ext>
                </a:extLst>
              </a:tr>
              <a:tr h="384048">
                <a:tc>
                  <a:txBody>
                    <a:bodyPr/>
                    <a:lstStyle/>
                    <a:p>
                      <a:pPr algn="l"/>
                      <a:r>
                        <a:rPr sz="1050" b="0">
                          <a:solidFill>
                            <a:srgbClr val="383A42"/>
                          </a:solidFill>
                          <a:latin typeface="Calibri"/>
                        </a:rPr>
                        <a:t>LLM coverage</a:t>
                      </a:r>
                    </a:p>
                  </a:txBody>
                  <a:tcPr>
                    <a:solidFill>
                      <a:srgbClr val="FFFFFF"/>
                    </a:solidFill>
                  </a:tcPr>
                </a:tc>
                <a:tc>
                  <a:txBody>
                    <a:bodyPr/>
                    <a:lstStyle/>
                    <a:p>
                      <a:pPr algn="l"/>
                      <a:r>
                        <a:rPr sz="1050" b="0">
                          <a:solidFill>
                            <a:srgbClr val="383A42"/>
                          </a:solidFill>
                          <a:latin typeface="Calibri"/>
                        </a:rPr>
                        <a:t>0%</a:t>
                      </a:r>
                    </a:p>
                  </a:txBody>
                  <a:tcPr>
                    <a:solidFill>
                      <a:srgbClr val="FFFFFF"/>
                    </a:solidFill>
                  </a:tcPr>
                </a:tc>
                <a:tc>
                  <a:txBody>
                    <a:bodyPr/>
                    <a:lstStyle/>
                    <a:p>
                      <a:pPr algn="l"/>
                      <a:r>
                        <a:rPr sz="1050" b="0">
                          <a:solidFill>
                            <a:srgbClr val="383A42"/>
                          </a:solidFill>
                          <a:latin typeface="Calibri"/>
                        </a:rPr>
                        <a:t>68%</a:t>
                      </a:r>
                    </a:p>
                  </a:txBody>
                  <a:tcPr>
                    <a:solidFill>
                      <a:srgbClr val="FFFFFF"/>
                    </a:solidFill>
                  </a:tcPr>
                </a:tc>
                <a:tc>
                  <a:txBody>
                    <a:bodyPr/>
                    <a:lstStyle/>
                    <a:p>
                      <a:pPr algn="l"/>
                      <a:r>
                        <a:rPr sz="1050" b="0">
                          <a:solidFill>
                            <a:srgbClr val="383A42"/>
                          </a:solidFill>
                          <a:latin typeface="Calibri"/>
                        </a:rPr>
                        <a:t>100%</a:t>
                      </a:r>
                    </a:p>
                  </a:txBody>
                  <a:tcPr>
                    <a:solidFill>
                      <a:srgbClr val="FFFFFF"/>
                    </a:solidFill>
                  </a:tcPr>
                </a:tc>
                <a:extLst>
                  <a:ext uri="{0D108BD9-81ED-4DB2-BD59-A6C34878D82A}">
                    <a16:rowId xmlns:a16="http://schemas.microsoft.com/office/drawing/2014/main" val="10003"/>
                  </a:ext>
                </a:extLst>
              </a:tr>
              <a:tr h="384048">
                <a:tc>
                  <a:txBody>
                    <a:bodyPr/>
                    <a:lstStyle/>
                    <a:p>
                      <a:pPr algn="l"/>
                      <a:r>
                        <a:rPr sz="1050" b="0">
                          <a:solidFill>
                            <a:srgbClr val="383A42"/>
                          </a:solidFill>
                          <a:latin typeface="Calibri"/>
                        </a:rPr>
                        <a:t>Phantom components</a:t>
                      </a:r>
                    </a:p>
                  </a:txBody>
                  <a:tcPr>
                    <a:solidFill>
                      <a:srgbClr val="F0F0F2"/>
                    </a:solidFill>
                  </a:tcPr>
                </a:tc>
                <a:tc>
                  <a:txBody>
                    <a:bodyPr/>
                    <a:lstStyle/>
                    <a:p>
                      <a:pPr algn="l"/>
                      <a:r>
                        <a:rPr sz="1050" b="0">
                          <a:solidFill>
                            <a:srgbClr val="383A42"/>
                          </a:solidFill>
                          <a:latin typeface="Calibri"/>
                        </a:rPr>
                        <a:t>2,313</a:t>
                      </a:r>
                    </a:p>
                  </a:txBody>
                  <a:tcPr>
                    <a:solidFill>
                      <a:srgbClr val="F0F0F2"/>
                    </a:solidFill>
                  </a:tcPr>
                </a:tc>
                <a:tc>
                  <a:txBody>
                    <a:bodyPr/>
                    <a:lstStyle/>
                    <a:p>
                      <a:pPr algn="l"/>
                      <a:r>
                        <a:rPr sz="1050" b="0">
                          <a:solidFill>
                            <a:srgbClr val="383A42"/>
                          </a:solidFill>
                          <a:latin typeface="Calibri"/>
                        </a:rPr>
                        <a:t>0</a:t>
                      </a:r>
                    </a:p>
                  </a:txBody>
                  <a:tcPr>
                    <a:solidFill>
                      <a:srgbClr val="F0F0F2"/>
                    </a:solidFill>
                  </a:tcPr>
                </a:tc>
                <a:tc>
                  <a:txBody>
                    <a:bodyPr/>
                    <a:lstStyle/>
                    <a:p>
                      <a:pPr algn="l"/>
                      <a:r>
                        <a:rPr sz="1050" b="0">
                          <a:solidFill>
                            <a:srgbClr val="383A42"/>
                          </a:solidFill>
                          <a:latin typeface="Calibri"/>
                        </a:rPr>
                        <a:t>0</a:t>
                      </a:r>
                    </a:p>
                  </a:txBody>
                  <a:tcPr>
                    <a:solidFill>
                      <a:srgbClr val="F0F0F2"/>
                    </a:solidFill>
                  </a:tcPr>
                </a:tc>
                <a:extLst>
                  <a:ext uri="{0D108BD9-81ED-4DB2-BD59-A6C34878D82A}">
                    <a16:rowId xmlns:a16="http://schemas.microsoft.com/office/drawing/2014/main" val="10004"/>
                  </a:ext>
                </a:extLst>
              </a:tr>
              <a:tr h="384048">
                <a:tc>
                  <a:txBody>
                    <a:bodyPr/>
                    <a:lstStyle/>
                    <a:p>
                      <a:pPr algn="l"/>
                      <a:r>
                        <a:rPr sz="1050" b="0">
                          <a:solidFill>
                            <a:srgbClr val="383A42"/>
                          </a:solidFill>
                          <a:latin typeface="Calibri"/>
                        </a:rPr>
                        <a:t>Classification accuracy</a:t>
                      </a:r>
                    </a:p>
                  </a:txBody>
                  <a:tcPr>
                    <a:solidFill>
                      <a:srgbClr val="FFFFFF"/>
                    </a:solidFill>
                  </a:tcPr>
                </a:tc>
                <a:tc>
                  <a:txBody>
                    <a:bodyPr/>
                    <a:lstStyle/>
                    <a:p>
                      <a:pPr algn="l"/>
                      <a:r>
                        <a:rPr sz="1050" b="0">
                          <a:solidFill>
                            <a:srgbClr val="383A42"/>
                          </a:solidFill>
                          <a:latin typeface="Calibri"/>
                        </a:rPr>
                        <a:t>~82%</a:t>
                      </a:r>
                    </a:p>
                  </a:txBody>
                  <a:tcPr>
                    <a:solidFill>
                      <a:srgbClr val="FFFFFF"/>
                    </a:solidFill>
                  </a:tcPr>
                </a:tc>
                <a:tc>
                  <a:txBody>
                    <a:bodyPr/>
                    <a:lstStyle/>
                    <a:p>
                      <a:pPr algn="l"/>
                      <a:r>
                        <a:rPr sz="1050" b="0">
                          <a:solidFill>
                            <a:srgbClr val="383A42"/>
                          </a:solidFill>
                          <a:latin typeface="Calibri"/>
                        </a:rPr>
                        <a:t>~100%</a:t>
                      </a:r>
                    </a:p>
                  </a:txBody>
                  <a:tcPr>
                    <a:solidFill>
                      <a:srgbClr val="FFFFFF"/>
                    </a:solidFill>
                  </a:tcPr>
                </a:tc>
                <a:tc>
                  <a:txBody>
                    <a:bodyPr/>
                    <a:lstStyle/>
                    <a:p>
                      <a:pPr algn="l"/>
                      <a:r>
                        <a:rPr sz="1050" b="0">
                          <a:solidFill>
                            <a:srgbClr val="383A42"/>
                          </a:solidFill>
                          <a:latin typeface="Calibri"/>
                        </a:rPr>
                        <a:t>~100%</a:t>
                      </a:r>
                    </a:p>
                  </a:txBody>
                  <a:tcPr>
                    <a:solidFill>
                      <a:srgbClr val="FFFFFF"/>
                    </a:solidFill>
                  </a:tcPr>
                </a:tc>
                <a:extLst>
                  <a:ext uri="{0D108BD9-81ED-4DB2-BD59-A6C34878D82A}">
                    <a16:rowId xmlns:a16="http://schemas.microsoft.com/office/drawing/2014/main" val="10005"/>
                  </a:ext>
                </a:extLst>
              </a:tr>
              <a:tr h="384048">
                <a:tc>
                  <a:txBody>
                    <a:bodyPr/>
                    <a:lstStyle/>
                    <a:p>
                      <a:pPr algn="l"/>
                      <a:r>
                        <a:rPr sz="1050" b="0">
                          <a:solidFill>
                            <a:srgbClr val="383A42"/>
                          </a:solidFill>
                          <a:latin typeface="Calibri"/>
                        </a:rPr>
                        <a:t>Return periods captured</a:t>
                      </a:r>
                    </a:p>
                  </a:txBody>
                  <a:tcPr>
                    <a:solidFill>
                      <a:srgbClr val="F0F0F2"/>
                    </a:solidFill>
                  </a:tcPr>
                </a:tc>
                <a:tc>
                  <a:txBody>
                    <a:bodyPr/>
                    <a:lstStyle/>
                    <a:p>
                      <a:pPr algn="l"/>
                      <a:r>
                        <a:rPr sz="1050" b="0">
                          <a:solidFill>
                            <a:srgbClr val="383A42"/>
                          </a:solidFill>
                          <a:latin typeface="Calibri"/>
                        </a:rPr>
                        <a:t>Never</a:t>
                      </a:r>
                    </a:p>
                  </a:txBody>
                  <a:tcPr>
                    <a:solidFill>
                      <a:srgbClr val="F0F0F2"/>
                    </a:solidFill>
                  </a:tcPr>
                </a:tc>
                <a:tc>
                  <a:txBody>
                    <a:bodyPr/>
                    <a:lstStyle/>
                    <a:p>
                      <a:pPr algn="l"/>
                      <a:r>
                        <a:rPr sz="1050" b="0">
                          <a:solidFill>
                            <a:srgbClr val="383A42"/>
                          </a:solidFill>
                          <a:latin typeface="Calibri"/>
                        </a:rPr>
                        <a:t>Never</a:t>
                      </a:r>
                    </a:p>
                  </a:txBody>
                  <a:tcPr>
                    <a:solidFill>
                      <a:srgbClr val="F0F0F2"/>
                    </a:solidFill>
                  </a:tcPr>
                </a:tc>
                <a:tc>
                  <a:txBody>
                    <a:bodyPr/>
                    <a:lstStyle/>
                    <a:p>
                      <a:pPr algn="l"/>
                      <a:r>
                        <a:rPr sz="1050" b="0">
                          <a:solidFill>
                            <a:srgbClr val="383A42"/>
                          </a:solidFill>
                          <a:latin typeface="Calibri"/>
                        </a:rPr>
                        <a:t>Yes  (when stated)</a:t>
                      </a:r>
                    </a:p>
                  </a:txBody>
                  <a:tcPr>
                    <a:solidFill>
                      <a:srgbClr val="F0F0F2"/>
                    </a:solidFill>
                  </a:tcPr>
                </a:tc>
                <a:extLst>
                  <a:ext uri="{0D108BD9-81ED-4DB2-BD59-A6C34878D82A}">
                    <a16:rowId xmlns:a16="http://schemas.microsoft.com/office/drawing/2014/main" val="10006"/>
                  </a:ext>
                </a:extLst>
              </a:tr>
              <a:tr h="384048">
                <a:tc>
                  <a:txBody>
                    <a:bodyPr/>
                    <a:lstStyle/>
                    <a:p>
                      <a:pPr algn="l"/>
                      <a:r>
                        <a:rPr sz="1050" b="0">
                          <a:solidFill>
                            <a:srgbClr val="383A42"/>
                          </a:solidFill>
                          <a:latin typeface="Calibri"/>
                        </a:rPr>
                        <a:t>Multi-exposure records</a:t>
                      </a:r>
                    </a:p>
                  </a:txBody>
                  <a:tcPr>
                    <a:solidFill>
                      <a:srgbClr val="FFFFFF"/>
                    </a:solidFill>
                  </a:tcPr>
                </a:tc>
                <a:tc>
                  <a:txBody>
                    <a:bodyPr/>
                    <a:lstStyle/>
                    <a:p>
                      <a:pPr algn="l"/>
                      <a:r>
                        <a:rPr sz="1050" b="0">
                          <a:solidFill>
                            <a:srgbClr val="383A42"/>
                          </a:solidFill>
                          <a:latin typeface="Calibri"/>
                        </a:rPr>
                        <a:t>No</a:t>
                      </a:r>
                    </a:p>
                  </a:txBody>
                  <a:tcPr>
                    <a:solidFill>
                      <a:srgbClr val="FFFFFF"/>
                    </a:solidFill>
                  </a:tcPr>
                </a:tc>
                <a:tc>
                  <a:txBody>
                    <a:bodyPr/>
                    <a:lstStyle/>
                    <a:p>
                      <a:pPr algn="l"/>
                      <a:r>
                        <a:rPr sz="1050" b="0">
                          <a:solidFill>
                            <a:srgbClr val="383A42"/>
                          </a:solidFill>
                          <a:latin typeface="Calibri"/>
                        </a:rPr>
                        <a:t>No</a:t>
                      </a:r>
                    </a:p>
                  </a:txBody>
                  <a:tcPr>
                    <a:solidFill>
                      <a:srgbClr val="FFFFFF"/>
                    </a:solidFill>
                  </a:tcPr>
                </a:tc>
                <a:tc>
                  <a:txBody>
                    <a:bodyPr/>
                    <a:lstStyle/>
                    <a:p>
                      <a:pPr algn="l"/>
                      <a:r>
                        <a:rPr sz="1050" b="0">
                          <a:solidFill>
                            <a:srgbClr val="383A42"/>
                          </a:solidFill>
                          <a:latin typeface="Calibri"/>
                        </a:rPr>
                        <a:t>Yes  (60%+ of hazard)</a:t>
                      </a:r>
                    </a:p>
                  </a:txBody>
                  <a:tcPr>
                    <a:solidFill>
                      <a:srgbClr val="FFFFFF"/>
                    </a:solidFill>
                  </a:tcPr>
                </a:tc>
                <a:extLst>
                  <a:ext uri="{0D108BD9-81ED-4DB2-BD59-A6C34878D82A}">
                    <a16:rowId xmlns:a16="http://schemas.microsoft.com/office/drawing/2014/main" val="10007"/>
                  </a:ext>
                </a:extLst>
              </a:tr>
              <a:tr h="384048">
                <a:tc>
                  <a:txBody>
                    <a:bodyPr/>
                    <a:lstStyle/>
                    <a:p>
                      <a:pPr algn="l"/>
                      <a:r>
                        <a:rPr sz="1050" b="0">
                          <a:solidFill>
                            <a:srgbClr val="383A42"/>
                          </a:solidFill>
                          <a:latin typeface="Calibri"/>
                        </a:rPr>
                        <a:t>Multi-loss entries</a:t>
                      </a:r>
                    </a:p>
                  </a:txBody>
                  <a:tcPr>
                    <a:solidFill>
                      <a:srgbClr val="F0F0F2"/>
                    </a:solidFill>
                  </a:tcPr>
                </a:tc>
                <a:tc>
                  <a:txBody>
                    <a:bodyPr/>
                    <a:lstStyle/>
                    <a:p>
                      <a:pPr algn="l"/>
                      <a:r>
                        <a:rPr sz="1050" b="0">
                          <a:solidFill>
                            <a:srgbClr val="383A42"/>
                          </a:solidFill>
                          <a:latin typeface="Calibri"/>
                        </a:rPr>
                        <a:t>No</a:t>
                      </a:r>
                    </a:p>
                  </a:txBody>
                  <a:tcPr>
                    <a:solidFill>
                      <a:srgbClr val="F0F0F2"/>
                    </a:solidFill>
                  </a:tcPr>
                </a:tc>
                <a:tc>
                  <a:txBody>
                    <a:bodyPr/>
                    <a:lstStyle/>
                    <a:p>
                      <a:pPr algn="l"/>
                      <a:r>
                        <a:rPr sz="1050" b="0">
                          <a:solidFill>
                            <a:srgbClr val="383A42"/>
                          </a:solidFill>
                          <a:latin typeface="Calibri"/>
                        </a:rPr>
                        <a:t>No</a:t>
                      </a:r>
                    </a:p>
                  </a:txBody>
                  <a:tcPr>
                    <a:solidFill>
                      <a:srgbClr val="F0F0F2"/>
                    </a:solidFill>
                  </a:tcPr>
                </a:tc>
                <a:tc>
                  <a:txBody>
                    <a:bodyPr/>
                    <a:lstStyle/>
                    <a:p>
                      <a:pPr algn="l"/>
                      <a:r>
                        <a:rPr sz="1050" b="0">
                          <a:solidFill>
                            <a:srgbClr val="383A42"/>
                          </a:solidFill>
                          <a:latin typeface="Calibri"/>
                        </a:rPr>
                        <a:t>Yes  (80%+ of loss)</a:t>
                      </a:r>
                    </a:p>
                  </a:txBody>
                  <a:tcPr>
                    <a:solidFill>
                      <a:srgbClr val="F0F0F2"/>
                    </a:solidFill>
                  </a:tcPr>
                </a:tc>
                <a:extLst>
                  <a:ext uri="{0D108BD9-81ED-4DB2-BD59-A6C34878D82A}">
                    <a16:rowId xmlns:a16="http://schemas.microsoft.com/office/drawing/2014/main" val="10008"/>
                  </a:ext>
                </a:extLst>
              </a:tr>
              <a:tr h="384048">
                <a:tc>
                  <a:txBody>
                    <a:bodyPr/>
                    <a:lstStyle/>
                    <a:p>
                      <a:pPr algn="l"/>
                      <a:r>
                        <a:rPr sz="1050" b="0">
                          <a:solidFill>
                            <a:srgbClr val="383A42"/>
                          </a:solidFill>
                          <a:latin typeface="Calibri"/>
                        </a:rPr>
                        <a:t>v1.0 provenance fields</a:t>
                      </a:r>
                    </a:p>
                  </a:txBody>
                  <a:tcPr>
                    <a:solidFill>
                      <a:srgbClr val="FFFFFF"/>
                    </a:solidFill>
                  </a:tcPr>
                </a:tc>
                <a:tc>
                  <a:txBody>
                    <a:bodyPr/>
                    <a:lstStyle/>
                    <a:p>
                      <a:pPr algn="l"/>
                      <a:r>
                        <a:rPr sz="1050" b="0">
                          <a:solidFill>
                            <a:srgbClr val="383A42"/>
                          </a:solidFill>
                          <a:latin typeface="Calibri"/>
                        </a:rPr>
                        <a:t>No</a:t>
                      </a:r>
                    </a:p>
                  </a:txBody>
                  <a:tcPr>
                    <a:solidFill>
                      <a:srgbClr val="FFFFFF"/>
                    </a:solidFill>
                  </a:tcPr>
                </a:tc>
                <a:tc>
                  <a:txBody>
                    <a:bodyPr/>
                    <a:lstStyle/>
                    <a:p>
                      <a:pPr algn="l"/>
                      <a:r>
                        <a:rPr sz="1050" b="0">
                          <a:solidFill>
                            <a:srgbClr val="383A42"/>
                          </a:solidFill>
                          <a:latin typeface="Calibri"/>
                        </a:rPr>
                        <a:t>No</a:t>
                      </a:r>
                    </a:p>
                  </a:txBody>
                  <a:tcPr>
                    <a:solidFill>
                      <a:srgbClr val="FFFFFF"/>
                    </a:solidFill>
                  </a:tcPr>
                </a:tc>
                <a:tc>
                  <a:txBody>
                    <a:bodyPr/>
                    <a:lstStyle/>
                    <a:p>
                      <a:pPr algn="l"/>
                      <a:r>
                        <a:rPr sz="1050" b="0">
                          <a:solidFill>
                            <a:srgbClr val="383A42"/>
                          </a:solidFill>
                          <a:latin typeface="Calibri"/>
                        </a:rPr>
                        <a:t>Yes</a:t>
                      </a:r>
                    </a:p>
                  </a:txBody>
                  <a:tcPr>
                    <a:solidFill>
                      <a:srgbClr val="FFFFFF"/>
                    </a:solidFill>
                  </a:tcPr>
                </a:tc>
                <a:extLst>
                  <a:ext uri="{0D108BD9-81ED-4DB2-BD59-A6C34878D82A}">
                    <a16:rowId xmlns:a16="http://schemas.microsoft.com/office/drawing/2014/main" val="10009"/>
                  </a:ext>
                </a:extLst>
              </a:tr>
              <a:tr h="384048">
                <a:tc>
                  <a:txBody>
                    <a:bodyPr/>
                    <a:lstStyle/>
                    <a:p>
                      <a:pPr algn="l"/>
                      <a:r>
                        <a:rPr sz="1050" b="0">
                          <a:solidFill>
                            <a:srgbClr val="383A42"/>
                          </a:solidFill>
                          <a:latin typeface="Calibri"/>
                        </a:rPr>
                        <a:t>Invalid records  (test)</a:t>
                      </a:r>
                    </a:p>
                  </a:txBody>
                  <a:tcPr>
                    <a:solidFill>
                      <a:srgbClr val="F0F0F2"/>
                    </a:solidFill>
                  </a:tcPr>
                </a:tc>
                <a:tc>
                  <a:txBody>
                    <a:bodyPr/>
                    <a:lstStyle/>
                    <a:p>
                      <a:pPr algn="l"/>
                      <a:r>
                        <a:rPr sz="1050" b="0">
                          <a:solidFill>
                            <a:srgbClr val="383A42"/>
                          </a:solidFill>
                          <a:latin typeface="Calibri"/>
                        </a:rPr>
                        <a:t>N/A</a:t>
                      </a:r>
                    </a:p>
                  </a:txBody>
                  <a:tcPr>
                    <a:solidFill>
                      <a:srgbClr val="F0F0F2"/>
                    </a:solidFill>
                  </a:tcPr>
                </a:tc>
                <a:tc>
                  <a:txBody>
                    <a:bodyPr/>
                    <a:lstStyle/>
                    <a:p>
                      <a:pPr algn="l"/>
                      <a:r>
                        <a:rPr sz="1050" b="0">
                          <a:solidFill>
                            <a:srgbClr val="383A42"/>
                          </a:solidFill>
                          <a:latin typeface="Calibri"/>
                        </a:rPr>
                        <a:t>Present</a:t>
                      </a:r>
                    </a:p>
                  </a:txBody>
                  <a:tcPr>
                    <a:solidFill>
                      <a:srgbClr val="F0F0F2"/>
                    </a:solidFill>
                  </a:tcPr>
                </a:tc>
                <a:tc>
                  <a:txBody>
                    <a:bodyPr/>
                    <a:lstStyle/>
                    <a:p>
                      <a:pPr algn="l"/>
                      <a:r>
                        <a:rPr sz="1050" b="0">
                          <a:solidFill>
                            <a:srgbClr val="383A42"/>
                          </a:solidFill>
                          <a:latin typeface="Calibri"/>
                        </a:rPr>
                        <a:t>0</a:t>
                      </a:r>
                    </a:p>
                  </a:txBody>
                  <a:tcPr>
                    <a:solidFill>
                      <a:srgbClr val="F0F0F2"/>
                    </a:solidFill>
                  </a:tcPr>
                </a:tc>
                <a:extLst>
                  <a:ext uri="{0D108BD9-81ED-4DB2-BD59-A6C34878D82A}">
                    <a16:rowId xmlns:a16="http://schemas.microsoft.com/office/drawing/2014/main" val="10010"/>
                  </a:ext>
                </a:extLst>
              </a:tr>
              <a:tr h="384048">
                <a:tc>
                  <a:txBody>
                    <a:bodyPr/>
                    <a:lstStyle/>
                    <a:p>
                      <a:pPr algn="l"/>
                      <a:r>
                        <a:rPr sz="1050" b="0">
                          <a:solidFill>
                            <a:srgbClr val="383A42"/>
                          </a:solidFill>
                          <a:latin typeface="Calibri"/>
                        </a:rPr>
                        <a:t>Total LLM cost</a:t>
                      </a:r>
                    </a:p>
                  </a:txBody>
                  <a:tcPr>
                    <a:solidFill>
                      <a:srgbClr val="FFFFFF"/>
                    </a:solidFill>
                  </a:tcPr>
                </a:tc>
                <a:tc>
                  <a:txBody>
                    <a:bodyPr/>
                    <a:lstStyle/>
                    <a:p>
                      <a:pPr algn="l"/>
                      <a:r>
                        <a:rPr sz="1050" b="0">
                          <a:solidFill>
                            <a:srgbClr val="383A42"/>
                          </a:solidFill>
                          <a:latin typeface="Calibri"/>
                        </a:rPr>
                        <a:t>USD 0</a:t>
                      </a:r>
                    </a:p>
                  </a:txBody>
                  <a:tcPr>
                    <a:solidFill>
                      <a:srgbClr val="FFFFFF"/>
                    </a:solidFill>
                  </a:tcPr>
                </a:tc>
                <a:tc>
                  <a:txBody>
                    <a:bodyPr/>
                    <a:lstStyle/>
                    <a:p>
                      <a:pPr algn="l"/>
                      <a:r>
                        <a:rPr sz="1050" b="0">
                          <a:solidFill>
                            <a:srgbClr val="383A42"/>
                          </a:solidFill>
                          <a:latin typeface="Calibri"/>
                        </a:rPr>
                        <a:t>~USD 22</a:t>
                      </a:r>
                    </a:p>
                  </a:txBody>
                  <a:tcPr>
                    <a:solidFill>
                      <a:srgbClr val="FFFFFF"/>
                    </a:solidFill>
                  </a:tcPr>
                </a:tc>
                <a:tc>
                  <a:txBody>
                    <a:bodyPr/>
                    <a:lstStyle/>
                    <a:p>
                      <a:pPr algn="l"/>
                      <a:r>
                        <a:rPr sz="1050" b="0">
                          <a:solidFill>
                            <a:srgbClr val="383A42"/>
                          </a:solidFill>
                          <a:latin typeface="Calibri"/>
                        </a:rPr>
                        <a:t>~USD 123</a:t>
                      </a:r>
                    </a:p>
                  </a:txBody>
                  <a:tcPr>
                    <a:solidFill>
                      <a:srgbClr val="FFFFFF"/>
                    </a:solidFill>
                  </a:tcPr>
                </a:tc>
                <a:extLst>
                  <a:ext uri="{0D108BD9-81ED-4DB2-BD59-A6C34878D82A}">
                    <a16:rowId xmlns:a16="http://schemas.microsoft.com/office/drawing/2014/main" val="10011"/>
                  </a:ext>
                </a:extLst>
              </a:tr>
              <a:tr h="384048">
                <a:tc>
                  <a:txBody>
                    <a:bodyPr/>
                    <a:lstStyle/>
                    <a:p>
                      <a:pPr algn="l"/>
                      <a:r>
                        <a:rPr sz="1050" b="0">
                          <a:solidFill>
                            <a:srgbClr val="383A42"/>
                          </a:solidFill>
                          <a:latin typeface="Calibri"/>
                        </a:rPr>
                        <a:t>Re-run cost</a:t>
                      </a:r>
                    </a:p>
                  </a:txBody>
                  <a:tcPr>
                    <a:solidFill>
                      <a:srgbClr val="F0F0F2"/>
                    </a:solidFill>
                  </a:tcPr>
                </a:tc>
                <a:tc>
                  <a:txBody>
                    <a:bodyPr/>
                    <a:lstStyle/>
                    <a:p>
                      <a:pPr algn="l"/>
                      <a:r>
                        <a:rPr sz="1050" b="0">
                          <a:solidFill>
                            <a:srgbClr val="383A42"/>
                          </a:solidFill>
                          <a:latin typeface="Calibri"/>
                        </a:rPr>
                        <a:t>USD 0</a:t>
                      </a:r>
                    </a:p>
                  </a:txBody>
                  <a:tcPr>
                    <a:solidFill>
                      <a:srgbClr val="F0F0F2"/>
                    </a:solidFill>
                  </a:tcPr>
                </a:tc>
                <a:tc>
                  <a:txBody>
                    <a:bodyPr/>
                    <a:lstStyle/>
                    <a:p>
                      <a:pPr algn="l"/>
                      <a:r>
                        <a:rPr sz="1050" b="0">
                          <a:solidFill>
                            <a:srgbClr val="383A42"/>
                          </a:solidFill>
                          <a:latin typeface="Calibri"/>
                        </a:rPr>
                        <a:t>USD 0</a:t>
                      </a:r>
                    </a:p>
                  </a:txBody>
                  <a:tcPr>
                    <a:solidFill>
                      <a:srgbClr val="F0F0F2"/>
                    </a:solidFill>
                  </a:tcPr>
                </a:tc>
                <a:tc>
                  <a:txBody>
                    <a:bodyPr/>
                    <a:lstStyle/>
                    <a:p>
                      <a:pPr algn="l"/>
                      <a:r>
                        <a:rPr sz="1050" b="0">
                          <a:solidFill>
                            <a:srgbClr val="383A42"/>
                          </a:solidFill>
                          <a:latin typeface="Calibri"/>
                        </a:rPr>
                        <a:t>USD 0  (cached)</a:t>
                      </a:r>
                    </a:p>
                  </a:txBody>
                  <a:tcPr>
                    <a:solidFill>
                      <a:srgbClr val="F0F0F2"/>
                    </a:solidFill>
                  </a:tcPr>
                </a:tc>
                <a:extLst>
                  <a:ext uri="{0D108BD9-81ED-4DB2-BD59-A6C34878D82A}">
                    <a16:rowId xmlns:a16="http://schemas.microsoft.com/office/drawing/2014/main" val="10012"/>
                  </a:ext>
                </a:extLst>
              </a:tr>
              <a:tr h="384048">
                <a:tc>
                  <a:txBody>
                    <a:bodyPr/>
                    <a:lstStyle/>
                    <a:p>
                      <a:pPr algn="l"/>
                      <a:r>
                        <a:rPr sz="1050" b="0">
                          <a:solidFill>
                            <a:srgbClr val="383A42"/>
                          </a:solidFill>
                          <a:latin typeface="Calibri"/>
                        </a:rPr>
                        <a:t>Schema target</a:t>
                      </a:r>
                    </a:p>
                  </a:txBody>
                  <a:tcPr>
                    <a:solidFill>
                      <a:srgbClr val="FFFFFF"/>
                    </a:solidFill>
                  </a:tcPr>
                </a:tc>
                <a:tc>
                  <a:txBody>
                    <a:bodyPr/>
                    <a:lstStyle/>
                    <a:p>
                      <a:pPr algn="l"/>
                      <a:r>
                        <a:rPr sz="1050" b="0">
                          <a:solidFill>
                            <a:srgbClr val="383A42"/>
                          </a:solidFill>
                          <a:latin typeface="Calibri"/>
                        </a:rPr>
                        <a:t>v0.3</a:t>
                      </a:r>
                    </a:p>
                  </a:txBody>
                  <a:tcPr>
                    <a:solidFill>
                      <a:srgbClr val="FFFFFF"/>
                    </a:solidFill>
                  </a:tcPr>
                </a:tc>
                <a:tc>
                  <a:txBody>
                    <a:bodyPr/>
                    <a:lstStyle/>
                    <a:p>
                      <a:pPr algn="l"/>
                      <a:r>
                        <a:rPr sz="1050" b="0">
                          <a:solidFill>
                            <a:srgbClr val="383A42"/>
                          </a:solidFill>
                          <a:latin typeface="Calibri"/>
                        </a:rPr>
                        <a:t>v0.3</a:t>
                      </a:r>
                    </a:p>
                  </a:txBody>
                  <a:tcPr>
                    <a:solidFill>
                      <a:srgbClr val="FFFFFF"/>
                    </a:solidFill>
                  </a:tcPr>
                </a:tc>
                <a:tc>
                  <a:txBody>
                    <a:bodyPr/>
                    <a:lstStyle/>
                    <a:p>
                      <a:pPr algn="l"/>
                      <a:r>
                        <a:rPr sz="1050" b="0" dirty="0">
                          <a:solidFill>
                            <a:srgbClr val="383A42"/>
                          </a:solidFill>
                          <a:latin typeface="Calibri"/>
                        </a:rPr>
                        <a:t>v1.0</a:t>
                      </a:r>
                    </a:p>
                  </a:txBody>
                  <a:tcPr>
                    <a:solidFill>
                      <a:srgbClr val="FFFFFF"/>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a:solidFill>
                  <a:srgbClr val="0184BC"/>
                </a:solidFill>
                <a:latin typeface="Calibri"/>
              </a:rPr>
              <a:t>Key Lessons</a:t>
            </a:r>
          </a:p>
        </p:txBody>
      </p:sp>
      <p:sp>
        <p:nvSpPr>
          <p:cNvPr id="4" name="Rectangle 3"/>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24 / 26</a:t>
            </a:r>
          </a:p>
        </p:txBody>
      </p:sp>
      <p:sp>
        <p:nvSpPr>
          <p:cNvPr id="6" name="Rectangle 5"/>
          <p:cNvSpPr/>
          <p:nvPr/>
        </p:nvSpPr>
        <p:spPr>
          <a:xfrm>
            <a:off x="411480" y="1103638"/>
            <a:ext cx="3730752" cy="219456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11480" y="1103638"/>
            <a:ext cx="3730752" cy="38100"/>
          </a:xfrm>
          <a:prstGeom prst="rect">
            <a:avLst/>
          </a:prstGeom>
          <a:solidFill>
            <a:srgbClr val="E456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13080" y="1230638"/>
            <a:ext cx="3527552" cy="215444"/>
          </a:xfrm>
          <a:prstGeom prst="rect">
            <a:avLst/>
          </a:prstGeom>
          <a:noFill/>
        </p:spPr>
        <p:txBody>
          <a:bodyPr wrap="square" lIns="0" tIns="0" rIns="0" bIns="0">
            <a:spAutoFit/>
          </a:bodyPr>
          <a:lstStyle/>
          <a:p>
            <a:pPr algn="l"/>
            <a:r>
              <a:rPr sz="1400" b="1" dirty="0">
                <a:solidFill>
                  <a:srgbClr val="E45649"/>
                </a:solidFill>
                <a:latin typeface="Calibri"/>
              </a:rPr>
              <a:t>1. Pattern matching hits a semantic ceiling</a:t>
            </a:r>
          </a:p>
        </p:txBody>
      </p:sp>
      <p:sp>
        <p:nvSpPr>
          <p:cNvPr id="9" name="TextBox 8"/>
          <p:cNvSpPr txBox="1"/>
          <p:nvPr/>
        </p:nvSpPr>
        <p:spPr>
          <a:xfrm>
            <a:off x="513080" y="1579126"/>
            <a:ext cx="3527552" cy="553998"/>
          </a:xfrm>
          <a:prstGeom prst="rect">
            <a:avLst/>
          </a:prstGeom>
          <a:noFill/>
        </p:spPr>
        <p:txBody>
          <a:bodyPr wrap="square" lIns="0" tIns="0" rIns="0" bIns="0">
            <a:spAutoFit/>
          </a:bodyPr>
          <a:lstStyle/>
          <a:p>
            <a:pPr algn="l"/>
            <a:r>
              <a:rPr sz="1200" b="0" dirty="0">
                <a:solidFill>
                  <a:srgbClr val="383A42"/>
                </a:solidFill>
                <a:latin typeface="Calibri"/>
              </a:rPr>
              <a:t>Regex works for ~82% of records. It fails when metadata describes context, not content. For HDX, 1 in 5 records crosses that boundary. No additional patterns can fix it.</a:t>
            </a:r>
          </a:p>
        </p:txBody>
      </p:sp>
      <p:sp>
        <p:nvSpPr>
          <p:cNvPr id="10" name="Rectangle 9"/>
          <p:cNvSpPr/>
          <p:nvPr/>
        </p:nvSpPr>
        <p:spPr>
          <a:xfrm>
            <a:off x="4343400" y="1103638"/>
            <a:ext cx="3730752" cy="219456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43400" y="1103638"/>
            <a:ext cx="3730752" cy="38100"/>
          </a:xfrm>
          <a:prstGeom prst="rect">
            <a:avLst/>
          </a:prstGeom>
          <a:solidFill>
            <a:srgbClr val="C18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45000" y="1230638"/>
            <a:ext cx="3527552" cy="215444"/>
          </a:xfrm>
          <a:prstGeom prst="rect">
            <a:avLst/>
          </a:prstGeom>
          <a:noFill/>
        </p:spPr>
        <p:txBody>
          <a:bodyPr wrap="square" lIns="0" tIns="0" rIns="0" bIns="0">
            <a:spAutoFit/>
          </a:bodyPr>
          <a:lstStyle/>
          <a:p>
            <a:pPr algn="l"/>
            <a:r>
              <a:rPr sz="1400" b="1">
                <a:solidFill>
                  <a:srgbClr val="C18401"/>
                </a:solidFill>
                <a:latin typeface="Calibri"/>
              </a:rPr>
              <a:t>2. Column headers are the decisive signal</a:t>
            </a:r>
          </a:p>
        </p:txBody>
      </p:sp>
      <p:sp>
        <p:nvSpPr>
          <p:cNvPr id="13" name="TextBox 12"/>
          <p:cNvSpPr txBox="1"/>
          <p:nvPr/>
        </p:nvSpPr>
        <p:spPr>
          <a:xfrm>
            <a:off x="4445000" y="1579126"/>
            <a:ext cx="3527552" cy="553998"/>
          </a:xfrm>
          <a:prstGeom prst="rect">
            <a:avLst/>
          </a:prstGeom>
          <a:noFill/>
        </p:spPr>
        <p:txBody>
          <a:bodyPr wrap="square" lIns="0" tIns="0" rIns="0" bIns="0">
            <a:spAutoFit/>
          </a:bodyPr>
          <a:lstStyle/>
          <a:p>
            <a:pPr algn="l"/>
            <a:r>
              <a:rPr sz="1200" b="0">
                <a:solidFill>
                  <a:srgbClr val="383A42"/>
                </a:solidFill>
                <a:latin typeface="Calibri"/>
              </a:rPr>
              <a:t>Actual data column headers are unambiguous. 'People_Displaced' in a CSV column is clearer than 'displaced populations' in a dataset title.</a:t>
            </a:r>
          </a:p>
        </p:txBody>
      </p:sp>
      <p:sp>
        <p:nvSpPr>
          <p:cNvPr id="14" name="Rectangle 13"/>
          <p:cNvSpPr/>
          <p:nvPr/>
        </p:nvSpPr>
        <p:spPr>
          <a:xfrm>
            <a:off x="8275319" y="1103638"/>
            <a:ext cx="3730752" cy="219456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75319" y="1103638"/>
            <a:ext cx="37307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76919" y="1230638"/>
            <a:ext cx="3527552" cy="215444"/>
          </a:xfrm>
          <a:prstGeom prst="rect">
            <a:avLst/>
          </a:prstGeom>
          <a:noFill/>
        </p:spPr>
        <p:txBody>
          <a:bodyPr wrap="square" lIns="0" tIns="0" rIns="0" bIns="0">
            <a:spAutoFit/>
          </a:bodyPr>
          <a:lstStyle/>
          <a:p>
            <a:pPr algn="l"/>
            <a:r>
              <a:rPr sz="1400" b="1">
                <a:solidFill>
                  <a:srgbClr val="0184BC"/>
                </a:solidFill>
                <a:latin typeface="Calibri"/>
              </a:rPr>
              <a:t>3. Prompt precision beats model scale</a:t>
            </a:r>
          </a:p>
        </p:txBody>
      </p:sp>
      <p:sp>
        <p:nvSpPr>
          <p:cNvPr id="17" name="TextBox 16"/>
          <p:cNvSpPr txBox="1"/>
          <p:nvPr/>
        </p:nvSpPr>
        <p:spPr>
          <a:xfrm>
            <a:off x="8376919" y="1579126"/>
            <a:ext cx="3527552" cy="553998"/>
          </a:xfrm>
          <a:prstGeom prst="rect">
            <a:avLst/>
          </a:prstGeom>
          <a:noFill/>
        </p:spPr>
        <p:txBody>
          <a:bodyPr wrap="square" lIns="0" tIns="0" rIns="0" bIns="0">
            <a:spAutoFit/>
          </a:bodyPr>
          <a:lstStyle/>
          <a:p>
            <a:pPr algn="l"/>
            <a:r>
              <a:rPr sz="1200" b="0">
                <a:solidFill>
                  <a:srgbClr val="383A42"/>
                </a:solidFill>
                <a:latin typeface="Calibri"/>
              </a:rPr>
              <a:t>With exact RDLS component definitions, the smallest Haiku model achieved 94% confidence. Domain-specific definitions matter more than choosing a larger model.</a:t>
            </a:r>
          </a:p>
        </p:txBody>
      </p:sp>
      <p:sp>
        <p:nvSpPr>
          <p:cNvPr id="18" name="Rectangle 17"/>
          <p:cNvSpPr/>
          <p:nvPr/>
        </p:nvSpPr>
        <p:spPr>
          <a:xfrm>
            <a:off x="411480" y="3481078"/>
            <a:ext cx="3730752" cy="219456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11480" y="3481078"/>
            <a:ext cx="3730752" cy="38100"/>
          </a:xfrm>
          <a:prstGeom prst="rect">
            <a:avLst/>
          </a:prstGeom>
          <a:solidFill>
            <a:srgbClr val="50A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13080" y="3608078"/>
            <a:ext cx="3527552" cy="215444"/>
          </a:xfrm>
          <a:prstGeom prst="rect">
            <a:avLst/>
          </a:prstGeom>
          <a:noFill/>
        </p:spPr>
        <p:txBody>
          <a:bodyPr wrap="square" lIns="0" tIns="0" rIns="0" bIns="0">
            <a:spAutoFit/>
          </a:bodyPr>
          <a:lstStyle/>
          <a:p>
            <a:pPr algn="l"/>
            <a:r>
              <a:rPr sz="1400" b="1">
                <a:solidFill>
                  <a:srgbClr val="50A14F"/>
                </a:solidFill>
                <a:latin typeface="Calibri"/>
              </a:rPr>
              <a:t>4. Caching makes iteration free</a:t>
            </a:r>
          </a:p>
        </p:txBody>
      </p:sp>
      <p:sp>
        <p:nvSpPr>
          <p:cNvPr id="21" name="TextBox 20"/>
          <p:cNvSpPr txBox="1"/>
          <p:nvPr/>
        </p:nvSpPr>
        <p:spPr>
          <a:xfrm>
            <a:off x="513080" y="3956566"/>
            <a:ext cx="3527552" cy="553998"/>
          </a:xfrm>
          <a:prstGeom prst="rect">
            <a:avLst/>
          </a:prstGeom>
          <a:noFill/>
        </p:spPr>
        <p:txBody>
          <a:bodyPr wrap="square" lIns="0" tIns="0" rIns="0" bIns="0">
            <a:spAutoFit/>
          </a:bodyPr>
          <a:lstStyle/>
          <a:p>
            <a:pPr algn="l"/>
            <a:r>
              <a:rPr sz="1200" b="0">
                <a:solidFill>
                  <a:srgbClr val="383A42"/>
                </a:solidFill>
                <a:latin typeface="Calibri"/>
              </a:rPr>
              <a:t>Responses cached by prompt hash. After the first run (~$123), every code fix, schema update, or output format change runs at zero additional LLM cost.</a:t>
            </a:r>
          </a:p>
        </p:txBody>
      </p:sp>
      <p:sp>
        <p:nvSpPr>
          <p:cNvPr id="22" name="Rectangle 21"/>
          <p:cNvSpPr/>
          <p:nvPr/>
        </p:nvSpPr>
        <p:spPr>
          <a:xfrm>
            <a:off x="4343400" y="3481078"/>
            <a:ext cx="3730752" cy="219456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43400" y="3481078"/>
            <a:ext cx="3730752" cy="38100"/>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45000" y="3608078"/>
            <a:ext cx="3527552" cy="215444"/>
          </a:xfrm>
          <a:prstGeom prst="rect">
            <a:avLst/>
          </a:prstGeom>
          <a:noFill/>
        </p:spPr>
        <p:txBody>
          <a:bodyPr wrap="square" lIns="0" tIns="0" rIns="0" bIns="0">
            <a:spAutoFit/>
          </a:bodyPr>
          <a:lstStyle/>
          <a:p>
            <a:pPr algn="l"/>
            <a:r>
              <a:rPr sz="1400" b="1">
                <a:solidFill>
                  <a:srgbClr val="0997B3"/>
                </a:solidFill>
                <a:latin typeface="Calibri"/>
              </a:rPr>
              <a:t>5. Economics drove the architecture</a:t>
            </a:r>
          </a:p>
        </p:txBody>
      </p:sp>
      <p:sp>
        <p:nvSpPr>
          <p:cNvPr id="25" name="TextBox 24"/>
          <p:cNvSpPr txBox="1"/>
          <p:nvPr/>
        </p:nvSpPr>
        <p:spPr>
          <a:xfrm>
            <a:off x="4445000" y="3956566"/>
            <a:ext cx="3527552" cy="553998"/>
          </a:xfrm>
          <a:prstGeom prst="rect">
            <a:avLst/>
          </a:prstGeom>
          <a:noFill/>
        </p:spPr>
        <p:txBody>
          <a:bodyPr wrap="square" lIns="0" tIns="0" rIns="0" bIns="0">
            <a:spAutoFit/>
          </a:bodyPr>
          <a:lstStyle/>
          <a:p>
            <a:pPr algn="l"/>
            <a:r>
              <a:rPr sz="1200" b="0">
                <a:solidFill>
                  <a:srgbClr val="383A42"/>
                </a:solidFill>
                <a:latin typeface="Calibri"/>
              </a:rPr>
              <a:t>The shift from hybrid to LLM-first was enabled by cost, not capability. At $1/MTok, sending 26,246 datasets to the LLM costs less than one day of contractor time.</a:t>
            </a:r>
          </a:p>
        </p:txBody>
      </p:sp>
      <p:sp>
        <p:nvSpPr>
          <p:cNvPr id="26" name="Rectangle 25"/>
          <p:cNvSpPr/>
          <p:nvPr/>
        </p:nvSpPr>
        <p:spPr>
          <a:xfrm>
            <a:off x="8275319" y="3481078"/>
            <a:ext cx="3730752" cy="219456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275319" y="3481078"/>
            <a:ext cx="3730752" cy="38100"/>
          </a:xfrm>
          <a:prstGeom prst="rect">
            <a:avLst/>
          </a:prstGeom>
          <a:solidFill>
            <a:srgbClr val="C18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76919" y="3608078"/>
            <a:ext cx="3527552" cy="215444"/>
          </a:xfrm>
          <a:prstGeom prst="rect">
            <a:avLst/>
          </a:prstGeom>
          <a:noFill/>
        </p:spPr>
        <p:txBody>
          <a:bodyPr wrap="square" lIns="0" tIns="0" rIns="0" bIns="0">
            <a:spAutoFit/>
          </a:bodyPr>
          <a:lstStyle/>
          <a:p>
            <a:pPr algn="l"/>
            <a:r>
              <a:rPr sz="1400" b="1">
                <a:solidFill>
                  <a:srgbClr val="C18401"/>
                </a:solidFill>
                <a:latin typeface="Calibri"/>
              </a:rPr>
              <a:t>6. Test against the schema, not assumptions</a:t>
            </a:r>
          </a:p>
        </p:txBody>
      </p:sp>
      <p:sp>
        <p:nvSpPr>
          <p:cNvPr id="29" name="TextBox 28"/>
          <p:cNvSpPr txBox="1"/>
          <p:nvPr/>
        </p:nvSpPr>
        <p:spPr>
          <a:xfrm>
            <a:off x="8376919" y="3956566"/>
            <a:ext cx="3527552" cy="553998"/>
          </a:xfrm>
          <a:prstGeom prst="rect">
            <a:avLst/>
          </a:prstGeom>
          <a:noFill/>
        </p:spPr>
        <p:txBody>
          <a:bodyPr wrap="square" lIns="0" tIns="0" rIns="0" bIns="0">
            <a:spAutoFit/>
          </a:bodyPr>
          <a:lstStyle/>
          <a:p>
            <a:pPr algn="l"/>
            <a:r>
              <a:rPr sz="1200" b="0">
                <a:solidFill>
                  <a:srgbClr val="383A42"/>
                </a:solidFill>
                <a:latin typeface="Calibri"/>
              </a:rPr>
              <a:t>Seven schema bugs were only visible by running the validator against real data. Budget for this iterative cycle before any production run.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a:solidFill>
                  <a:srgbClr val="0184BC"/>
                </a:solidFill>
                <a:latin typeface="Calibri"/>
              </a:rPr>
              <a:t>Next Steps</a:t>
            </a:r>
          </a:p>
        </p:txBody>
      </p:sp>
      <p:sp>
        <p:nvSpPr>
          <p:cNvPr id="4" name="Rectangle 3"/>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25 / 26</a:t>
            </a:r>
          </a:p>
        </p:txBody>
      </p:sp>
      <p:sp>
        <p:nvSpPr>
          <p:cNvPr id="6" name="TextBox 5"/>
          <p:cNvSpPr txBox="1"/>
          <p:nvPr/>
        </p:nvSpPr>
        <p:spPr>
          <a:xfrm>
            <a:off x="411480" y="1024128"/>
            <a:ext cx="11430000" cy="215444"/>
          </a:xfrm>
          <a:prstGeom prst="rect">
            <a:avLst/>
          </a:prstGeom>
          <a:noFill/>
        </p:spPr>
        <p:txBody>
          <a:bodyPr wrap="square" lIns="0" tIns="0" rIns="0" bIns="0">
            <a:spAutoFit/>
          </a:bodyPr>
          <a:lstStyle/>
          <a:p>
            <a:pPr algn="l"/>
            <a:r>
              <a:rPr sz="1400" b="1" dirty="0">
                <a:solidFill>
                  <a:srgbClr val="0184BC"/>
                </a:solidFill>
                <a:latin typeface="Calibri"/>
              </a:rPr>
              <a:t>Immediate  (production pipeline)</a:t>
            </a:r>
          </a:p>
        </p:txBody>
      </p:sp>
      <p:sp>
        <p:nvSpPr>
          <p:cNvPr id="7" name="Rectangle 6"/>
          <p:cNvSpPr/>
          <p:nvPr/>
        </p:nvSpPr>
        <p:spPr>
          <a:xfrm>
            <a:off x="411480" y="1444752"/>
            <a:ext cx="502920" cy="658368"/>
          </a:xfrm>
          <a:prstGeom prst="rect">
            <a:avLst/>
          </a:prstGeom>
          <a:solidFill>
            <a:srgbClr val="383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495552"/>
            <a:ext cx="502920" cy="369332"/>
          </a:xfrm>
          <a:prstGeom prst="rect">
            <a:avLst/>
          </a:prstGeom>
          <a:noFill/>
        </p:spPr>
        <p:txBody>
          <a:bodyPr wrap="square" lIns="0" tIns="0" rIns="0" bIns="0">
            <a:spAutoFit/>
          </a:bodyPr>
          <a:lstStyle/>
          <a:p>
            <a:pPr algn="ctr"/>
            <a:r>
              <a:rPr sz="2400" b="1" dirty="0">
                <a:solidFill>
                  <a:schemeClr val="bg1"/>
                </a:solidFill>
                <a:latin typeface="Calibri"/>
              </a:rPr>
              <a:t>1</a:t>
            </a:r>
          </a:p>
        </p:txBody>
      </p:sp>
      <p:sp>
        <p:nvSpPr>
          <p:cNvPr id="9" name="Rectangle 8"/>
          <p:cNvSpPr/>
          <p:nvPr/>
        </p:nvSpPr>
        <p:spPr>
          <a:xfrm>
            <a:off x="1005840" y="1444752"/>
            <a:ext cx="10698480" cy="658368"/>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15568" y="1646622"/>
            <a:ext cx="4023360" cy="215444"/>
          </a:xfrm>
          <a:prstGeom prst="rect">
            <a:avLst/>
          </a:prstGeom>
          <a:noFill/>
        </p:spPr>
        <p:txBody>
          <a:bodyPr wrap="square" lIns="0" tIns="0" rIns="0" bIns="0">
            <a:spAutoFit/>
          </a:bodyPr>
          <a:lstStyle/>
          <a:p>
            <a:pPr algn="l"/>
            <a:r>
              <a:rPr sz="1400" b="1" dirty="0">
                <a:solidFill>
                  <a:srgbClr val="383A42"/>
                </a:solidFill>
                <a:latin typeface="Calibri"/>
              </a:rPr>
              <a:t>Run Haiku for all 26,246 datasets</a:t>
            </a:r>
          </a:p>
        </p:txBody>
      </p:sp>
      <p:sp>
        <p:nvSpPr>
          <p:cNvPr id="11" name="TextBox 10"/>
          <p:cNvSpPr txBox="1"/>
          <p:nvPr/>
        </p:nvSpPr>
        <p:spPr>
          <a:xfrm>
            <a:off x="4760843" y="1662530"/>
            <a:ext cx="6126480" cy="184666"/>
          </a:xfrm>
          <a:prstGeom prst="rect">
            <a:avLst/>
          </a:prstGeom>
          <a:noFill/>
        </p:spPr>
        <p:txBody>
          <a:bodyPr wrap="square" lIns="0" tIns="0" rIns="0" bIns="0">
            <a:spAutoFit/>
          </a:bodyPr>
          <a:lstStyle/>
          <a:p>
            <a:pPr algn="l"/>
            <a:r>
              <a:rPr sz="1200" b="0" dirty="0">
                <a:solidFill>
                  <a:srgbClr val="696C77"/>
                </a:solidFill>
                <a:latin typeface="Calibri"/>
              </a:rPr>
              <a:t>Pipeline is ready. Config set to Haiku. ~24 hours, ~USD 123. Resumes automatically if interrupted.</a:t>
            </a:r>
          </a:p>
        </p:txBody>
      </p:sp>
      <p:sp>
        <p:nvSpPr>
          <p:cNvPr id="12" name="Rectangle 11"/>
          <p:cNvSpPr/>
          <p:nvPr/>
        </p:nvSpPr>
        <p:spPr>
          <a:xfrm>
            <a:off x="411480" y="2304288"/>
            <a:ext cx="502920" cy="658368"/>
          </a:xfrm>
          <a:prstGeom prst="rect">
            <a:avLst/>
          </a:prstGeom>
          <a:solidFill>
            <a:srgbClr val="383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1480" y="2355088"/>
            <a:ext cx="502920" cy="369332"/>
          </a:xfrm>
          <a:prstGeom prst="rect">
            <a:avLst/>
          </a:prstGeom>
          <a:noFill/>
        </p:spPr>
        <p:txBody>
          <a:bodyPr wrap="square" lIns="0" tIns="0" rIns="0" bIns="0">
            <a:spAutoFit/>
          </a:bodyPr>
          <a:lstStyle/>
          <a:p>
            <a:pPr algn="ctr"/>
            <a:r>
              <a:rPr sz="2400" b="1">
                <a:solidFill>
                  <a:schemeClr val="bg1"/>
                </a:solidFill>
                <a:latin typeface="Calibri"/>
              </a:rPr>
              <a:t>2</a:t>
            </a:r>
          </a:p>
        </p:txBody>
      </p:sp>
      <p:sp>
        <p:nvSpPr>
          <p:cNvPr id="14" name="Rectangle 13"/>
          <p:cNvSpPr/>
          <p:nvPr/>
        </p:nvSpPr>
        <p:spPr>
          <a:xfrm>
            <a:off x="1005840" y="2304288"/>
            <a:ext cx="10698480" cy="658368"/>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15568" y="2506158"/>
            <a:ext cx="4023360" cy="215444"/>
          </a:xfrm>
          <a:prstGeom prst="rect">
            <a:avLst/>
          </a:prstGeom>
          <a:noFill/>
        </p:spPr>
        <p:txBody>
          <a:bodyPr wrap="square" lIns="0" tIns="0" rIns="0" bIns="0">
            <a:spAutoFit/>
          </a:bodyPr>
          <a:lstStyle/>
          <a:p>
            <a:pPr algn="l"/>
            <a:r>
              <a:rPr sz="1400" b="1">
                <a:solidFill>
                  <a:srgbClr val="383A42"/>
                </a:solidFill>
                <a:latin typeface="Calibri"/>
              </a:rPr>
              <a:t>Run Sonnet on medium-confidence tier</a:t>
            </a:r>
          </a:p>
        </p:txBody>
      </p:sp>
      <p:sp>
        <p:nvSpPr>
          <p:cNvPr id="16" name="TextBox 15"/>
          <p:cNvSpPr txBox="1"/>
          <p:nvPr/>
        </p:nvSpPr>
        <p:spPr>
          <a:xfrm>
            <a:off x="4760843" y="2522066"/>
            <a:ext cx="6126480" cy="184666"/>
          </a:xfrm>
          <a:prstGeom prst="rect">
            <a:avLst/>
          </a:prstGeom>
          <a:noFill/>
        </p:spPr>
        <p:txBody>
          <a:bodyPr wrap="square" lIns="0" tIns="0" rIns="0" bIns="0">
            <a:spAutoFit/>
          </a:bodyPr>
          <a:lstStyle/>
          <a:p>
            <a:pPr algn="l"/>
            <a:r>
              <a:rPr sz="1200" b="0">
                <a:solidFill>
                  <a:srgbClr val="696C77"/>
                </a:solidFill>
                <a:latin typeface="Calibri"/>
              </a:rPr>
              <a:t>After Haiku completes. ~1,500-2,500 records. ~8 hours, ~USD 35-60. Replaces borderline outputs.</a:t>
            </a:r>
          </a:p>
        </p:txBody>
      </p:sp>
      <p:sp>
        <p:nvSpPr>
          <p:cNvPr id="17" name="Rectangle 16"/>
          <p:cNvSpPr/>
          <p:nvPr/>
        </p:nvSpPr>
        <p:spPr>
          <a:xfrm>
            <a:off x="411480" y="3163824"/>
            <a:ext cx="502920" cy="658368"/>
          </a:xfrm>
          <a:prstGeom prst="rect">
            <a:avLst/>
          </a:prstGeom>
          <a:solidFill>
            <a:srgbClr val="383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80" y="3214624"/>
            <a:ext cx="502920" cy="369332"/>
          </a:xfrm>
          <a:prstGeom prst="rect">
            <a:avLst/>
          </a:prstGeom>
          <a:noFill/>
        </p:spPr>
        <p:txBody>
          <a:bodyPr wrap="square" lIns="0" tIns="0" rIns="0" bIns="0">
            <a:spAutoFit/>
          </a:bodyPr>
          <a:lstStyle/>
          <a:p>
            <a:pPr algn="ctr"/>
            <a:r>
              <a:rPr sz="2400" b="1">
                <a:solidFill>
                  <a:schemeClr val="bg1"/>
                </a:solidFill>
                <a:latin typeface="Calibri"/>
              </a:rPr>
              <a:t>3</a:t>
            </a:r>
          </a:p>
        </p:txBody>
      </p:sp>
      <p:sp>
        <p:nvSpPr>
          <p:cNvPr id="19" name="Rectangle 18"/>
          <p:cNvSpPr/>
          <p:nvPr/>
        </p:nvSpPr>
        <p:spPr>
          <a:xfrm>
            <a:off x="1005840" y="3163824"/>
            <a:ext cx="10698480" cy="658368"/>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15568" y="3365694"/>
            <a:ext cx="4023360" cy="215444"/>
          </a:xfrm>
          <a:prstGeom prst="rect">
            <a:avLst/>
          </a:prstGeom>
          <a:noFill/>
        </p:spPr>
        <p:txBody>
          <a:bodyPr wrap="square" lIns="0" tIns="0" rIns="0" bIns="0">
            <a:spAutoFit/>
          </a:bodyPr>
          <a:lstStyle/>
          <a:p>
            <a:pPr algn="l"/>
            <a:r>
              <a:rPr sz="1400" b="1">
                <a:solidFill>
                  <a:srgbClr val="383A42"/>
                </a:solidFill>
                <a:latin typeface="Calibri"/>
              </a:rPr>
              <a:t>Quality review of output</a:t>
            </a:r>
          </a:p>
        </p:txBody>
      </p:sp>
      <p:sp>
        <p:nvSpPr>
          <p:cNvPr id="21" name="TextBox 20"/>
          <p:cNvSpPr txBox="1"/>
          <p:nvPr/>
        </p:nvSpPr>
        <p:spPr>
          <a:xfrm>
            <a:off x="4760843" y="3381602"/>
            <a:ext cx="6126480" cy="184666"/>
          </a:xfrm>
          <a:prstGeom prst="rect">
            <a:avLst/>
          </a:prstGeom>
          <a:noFill/>
        </p:spPr>
        <p:txBody>
          <a:bodyPr wrap="square" lIns="0" tIns="0" rIns="0" bIns="0">
            <a:spAutoFit/>
          </a:bodyPr>
          <a:lstStyle/>
          <a:p>
            <a:pPr algn="l"/>
            <a:r>
              <a:rPr sz="1200" b="0">
                <a:solidFill>
                  <a:srgbClr val="696C77"/>
                </a:solidFill>
                <a:latin typeface="Calibri"/>
              </a:rPr>
              <a:t>Sample from high/medium tiers. Spot-check multi-return-period events and contributing sources.</a:t>
            </a:r>
          </a:p>
        </p:txBody>
      </p:sp>
      <p:sp>
        <p:nvSpPr>
          <p:cNvPr id="22" name="Rectangle 21"/>
          <p:cNvSpPr/>
          <p:nvPr/>
        </p:nvSpPr>
        <p:spPr>
          <a:xfrm>
            <a:off x="411480" y="4023360"/>
            <a:ext cx="502920" cy="658368"/>
          </a:xfrm>
          <a:prstGeom prst="rect">
            <a:avLst/>
          </a:prstGeom>
          <a:solidFill>
            <a:srgbClr val="383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4074160"/>
            <a:ext cx="502920" cy="369332"/>
          </a:xfrm>
          <a:prstGeom prst="rect">
            <a:avLst/>
          </a:prstGeom>
          <a:noFill/>
        </p:spPr>
        <p:txBody>
          <a:bodyPr wrap="square" lIns="0" tIns="0" rIns="0" bIns="0">
            <a:spAutoFit/>
          </a:bodyPr>
          <a:lstStyle/>
          <a:p>
            <a:pPr algn="ctr"/>
            <a:r>
              <a:rPr sz="2400" b="1">
                <a:solidFill>
                  <a:schemeClr val="bg1"/>
                </a:solidFill>
                <a:latin typeface="Calibri"/>
              </a:rPr>
              <a:t>4</a:t>
            </a:r>
          </a:p>
        </p:txBody>
      </p:sp>
      <p:sp>
        <p:nvSpPr>
          <p:cNvPr id="24" name="Rectangle 23"/>
          <p:cNvSpPr/>
          <p:nvPr/>
        </p:nvSpPr>
        <p:spPr>
          <a:xfrm>
            <a:off x="1005840" y="4023360"/>
            <a:ext cx="10698480" cy="658368"/>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15568" y="4225230"/>
            <a:ext cx="4023360" cy="215444"/>
          </a:xfrm>
          <a:prstGeom prst="rect">
            <a:avLst/>
          </a:prstGeom>
          <a:noFill/>
        </p:spPr>
        <p:txBody>
          <a:bodyPr wrap="square" lIns="0" tIns="0" rIns="0" bIns="0">
            <a:spAutoFit/>
          </a:bodyPr>
          <a:lstStyle/>
          <a:p>
            <a:pPr algn="l"/>
            <a:r>
              <a:rPr sz="1400" b="1">
                <a:solidFill>
                  <a:srgbClr val="383A42"/>
                </a:solidFill>
                <a:latin typeface="Calibri"/>
              </a:rPr>
              <a:t>Semantic validation  (Layer 2)</a:t>
            </a:r>
          </a:p>
        </p:txBody>
      </p:sp>
      <p:sp>
        <p:nvSpPr>
          <p:cNvPr id="26" name="TextBox 25"/>
          <p:cNvSpPr txBox="1"/>
          <p:nvPr/>
        </p:nvSpPr>
        <p:spPr>
          <a:xfrm>
            <a:off x="4760843" y="4241138"/>
            <a:ext cx="6126480" cy="184666"/>
          </a:xfrm>
          <a:prstGeom prst="rect">
            <a:avLst/>
          </a:prstGeom>
          <a:noFill/>
        </p:spPr>
        <p:txBody>
          <a:bodyPr wrap="square" lIns="0" tIns="0" rIns="0" bIns="0">
            <a:spAutoFit/>
          </a:bodyPr>
          <a:lstStyle/>
          <a:p>
            <a:pPr algn="l"/>
            <a:r>
              <a:rPr sz="1200" b="0">
                <a:solidFill>
                  <a:srgbClr val="696C77"/>
                </a:solidFill>
                <a:latin typeface="Calibri"/>
              </a:rPr>
              <a:t>Run cross-field validator. Catch open-codelist and cross-field constraint errors.</a:t>
            </a:r>
          </a:p>
        </p:txBody>
      </p:sp>
      <p:sp>
        <p:nvSpPr>
          <p:cNvPr id="27" name="TextBox 26"/>
          <p:cNvSpPr txBox="1"/>
          <p:nvPr/>
        </p:nvSpPr>
        <p:spPr>
          <a:xfrm>
            <a:off x="411480" y="5010912"/>
            <a:ext cx="11430000" cy="215444"/>
          </a:xfrm>
          <a:prstGeom prst="rect">
            <a:avLst/>
          </a:prstGeom>
          <a:noFill/>
        </p:spPr>
        <p:txBody>
          <a:bodyPr wrap="square" lIns="0" tIns="0" rIns="0" bIns="0">
            <a:spAutoFit/>
          </a:bodyPr>
          <a:lstStyle/>
          <a:p>
            <a:pPr algn="l"/>
            <a:r>
              <a:rPr sz="1400" b="1" dirty="0">
                <a:solidFill>
                  <a:srgbClr val="0184BC"/>
                </a:solidFill>
                <a:latin typeface="Calibri"/>
              </a:rPr>
              <a:t>Downstream</a:t>
            </a:r>
          </a:p>
        </p:txBody>
      </p:sp>
      <p:sp>
        <p:nvSpPr>
          <p:cNvPr id="28" name="TextBox 27"/>
          <p:cNvSpPr txBox="1"/>
          <p:nvPr/>
        </p:nvSpPr>
        <p:spPr>
          <a:xfrm>
            <a:off x="411480" y="5413248"/>
            <a:ext cx="11430000" cy="365760"/>
          </a:xfrm>
          <a:prstGeom prst="rect">
            <a:avLst/>
          </a:prstGeom>
          <a:noFill/>
        </p:spPr>
        <p:txBody>
          <a:bodyPr wrap="square" lIns="0" tIns="0" rIns="0" bIns="0">
            <a:spAutoFit/>
          </a:bodyPr>
          <a:lstStyle/>
          <a:p>
            <a:pPr algn="l"/>
            <a:r>
              <a:rPr sz="1200" b="0">
                <a:solidFill>
                  <a:srgbClr val="383A42"/>
                </a:solidFill>
                <a:latin typeface="Calibri"/>
              </a:rPr>
              <a:t>1.  Integrate into RDLS public catalogue and generate search indexes</a:t>
            </a:r>
          </a:p>
        </p:txBody>
      </p:sp>
      <p:sp>
        <p:nvSpPr>
          <p:cNvPr id="29" name="TextBox 28"/>
          <p:cNvSpPr txBox="1"/>
          <p:nvPr/>
        </p:nvSpPr>
        <p:spPr>
          <a:xfrm>
            <a:off x="411480" y="5797296"/>
            <a:ext cx="11430000" cy="365760"/>
          </a:xfrm>
          <a:prstGeom prst="rect">
            <a:avLst/>
          </a:prstGeom>
          <a:noFill/>
        </p:spPr>
        <p:txBody>
          <a:bodyPr wrap="square" lIns="0" tIns="0" rIns="0" bIns="0">
            <a:spAutoFit/>
          </a:bodyPr>
          <a:lstStyle/>
          <a:p>
            <a:pPr algn="l"/>
            <a:r>
              <a:rPr sz="1200" b="0">
                <a:solidFill>
                  <a:srgbClr val="383A42"/>
                </a:solidFill>
                <a:latin typeface="Calibri"/>
              </a:rPr>
              <a:t>2.  Apply same pipeline to GeoNode, World Bank Data Catalog, other CKAN portals - only the source adapter changes</a:t>
            </a:r>
          </a:p>
        </p:txBody>
      </p:sp>
      <p:sp>
        <p:nvSpPr>
          <p:cNvPr id="30" name="TextBox 29"/>
          <p:cNvSpPr txBox="1"/>
          <p:nvPr/>
        </p:nvSpPr>
        <p:spPr>
          <a:xfrm>
            <a:off x="411480" y="6181344"/>
            <a:ext cx="11430000" cy="365760"/>
          </a:xfrm>
          <a:prstGeom prst="rect">
            <a:avLst/>
          </a:prstGeom>
          <a:noFill/>
        </p:spPr>
        <p:txBody>
          <a:bodyPr wrap="square" lIns="0" tIns="0" rIns="0" bIns="0">
            <a:spAutoFit/>
          </a:bodyPr>
          <a:lstStyle/>
          <a:p>
            <a:pPr algn="l"/>
            <a:r>
              <a:rPr sz="1200" b="0">
                <a:solidFill>
                  <a:srgbClr val="383A42"/>
                </a:solidFill>
                <a:latin typeface="Calibri"/>
              </a:rPr>
              <a:t>3.  Establish a periodic refresh pipeline for new HDX datasets added since initial run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80000" cy="6858000"/>
          </a:xfrm>
          <a:prstGeom prst="rect">
            <a:avLst/>
          </a:prstGeom>
          <a:solidFill>
            <a:srgbClr val="50A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807057"/>
            <a:ext cx="10972800" cy="777240"/>
          </a:xfrm>
          <a:prstGeom prst="rect">
            <a:avLst/>
          </a:prstGeom>
          <a:noFill/>
        </p:spPr>
        <p:txBody>
          <a:bodyPr wrap="square" lIns="0" tIns="0" rIns="0" bIns="0">
            <a:spAutoFit/>
          </a:bodyPr>
          <a:lstStyle/>
          <a:p>
            <a:pPr algn="l"/>
            <a:r>
              <a:rPr sz="3400" b="1" dirty="0">
                <a:solidFill>
                  <a:srgbClr val="383A42"/>
                </a:solidFill>
                <a:latin typeface="Calibri"/>
              </a:rPr>
              <a:t>From Keywords to Understanding</a:t>
            </a:r>
          </a:p>
        </p:txBody>
      </p:sp>
      <p:sp>
        <p:nvSpPr>
          <p:cNvPr id="5" name="TextBox 4"/>
          <p:cNvSpPr txBox="1"/>
          <p:nvPr/>
        </p:nvSpPr>
        <p:spPr>
          <a:xfrm>
            <a:off x="502920" y="1648305"/>
            <a:ext cx="10972800" cy="457200"/>
          </a:xfrm>
          <a:prstGeom prst="rect">
            <a:avLst/>
          </a:prstGeom>
          <a:noFill/>
        </p:spPr>
        <p:txBody>
          <a:bodyPr wrap="square" lIns="0" tIns="0" rIns="0" bIns="0">
            <a:spAutoFit/>
          </a:bodyPr>
          <a:lstStyle/>
          <a:p>
            <a:pPr algn="l"/>
            <a:r>
              <a:rPr sz="1700" b="0">
                <a:solidFill>
                  <a:srgbClr val="50A14F"/>
                </a:solidFill>
                <a:latin typeface="Calibri"/>
              </a:rPr>
              <a:t>Three generations. One goal: machine-readable risk data at scale.</a:t>
            </a:r>
          </a:p>
        </p:txBody>
      </p:sp>
      <p:graphicFrame>
        <p:nvGraphicFramePr>
          <p:cNvPr id="6" name="Table 5"/>
          <p:cNvGraphicFramePr>
            <a:graphicFrameLocks noGrp="1"/>
          </p:cNvGraphicFramePr>
          <p:nvPr>
            <p:extLst>
              <p:ext uri="{D42A27DB-BD31-4B8C-83A1-F6EECF244321}">
                <p14:modId xmlns:p14="http://schemas.microsoft.com/office/powerpoint/2010/main" val="1816659688"/>
              </p:ext>
            </p:extLst>
          </p:nvPr>
        </p:nvGraphicFramePr>
        <p:xfrm>
          <a:off x="502920" y="2251809"/>
          <a:ext cx="10058400" cy="1572768"/>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393192">
                <a:tc>
                  <a:txBody>
                    <a:bodyPr/>
                    <a:lstStyle/>
                    <a:p>
                      <a:pPr algn="ctr"/>
                      <a:r>
                        <a:rPr sz="1400" b="1" dirty="0">
                          <a:solidFill>
                            <a:srgbClr val="FFFFFF"/>
                          </a:solidFill>
                          <a:latin typeface="Calibri"/>
                        </a:rPr>
                        <a:t>Approach</a:t>
                      </a:r>
                    </a:p>
                  </a:txBody>
                  <a:tcPr>
                    <a:solidFill>
                      <a:srgbClr val="383A42"/>
                    </a:solidFill>
                  </a:tcPr>
                </a:tc>
                <a:tc>
                  <a:txBody>
                    <a:bodyPr/>
                    <a:lstStyle/>
                    <a:p>
                      <a:pPr algn="ctr"/>
                      <a:r>
                        <a:rPr sz="1400" b="1" dirty="0">
                          <a:solidFill>
                            <a:srgbClr val="FFFFFF"/>
                          </a:solidFill>
                          <a:latin typeface="Calibri"/>
                        </a:rPr>
                        <a:t>Time</a:t>
                      </a:r>
                    </a:p>
                  </a:txBody>
                  <a:tcPr>
                    <a:solidFill>
                      <a:srgbClr val="383A42"/>
                    </a:solidFill>
                  </a:tcPr>
                </a:tc>
                <a:tc>
                  <a:txBody>
                    <a:bodyPr/>
                    <a:lstStyle/>
                    <a:p>
                      <a:pPr algn="ctr"/>
                      <a:r>
                        <a:rPr sz="1400" b="1" dirty="0">
                          <a:solidFill>
                            <a:srgbClr val="FFFFFF"/>
                          </a:solidFill>
                          <a:latin typeface="Calibri"/>
                        </a:rPr>
                        <a:t>Cost</a:t>
                      </a:r>
                    </a:p>
                  </a:txBody>
                  <a:tcPr>
                    <a:solidFill>
                      <a:srgbClr val="383A42"/>
                    </a:solidFill>
                  </a:tcPr>
                </a:tc>
                <a:tc>
                  <a:txBody>
                    <a:bodyPr/>
                    <a:lstStyle/>
                    <a:p>
                      <a:pPr algn="ctr"/>
                      <a:r>
                        <a:rPr sz="1400" b="1" dirty="0">
                          <a:solidFill>
                            <a:srgbClr val="FFFFFF"/>
                          </a:solidFill>
                          <a:latin typeface="Calibri"/>
                        </a:rPr>
                        <a:t>Accuracy</a:t>
                      </a:r>
                    </a:p>
                  </a:txBody>
                  <a:tcPr>
                    <a:solidFill>
                      <a:srgbClr val="383A42"/>
                    </a:solidFill>
                  </a:tcPr>
                </a:tc>
                <a:tc>
                  <a:txBody>
                    <a:bodyPr/>
                    <a:lstStyle/>
                    <a:p>
                      <a:pPr algn="ctr"/>
                      <a:r>
                        <a:rPr sz="1400" b="1" dirty="0">
                          <a:solidFill>
                            <a:srgbClr val="FFFFFF"/>
                          </a:solidFill>
                          <a:latin typeface="Calibri"/>
                        </a:rPr>
                        <a:t>Output quality</a:t>
                      </a:r>
                    </a:p>
                  </a:txBody>
                  <a:tcPr>
                    <a:solidFill>
                      <a:srgbClr val="383A42"/>
                    </a:solidFill>
                  </a:tcPr>
                </a:tc>
                <a:extLst>
                  <a:ext uri="{0D108BD9-81ED-4DB2-BD59-A6C34878D82A}">
                    <a16:rowId xmlns:a16="http://schemas.microsoft.com/office/drawing/2014/main" val="10000"/>
                  </a:ext>
                </a:extLst>
              </a:tr>
              <a:tr h="393192">
                <a:tc>
                  <a:txBody>
                    <a:bodyPr/>
                    <a:lstStyle/>
                    <a:p>
                      <a:pPr algn="l"/>
                      <a:r>
                        <a:rPr sz="1100" b="0">
                          <a:solidFill>
                            <a:srgbClr val="383A42"/>
                          </a:solidFill>
                          <a:latin typeface="Calibri"/>
                        </a:rPr>
                        <a:t>Regex  (Act 1)</a:t>
                      </a:r>
                    </a:p>
                  </a:txBody>
                  <a:tcPr>
                    <a:solidFill>
                      <a:srgbClr val="FFFFFF"/>
                    </a:solidFill>
                  </a:tcPr>
                </a:tc>
                <a:tc>
                  <a:txBody>
                    <a:bodyPr/>
                    <a:lstStyle/>
                    <a:p>
                      <a:pPr algn="l"/>
                      <a:r>
                        <a:rPr sz="1100" b="0">
                          <a:solidFill>
                            <a:srgbClr val="383A42"/>
                          </a:solidFill>
                          <a:latin typeface="Calibri"/>
                        </a:rPr>
                        <a:t>60 sec</a:t>
                      </a:r>
                    </a:p>
                  </a:txBody>
                  <a:tcPr>
                    <a:solidFill>
                      <a:srgbClr val="FFFFFF"/>
                    </a:solidFill>
                  </a:tcPr>
                </a:tc>
                <a:tc>
                  <a:txBody>
                    <a:bodyPr/>
                    <a:lstStyle/>
                    <a:p>
                      <a:pPr algn="l"/>
                      <a:r>
                        <a:rPr sz="1100" b="0">
                          <a:solidFill>
                            <a:srgbClr val="383A42"/>
                          </a:solidFill>
                          <a:latin typeface="Calibri"/>
                        </a:rPr>
                        <a:t>USD 0</a:t>
                      </a:r>
                    </a:p>
                  </a:txBody>
                  <a:tcPr>
                    <a:solidFill>
                      <a:srgbClr val="FFFFFF"/>
                    </a:solidFill>
                  </a:tcPr>
                </a:tc>
                <a:tc>
                  <a:txBody>
                    <a:bodyPr/>
                    <a:lstStyle/>
                    <a:p>
                      <a:pPr algn="l"/>
                      <a:r>
                        <a:rPr sz="1100" b="0">
                          <a:solidFill>
                            <a:srgbClr val="383A42"/>
                          </a:solidFill>
                          <a:latin typeface="Calibri"/>
                        </a:rPr>
                        <a:t>82%</a:t>
                      </a:r>
                    </a:p>
                  </a:txBody>
                  <a:tcPr>
                    <a:solidFill>
                      <a:srgbClr val="FFFFFF"/>
                    </a:solidFill>
                  </a:tcPr>
                </a:tc>
                <a:tc>
                  <a:txBody>
                    <a:bodyPr/>
                    <a:lstStyle/>
                    <a:p>
                      <a:pPr algn="l"/>
                      <a:r>
                        <a:rPr sz="1100" b="0">
                          <a:solidFill>
                            <a:srgbClr val="383A42"/>
                          </a:solidFill>
                          <a:latin typeface="Calibri"/>
                        </a:rPr>
                        <a:t>v0.3, minimal blocks</a:t>
                      </a:r>
                    </a:p>
                  </a:txBody>
                  <a:tcPr>
                    <a:solidFill>
                      <a:srgbClr val="FFFFFF"/>
                    </a:solidFill>
                  </a:tcPr>
                </a:tc>
                <a:extLst>
                  <a:ext uri="{0D108BD9-81ED-4DB2-BD59-A6C34878D82A}">
                    <a16:rowId xmlns:a16="http://schemas.microsoft.com/office/drawing/2014/main" val="10001"/>
                  </a:ext>
                </a:extLst>
              </a:tr>
              <a:tr h="393192">
                <a:tc>
                  <a:txBody>
                    <a:bodyPr/>
                    <a:lstStyle/>
                    <a:p>
                      <a:pPr algn="l"/>
                      <a:r>
                        <a:rPr sz="1100" b="0">
                          <a:solidFill>
                            <a:srgbClr val="383A42"/>
                          </a:solidFill>
                          <a:latin typeface="Calibri"/>
                        </a:rPr>
                        <a:t>Hybrid  (Act 2)</a:t>
                      </a:r>
                    </a:p>
                  </a:txBody>
                  <a:tcPr>
                    <a:solidFill>
                      <a:srgbClr val="F0F0F2"/>
                    </a:solidFill>
                  </a:tcPr>
                </a:tc>
                <a:tc>
                  <a:txBody>
                    <a:bodyPr/>
                    <a:lstStyle/>
                    <a:p>
                      <a:pPr algn="l"/>
                      <a:r>
                        <a:rPr sz="1100" b="0">
                          <a:solidFill>
                            <a:srgbClr val="383A42"/>
                          </a:solidFill>
                          <a:latin typeface="Calibri"/>
                        </a:rPr>
                        <a:t>22 min</a:t>
                      </a:r>
                    </a:p>
                  </a:txBody>
                  <a:tcPr>
                    <a:solidFill>
                      <a:srgbClr val="F0F0F2"/>
                    </a:solidFill>
                  </a:tcPr>
                </a:tc>
                <a:tc>
                  <a:txBody>
                    <a:bodyPr/>
                    <a:lstStyle/>
                    <a:p>
                      <a:pPr algn="l"/>
                      <a:r>
                        <a:rPr sz="1100" b="0">
                          <a:solidFill>
                            <a:srgbClr val="383A42"/>
                          </a:solidFill>
                          <a:latin typeface="Calibri"/>
                        </a:rPr>
                        <a:t>~USD 22</a:t>
                      </a:r>
                    </a:p>
                  </a:txBody>
                  <a:tcPr>
                    <a:solidFill>
                      <a:srgbClr val="F0F0F2"/>
                    </a:solidFill>
                  </a:tcPr>
                </a:tc>
                <a:tc>
                  <a:txBody>
                    <a:bodyPr/>
                    <a:lstStyle/>
                    <a:p>
                      <a:pPr algn="l"/>
                      <a:r>
                        <a:rPr sz="1100" b="0">
                          <a:solidFill>
                            <a:srgbClr val="383A42"/>
                          </a:solidFill>
                          <a:latin typeface="Calibri"/>
                        </a:rPr>
                        <a:t>~100%</a:t>
                      </a:r>
                    </a:p>
                  </a:txBody>
                  <a:tcPr>
                    <a:solidFill>
                      <a:srgbClr val="F0F0F2"/>
                    </a:solidFill>
                  </a:tcPr>
                </a:tc>
                <a:tc>
                  <a:txBody>
                    <a:bodyPr/>
                    <a:lstStyle/>
                    <a:p>
                      <a:pPr algn="l"/>
                      <a:r>
                        <a:rPr sz="1100" b="0">
                          <a:solidFill>
                            <a:srgbClr val="383A42"/>
                          </a:solidFill>
                          <a:latin typeface="Calibri"/>
                        </a:rPr>
                        <a:t>v0.3, single blocks</a:t>
                      </a:r>
                    </a:p>
                  </a:txBody>
                  <a:tcPr>
                    <a:solidFill>
                      <a:srgbClr val="F0F0F2"/>
                    </a:solidFill>
                  </a:tcPr>
                </a:tc>
                <a:extLst>
                  <a:ext uri="{0D108BD9-81ED-4DB2-BD59-A6C34878D82A}">
                    <a16:rowId xmlns:a16="http://schemas.microsoft.com/office/drawing/2014/main" val="10002"/>
                  </a:ext>
                </a:extLst>
              </a:tr>
              <a:tr h="393192">
                <a:tc>
                  <a:txBody>
                    <a:bodyPr/>
                    <a:lstStyle/>
                    <a:p>
                      <a:pPr algn="l"/>
                      <a:r>
                        <a:rPr sz="1100" b="0">
                          <a:solidFill>
                            <a:srgbClr val="383A42"/>
                          </a:solidFill>
                          <a:latin typeface="Calibri"/>
                        </a:rPr>
                        <a:t>LLM-First  (Act 3)</a:t>
                      </a:r>
                    </a:p>
                  </a:txBody>
                  <a:tcPr>
                    <a:solidFill>
                      <a:srgbClr val="FFFFFF"/>
                    </a:solidFill>
                  </a:tcPr>
                </a:tc>
                <a:tc>
                  <a:txBody>
                    <a:bodyPr/>
                    <a:lstStyle/>
                    <a:p>
                      <a:pPr algn="l"/>
                      <a:r>
                        <a:rPr sz="1100" b="0">
                          <a:solidFill>
                            <a:srgbClr val="383A42"/>
                          </a:solidFill>
                          <a:latin typeface="Calibri"/>
                        </a:rPr>
                        <a:t>~24 hours</a:t>
                      </a:r>
                    </a:p>
                  </a:txBody>
                  <a:tcPr>
                    <a:solidFill>
                      <a:srgbClr val="FFFFFF"/>
                    </a:solidFill>
                  </a:tcPr>
                </a:tc>
                <a:tc>
                  <a:txBody>
                    <a:bodyPr/>
                    <a:lstStyle/>
                    <a:p>
                      <a:pPr algn="l"/>
                      <a:r>
                        <a:rPr sz="1100" b="0">
                          <a:solidFill>
                            <a:srgbClr val="383A42"/>
                          </a:solidFill>
                          <a:latin typeface="Calibri"/>
                        </a:rPr>
                        <a:t>~USD 123</a:t>
                      </a:r>
                    </a:p>
                  </a:txBody>
                  <a:tcPr>
                    <a:solidFill>
                      <a:srgbClr val="FFFFFF"/>
                    </a:solidFill>
                  </a:tcPr>
                </a:tc>
                <a:tc>
                  <a:txBody>
                    <a:bodyPr/>
                    <a:lstStyle/>
                    <a:p>
                      <a:pPr algn="l"/>
                      <a:r>
                        <a:rPr sz="1100" b="0">
                          <a:solidFill>
                            <a:srgbClr val="383A42"/>
                          </a:solidFill>
                          <a:latin typeface="Calibri"/>
                        </a:rPr>
                        <a:t>~100%</a:t>
                      </a:r>
                    </a:p>
                  </a:txBody>
                  <a:tcPr>
                    <a:solidFill>
                      <a:srgbClr val="FFFFFF"/>
                    </a:solidFill>
                  </a:tcPr>
                </a:tc>
                <a:tc>
                  <a:txBody>
                    <a:bodyPr/>
                    <a:lstStyle/>
                    <a:p>
                      <a:pPr algn="l"/>
                      <a:r>
                        <a:rPr sz="1100" b="0" dirty="0">
                          <a:solidFill>
                            <a:srgbClr val="383A42"/>
                          </a:solidFill>
                          <a:latin typeface="Calibri"/>
                        </a:rPr>
                        <a:t>v1.0, full richness</a:t>
                      </a:r>
                    </a:p>
                  </a:txBody>
                  <a:tcPr>
                    <a:solidFill>
                      <a:srgbClr val="FFFFFF"/>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502920" y="3961737"/>
            <a:ext cx="4572000" cy="215444"/>
          </a:xfrm>
          <a:prstGeom prst="rect">
            <a:avLst/>
          </a:prstGeom>
          <a:noFill/>
        </p:spPr>
        <p:txBody>
          <a:bodyPr wrap="square" lIns="0" tIns="0" rIns="0" bIns="0">
            <a:spAutoFit/>
          </a:bodyPr>
          <a:lstStyle/>
          <a:p>
            <a:pPr algn="l"/>
            <a:r>
              <a:rPr sz="1400" b="1" dirty="0">
                <a:solidFill>
                  <a:srgbClr val="0184BC"/>
                </a:solidFill>
                <a:latin typeface="Calibri"/>
              </a:rPr>
              <a:t>Resources</a:t>
            </a:r>
          </a:p>
        </p:txBody>
      </p:sp>
      <p:sp>
        <p:nvSpPr>
          <p:cNvPr id="8" name="TextBox 7"/>
          <p:cNvSpPr txBox="1"/>
          <p:nvPr/>
        </p:nvSpPr>
        <p:spPr>
          <a:xfrm>
            <a:off x="502920" y="4354929"/>
            <a:ext cx="10972800" cy="292608"/>
          </a:xfrm>
          <a:prstGeom prst="rect">
            <a:avLst/>
          </a:prstGeom>
          <a:noFill/>
        </p:spPr>
        <p:txBody>
          <a:bodyPr wrap="square" lIns="0" tIns="0" rIns="0" bIns="0">
            <a:spAutoFit/>
          </a:bodyPr>
          <a:lstStyle/>
          <a:p>
            <a:pPr algn="l"/>
            <a:r>
              <a:rPr sz="1050" b="0">
                <a:solidFill>
                  <a:srgbClr val="696C77"/>
                </a:solidFill>
                <a:latin typeface="Calibri"/>
              </a:rPr>
              <a:t>Source code: github.com/bennyistanto/to-rdls</a:t>
            </a:r>
          </a:p>
        </p:txBody>
      </p:sp>
      <p:sp>
        <p:nvSpPr>
          <p:cNvPr id="9" name="TextBox 8"/>
          <p:cNvSpPr txBox="1"/>
          <p:nvPr/>
        </p:nvSpPr>
        <p:spPr>
          <a:xfrm>
            <a:off x="502920" y="4684113"/>
            <a:ext cx="10972800" cy="292608"/>
          </a:xfrm>
          <a:prstGeom prst="rect">
            <a:avLst/>
          </a:prstGeom>
          <a:noFill/>
        </p:spPr>
        <p:txBody>
          <a:bodyPr wrap="square" lIns="0" tIns="0" rIns="0" bIns="0">
            <a:spAutoFit/>
          </a:bodyPr>
          <a:lstStyle/>
          <a:p>
            <a:pPr algn="l"/>
            <a:r>
              <a:rPr sz="1050" b="0">
                <a:solidFill>
                  <a:srgbClr val="696C77"/>
                </a:solidFill>
                <a:latin typeface="Calibri"/>
              </a:rPr>
              <a:t>Hybrid pipeline doc: docs/llm_assisted_metadata_classification.md</a:t>
            </a:r>
          </a:p>
        </p:txBody>
      </p:sp>
      <p:sp>
        <p:nvSpPr>
          <p:cNvPr id="10" name="TextBox 9"/>
          <p:cNvSpPr txBox="1"/>
          <p:nvPr/>
        </p:nvSpPr>
        <p:spPr>
          <a:xfrm>
            <a:off x="502920" y="5013296"/>
            <a:ext cx="10972800" cy="292608"/>
          </a:xfrm>
          <a:prstGeom prst="rect">
            <a:avLst/>
          </a:prstGeom>
          <a:noFill/>
        </p:spPr>
        <p:txBody>
          <a:bodyPr wrap="square" lIns="0" tIns="0" rIns="0" bIns="0">
            <a:spAutoFit/>
          </a:bodyPr>
          <a:lstStyle/>
          <a:p>
            <a:pPr algn="l"/>
            <a:r>
              <a:rPr sz="1050" b="0">
                <a:solidFill>
                  <a:srgbClr val="696C77"/>
                </a:solidFill>
                <a:latin typeface="Calibri"/>
              </a:rPr>
              <a:t>LLM-first report: docs/llm_first_metadata_transformation.md</a:t>
            </a:r>
          </a:p>
        </p:txBody>
      </p:sp>
      <p:sp>
        <p:nvSpPr>
          <p:cNvPr id="11" name="TextBox 10"/>
          <p:cNvSpPr txBox="1"/>
          <p:nvPr/>
        </p:nvSpPr>
        <p:spPr>
          <a:xfrm>
            <a:off x="502920" y="5342481"/>
            <a:ext cx="10972800" cy="292608"/>
          </a:xfrm>
          <a:prstGeom prst="rect">
            <a:avLst/>
          </a:prstGeom>
          <a:noFill/>
        </p:spPr>
        <p:txBody>
          <a:bodyPr wrap="square" lIns="0" tIns="0" rIns="0" bIns="0">
            <a:spAutoFit/>
          </a:bodyPr>
          <a:lstStyle/>
          <a:p>
            <a:pPr algn="l"/>
            <a:r>
              <a:rPr sz="1050" b="0">
                <a:solidFill>
                  <a:srgbClr val="696C77"/>
                </a:solidFill>
                <a:latin typeface="Calibri"/>
              </a:rPr>
              <a:t>Technical reference: docs/llm_first_pipeline_v10.md</a:t>
            </a:r>
          </a:p>
        </p:txBody>
      </p:sp>
      <p:sp>
        <p:nvSpPr>
          <p:cNvPr id="12" name="TextBox 11"/>
          <p:cNvSpPr txBox="1"/>
          <p:nvPr/>
        </p:nvSpPr>
        <p:spPr>
          <a:xfrm>
            <a:off x="502920" y="5671664"/>
            <a:ext cx="10972800" cy="292608"/>
          </a:xfrm>
          <a:prstGeom prst="rect">
            <a:avLst/>
          </a:prstGeom>
          <a:noFill/>
        </p:spPr>
        <p:txBody>
          <a:bodyPr wrap="square" lIns="0" tIns="0" rIns="0" bIns="0">
            <a:spAutoFit/>
          </a:bodyPr>
          <a:lstStyle/>
          <a:p>
            <a:pPr algn="l"/>
            <a:r>
              <a:rPr sz="1050" b="0">
                <a:solidFill>
                  <a:srgbClr val="696C77"/>
                </a:solidFill>
                <a:latin typeface="Calibri"/>
              </a:rPr>
              <a:t>RDLS standard: docs.riskdatalibrary.org</a:t>
            </a:r>
          </a:p>
        </p:txBody>
      </p:sp>
      <p:sp>
        <p:nvSpPr>
          <p:cNvPr id="13" name="TextBox 12"/>
          <p:cNvSpPr txBox="1"/>
          <p:nvPr/>
        </p:nvSpPr>
        <p:spPr>
          <a:xfrm>
            <a:off x="502920" y="6510528"/>
            <a:ext cx="11338560" cy="146194"/>
          </a:xfrm>
          <a:prstGeom prst="rect">
            <a:avLst/>
          </a:prstGeom>
          <a:noFill/>
        </p:spPr>
        <p:txBody>
          <a:bodyPr wrap="square" lIns="0" tIns="0" rIns="0" bIns="0">
            <a:spAutoFit/>
          </a:bodyPr>
          <a:lstStyle/>
          <a:p>
            <a:pPr algn="l"/>
            <a:r>
              <a:rPr sz="950" b="0" dirty="0">
                <a:solidFill>
                  <a:srgbClr val="696C77"/>
                </a:solidFill>
                <a:latin typeface="Calibri"/>
              </a:rPr>
              <a:t>Global Facility for Disaster Reduction and Recovery (GFDRR)  |  </a:t>
            </a:r>
            <a:r>
              <a:rPr lang="en-US" sz="950" b="0" dirty="0">
                <a:solidFill>
                  <a:srgbClr val="696C77"/>
                </a:solidFill>
                <a:latin typeface="Calibri"/>
              </a:rPr>
              <a:t>Risk Data Library </a:t>
            </a:r>
            <a:r>
              <a:rPr sz="950" b="0" dirty="0">
                <a:solidFill>
                  <a:srgbClr val="696C77"/>
                </a:solidFill>
                <a:latin typeface="Calibri"/>
              </a:rPr>
              <a:t>Team  |  </a:t>
            </a:r>
            <a:r>
              <a:rPr lang="en-US" sz="950" b="0" dirty="0">
                <a:solidFill>
                  <a:srgbClr val="696C77"/>
                </a:solidFill>
                <a:latin typeface="Calibri"/>
              </a:rPr>
              <a:t>The </a:t>
            </a:r>
            <a:r>
              <a:rPr sz="950" b="0" dirty="0">
                <a:solidFill>
                  <a:srgbClr val="696C77"/>
                </a:solidFill>
                <a:latin typeface="Calibri"/>
              </a:rPr>
              <a:t>World Bank</a:t>
            </a:r>
            <a:r>
              <a:rPr lang="en-US" sz="950" b="0" dirty="0">
                <a:solidFill>
                  <a:srgbClr val="696C77"/>
                </a:solidFill>
                <a:latin typeface="Calibri"/>
              </a:rPr>
              <a:t> Group</a:t>
            </a:r>
            <a:r>
              <a:rPr sz="950" b="0" dirty="0">
                <a:solidFill>
                  <a:srgbClr val="696C77"/>
                </a:solidFill>
                <a:latin typeface="Calibri"/>
              </a:rPr>
              <a:t>  |  May 2026</a:t>
            </a:r>
          </a:p>
        </p:txBody>
      </p:sp>
      <p:sp>
        <p:nvSpPr>
          <p:cNvPr id="14" name="TextBox 13"/>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26 / 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981</TotalTime>
  <Words>4465</Words>
  <Application>Microsoft Office PowerPoint</Application>
  <PresentationFormat>Custom</PresentationFormat>
  <Paragraphs>721</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Benny Istanto</cp:lastModifiedBy>
  <cp:revision>4</cp:revision>
  <dcterms:created xsi:type="dcterms:W3CDTF">2013-01-27T09:14:16Z</dcterms:created>
  <dcterms:modified xsi:type="dcterms:W3CDTF">2026-05-12T22:50:31Z</dcterms:modified>
  <cp:category/>
</cp:coreProperties>
</file>